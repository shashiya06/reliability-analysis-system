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1266" r:id="rId2"/>
    <p:sldId id="1288" r:id="rId3"/>
    <p:sldId id="1310" r:id="rId4"/>
    <p:sldId id="1261" r:id="rId5"/>
    <p:sldId id="1377" r:id="rId6"/>
    <p:sldId id="1360" r:id="rId7"/>
    <p:sldId id="1378" r:id="rId8"/>
    <p:sldId id="1370" r:id="rId9"/>
    <p:sldId id="1371" r:id="rId10"/>
    <p:sldId id="1372" r:id="rId11"/>
    <p:sldId id="1374" r:id="rId12"/>
    <p:sldId id="1375" r:id="rId13"/>
    <p:sldId id="1376" r:id="rId14"/>
    <p:sldId id="1327" r:id="rId15"/>
    <p:sldId id="13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Relevant</a:t>
            </a:r>
            <a:r>
              <a:rPr lang="en-US" b="1" baseline="0"/>
              <a:t> Failure</a:t>
            </a:r>
            <a:endParaRPr lang="en-US"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Sheet1!$C$2:$C$3</c:f>
              <c:strCache>
                <c:ptCount val="2"/>
                <c:pt idx="0">
                  <c:v>Relevant Failures</c:v>
                </c:pt>
                <c:pt idx="1">
                  <c:v>Oct'22</c:v>
                </c:pt>
              </c:strCache>
            </c:strRef>
          </c:tx>
          <c:spPr>
            <a:solidFill>
              <a:schemeClr val="accent1"/>
            </a:solidFill>
            <a:ln>
              <a:noFill/>
            </a:ln>
            <a:effectLst/>
          </c:spPr>
          <c:invertIfNegative val="0"/>
          <c:cat>
            <c:strRef>
              <c:f>Sheet1!$B$4:$B$16</c:f>
              <c:strCache>
                <c:ptCount val="13"/>
                <c:pt idx="0">
                  <c:v>Propulsion System</c:v>
                </c:pt>
                <c:pt idx="1">
                  <c:v>Auxiliary Supply System</c:v>
                </c:pt>
                <c:pt idx="2">
                  <c:v>Air Supply and Friction Brake Equipment</c:v>
                </c:pt>
                <c:pt idx="3">
                  <c:v>Door System</c:v>
                </c:pt>
                <c:pt idx="4">
                  <c:v>HVAC System</c:v>
                </c:pt>
                <c:pt idx="5">
                  <c:v>Communication System</c:v>
                </c:pt>
                <c:pt idx="6">
                  <c:v>Couplers and Draft Gear</c:v>
                </c:pt>
                <c:pt idx="7">
                  <c:v>Bogies &amp; Suspension</c:v>
                </c:pt>
                <c:pt idx="8">
                  <c:v>Lighting System</c:v>
                </c:pt>
                <c:pt idx="9">
                  <c:v>TCMS</c:v>
                </c:pt>
                <c:pt idx="10">
                  <c:v>Fire Detection System</c:v>
                </c:pt>
                <c:pt idx="11">
                  <c:v>Structure and Interior Fittings</c:v>
                </c:pt>
                <c:pt idx="12">
                  <c:v>Wiper</c:v>
                </c:pt>
              </c:strCache>
            </c:strRef>
          </c:cat>
          <c:val>
            <c:numRef>
              <c:f>Sheet1!$C$4:$C$16</c:f>
              <c:numCache>
                <c:formatCode>General</c:formatCode>
                <c:ptCount val="13"/>
                <c:pt idx="0">
                  <c:v>23</c:v>
                </c:pt>
                <c:pt idx="1">
                  <c:v>0</c:v>
                </c:pt>
                <c:pt idx="2">
                  <c:v>7</c:v>
                </c:pt>
                <c:pt idx="3">
                  <c:v>32</c:v>
                </c:pt>
                <c:pt idx="4">
                  <c:v>29</c:v>
                </c:pt>
                <c:pt idx="5">
                  <c:v>14</c:v>
                </c:pt>
                <c:pt idx="6">
                  <c:v>0</c:v>
                </c:pt>
                <c:pt idx="7">
                  <c:v>4</c:v>
                </c:pt>
                <c:pt idx="8">
                  <c:v>5</c:v>
                </c:pt>
                <c:pt idx="9">
                  <c:v>9</c:v>
                </c:pt>
                <c:pt idx="10">
                  <c:v>19</c:v>
                </c:pt>
                <c:pt idx="11">
                  <c:v>22</c:v>
                </c:pt>
                <c:pt idx="12">
                  <c:v>22</c:v>
                </c:pt>
              </c:numCache>
            </c:numRef>
          </c:val>
          <c:extLst>
            <c:ext xmlns:c16="http://schemas.microsoft.com/office/drawing/2014/chart" uri="{C3380CC4-5D6E-409C-BE32-E72D297353CC}">
              <c16:uniqueId val="{00000000-5B5F-4C3D-BAA8-AB0D6D64FA29}"/>
            </c:ext>
          </c:extLst>
        </c:ser>
        <c:ser>
          <c:idx val="1"/>
          <c:order val="1"/>
          <c:tx>
            <c:strRef>
              <c:f>Sheet1!$D$2:$D$3</c:f>
              <c:strCache>
                <c:ptCount val="2"/>
                <c:pt idx="0">
                  <c:v>Relevant Failures</c:v>
                </c:pt>
                <c:pt idx="1">
                  <c:v>Nov'22</c:v>
                </c:pt>
              </c:strCache>
            </c:strRef>
          </c:tx>
          <c:spPr>
            <a:solidFill>
              <a:schemeClr val="accent2"/>
            </a:solidFill>
            <a:ln>
              <a:noFill/>
            </a:ln>
            <a:effectLst/>
          </c:spPr>
          <c:invertIfNegative val="0"/>
          <c:cat>
            <c:strRef>
              <c:f>Sheet1!$B$4:$B$16</c:f>
              <c:strCache>
                <c:ptCount val="13"/>
                <c:pt idx="0">
                  <c:v>Propulsion System</c:v>
                </c:pt>
                <c:pt idx="1">
                  <c:v>Auxiliary Supply System</c:v>
                </c:pt>
                <c:pt idx="2">
                  <c:v>Air Supply and Friction Brake Equipment</c:v>
                </c:pt>
                <c:pt idx="3">
                  <c:v>Door System</c:v>
                </c:pt>
                <c:pt idx="4">
                  <c:v>HVAC System</c:v>
                </c:pt>
                <c:pt idx="5">
                  <c:v>Communication System</c:v>
                </c:pt>
                <c:pt idx="6">
                  <c:v>Couplers and Draft Gear</c:v>
                </c:pt>
                <c:pt idx="7">
                  <c:v>Bogies &amp; Suspension</c:v>
                </c:pt>
                <c:pt idx="8">
                  <c:v>Lighting System</c:v>
                </c:pt>
                <c:pt idx="9">
                  <c:v>TCMS</c:v>
                </c:pt>
                <c:pt idx="10">
                  <c:v>Fire Detection System</c:v>
                </c:pt>
                <c:pt idx="11">
                  <c:v>Structure and Interior Fittings</c:v>
                </c:pt>
                <c:pt idx="12">
                  <c:v>Wiper</c:v>
                </c:pt>
              </c:strCache>
            </c:strRef>
          </c:cat>
          <c:val>
            <c:numRef>
              <c:f>Sheet1!$D$4:$D$16</c:f>
              <c:numCache>
                <c:formatCode>General</c:formatCode>
                <c:ptCount val="13"/>
                <c:pt idx="0">
                  <c:v>20</c:v>
                </c:pt>
                <c:pt idx="1">
                  <c:v>6</c:v>
                </c:pt>
                <c:pt idx="2">
                  <c:v>12</c:v>
                </c:pt>
                <c:pt idx="3">
                  <c:v>25</c:v>
                </c:pt>
                <c:pt idx="4">
                  <c:v>16</c:v>
                </c:pt>
                <c:pt idx="5">
                  <c:v>19</c:v>
                </c:pt>
                <c:pt idx="6">
                  <c:v>0</c:v>
                </c:pt>
                <c:pt idx="7">
                  <c:v>10</c:v>
                </c:pt>
                <c:pt idx="8">
                  <c:v>10</c:v>
                </c:pt>
                <c:pt idx="9">
                  <c:v>12</c:v>
                </c:pt>
                <c:pt idx="10">
                  <c:v>11</c:v>
                </c:pt>
                <c:pt idx="11">
                  <c:v>16</c:v>
                </c:pt>
                <c:pt idx="12">
                  <c:v>17</c:v>
                </c:pt>
              </c:numCache>
            </c:numRef>
          </c:val>
          <c:extLst>
            <c:ext xmlns:c16="http://schemas.microsoft.com/office/drawing/2014/chart" uri="{C3380CC4-5D6E-409C-BE32-E72D297353CC}">
              <c16:uniqueId val="{00000001-5B5F-4C3D-BAA8-AB0D6D64FA29}"/>
            </c:ext>
          </c:extLst>
        </c:ser>
        <c:ser>
          <c:idx val="2"/>
          <c:order val="2"/>
          <c:tx>
            <c:strRef>
              <c:f>Sheet1!$E$2:$E$3</c:f>
              <c:strCache>
                <c:ptCount val="2"/>
                <c:pt idx="0">
                  <c:v>Relevant Failures</c:v>
                </c:pt>
                <c:pt idx="1">
                  <c:v>TOTAL</c:v>
                </c:pt>
              </c:strCache>
            </c:strRef>
          </c:tx>
          <c:spPr>
            <a:solidFill>
              <a:schemeClr val="accent3"/>
            </a:solidFill>
            <a:ln>
              <a:noFill/>
            </a:ln>
            <a:effectLst/>
          </c:spPr>
          <c:invertIfNegative val="0"/>
          <c:cat>
            <c:strRef>
              <c:f>Sheet1!$B$4:$B$16</c:f>
              <c:strCache>
                <c:ptCount val="13"/>
                <c:pt idx="0">
                  <c:v>Propulsion System</c:v>
                </c:pt>
                <c:pt idx="1">
                  <c:v>Auxiliary Supply System</c:v>
                </c:pt>
                <c:pt idx="2">
                  <c:v>Air Supply and Friction Brake Equipment</c:v>
                </c:pt>
                <c:pt idx="3">
                  <c:v>Door System</c:v>
                </c:pt>
                <c:pt idx="4">
                  <c:v>HVAC System</c:v>
                </c:pt>
                <c:pt idx="5">
                  <c:v>Communication System</c:v>
                </c:pt>
                <c:pt idx="6">
                  <c:v>Couplers and Draft Gear</c:v>
                </c:pt>
                <c:pt idx="7">
                  <c:v>Bogies &amp; Suspension</c:v>
                </c:pt>
                <c:pt idx="8">
                  <c:v>Lighting System</c:v>
                </c:pt>
                <c:pt idx="9">
                  <c:v>TCMS</c:v>
                </c:pt>
                <c:pt idx="10">
                  <c:v>Fire Detection System</c:v>
                </c:pt>
                <c:pt idx="11">
                  <c:v>Structure and Interior Fittings</c:v>
                </c:pt>
                <c:pt idx="12">
                  <c:v>Wiper</c:v>
                </c:pt>
              </c:strCache>
            </c:strRef>
          </c:cat>
          <c:val>
            <c:numRef>
              <c:f>Sheet1!$E$4:$E$16</c:f>
            </c:numRef>
          </c:val>
          <c:extLst>
            <c:ext xmlns:c16="http://schemas.microsoft.com/office/drawing/2014/chart" uri="{C3380CC4-5D6E-409C-BE32-E72D297353CC}">
              <c16:uniqueId val="{00000002-5B5F-4C3D-BAA8-AB0D6D64FA29}"/>
            </c:ext>
          </c:extLst>
        </c:ser>
        <c:dLbls>
          <c:showLegendKey val="0"/>
          <c:showVal val="0"/>
          <c:showCatName val="0"/>
          <c:showSerName val="0"/>
          <c:showPercent val="0"/>
          <c:showBubbleSize val="0"/>
        </c:dLbls>
        <c:gapWidth val="219"/>
        <c:overlap val="-27"/>
        <c:axId val="441020031"/>
        <c:axId val="211278175"/>
      </c:barChart>
      <c:catAx>
        <c:axId val="44102003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50" b="1"/>
                  <a:t>Systems</a:t>
                </a:r>
              </a:p>
            </c:rich>
          </c:tx>
          <c:layout>
            <c:manualLayout>
              <c:xMode val="edge"/>
              <c:yMode val="edge"/>
              <c:x val="0.11664563579078711"/>
              <c:y val="0.7004925708667241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278175"/>
        <c:crosses val="autoZero"/>
        <c:auto val="1"/>
        <c:lblAlgn val="ctr"/>
        <c:lblOffset val="100"/>
        <c:noMultiLvlLbl val="0"/>
      </c:catAx>
      <c:valAx>
        <c:axId val="2112781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50" b="1"/>
                  <a:t>No</a:t>
                </a:r>
                <a:r>
                  <a:rPr lang="en-US" sz="1050" b="1" baseline="0"/>
                  <a:t> of Failures</a:t>
                </a:r>
                <a:endParaRPr lang="en-US" sz="1050" b="1"/>
              </a:p>
            </c:rich>
          </c:tx>
          <c:layout>
            <c:manualLayout>
              <c:xMode val="edge"/>
              <c:yMode val="edge"/>
              <c:x val="0.1081400425788043"/>
              <c:y val="0.2296941001274383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102003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3D207-89C7-4AAB-BACC-8B7418D9A685}" type="datetimeFigureOut">
              <a:rPr lang="en-US" smtClean="0"/>
              <a:t>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26F6C-2978-402D-A2ED-9484707D0E53}" type="slidenum">
              <a:rPr lang="en-US" smtClean="0"/>
              <a:t>‹#›</a:t>
            </a:fld>
            <a:endParaRPr lang="en-US"/>
          </a:p>
        </p:txBody>
      </p:sp>
    </p:spTree>
    <p:extLst>
      <p:ext uri="{BB962C8B-B14F-4D97-AF65-F5344CB8AC3E}">
        <p14:creationId xmlns:p14="http://schemas.microsoft.com/office/powerpoint/2010/main" val="226948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xfrm>
            <a:off x="427038" y="698500"/>
            <a:ext cx="6200775" cy="34893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xfrm>
            <a:off x="704373" y="4422461"/>
            <a:ext cx="5644527" cy="41903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011" tIns="55007" rIns="110011" bIns="55007" numCol="1" anchor="t" anchorCtr="0" compatLnSpc="1">
            <a:prstTxWarp prst="textNoShape">
              <a:avLst/>
            </a:prstTxWarp>
          </a:bodyPr>
          <a:lstStyle/>
          <a:p>
            <a:pPr eaLnBrk="1" hangingPunct="1">
              <a:spcBef>
                <a:spcPct val="0"/>
              </a:spcBef>
            </a:pPr>
            <a:endParaRPr lang="ko-KR" altLang="en-US">
              <a:ea typeface="Gulim" pitchFamily="34" charset="-127"/>
            </a:endParaRPr>
          </a:p>
        </p:txBody>
      </p:sp>
      <p:sp>
        <p:nvSpPr>
          <p:cNvPr id="47108" name="Slide Number Placeholder 3"/>
          <p:cNvSpPr txBox="1">
            <a:spLocks noGrp="1"/>
          </p:cNvSpPr>
          <p:nvPr/>
        </p:nvSpPr>
        <p:spPr bwMode="auto">
          <a:xfrm>
            <a:off x="3994618" y="8840150"/>
            <a:ext cx="3057053" cy="46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0011" tIns="55007" rIns="110011" bIns="55007"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fld id="{029A1289-B42D-47E1-87E9-49F2A17E473B}" type="slidenum">
              <a:rPr lang="ko-KR" altLang="en-US" sz="1400">
                <a:solidFill>
                  <a:prstClr val="black"/>
                </a:solidFill>
                <a:latin typeface="Calibri" pitchFamily="34" charset="0"/>
                <a:ea typeface="Gulim" pitchFamily="34" charset="-127"/>
              </a:rPr>
              <a:pPr algn="r" eaLnBrk="1" hangingPunct="1"/>
              <a:t>1</a:t>
            </a:fld>
            <a:endParaRPr lang="en-US" altLang="ko-KR" sz="1400" dirty="0">
              <a:solidFill>
                <a:prstClr val="black"/>
              </a:solidFill>
              <a:latin typeface="Calibri" pitchFamily="34" charset="0"/>
              <a:ea typeface="Gulim"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CB517-2A14-4965-9EB7-234E9A5CB5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B38390-8721-49EF-8298-2CDF211559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FD29C8-DCD2-4705-A5A0-FD48644B93F0}"/>
              </a:ext>
            </a:extLst>
          </p:cNvPr>
          <p:cNvSpPr>
            <a:spLocks noGrp="1"/>
          </p:cNvSpPr>
          <p:nvPr>
            <p:ph type="dt" sz="half" idx="10"/>
          </p:nvPr>
        </p:nvSpPr>
        <p:spPr/>
        <p:txBody>
          <a:bodyPr/>
          <a:lstStyle/>
          <a:p>
            <a:fld id="{319DB523-E9FD-4A7F-8B06-1FFC4C21BF7A}" type="datetime1">
              <a:rPr lang="en-US" smtClean="0"/>
              <a:t>1/2/2023</a:t>
            </a:fld>
            <a:endParaRPr lang="en-US"/>
          </a:p>
        </p:txBody>
      </p:sp>
      <p:sp>
        <p:nvSpPr>
          <p:cNvPr id="5" name="Footer Placeholder 4">
            <a:extLst>
              <a:ext uri="{FF2B5EF4-FFF2-40B4-BE49-F238E27FC236}">
                <a16:creationId xmlns:a16="http://schemas.microsoft.com/office/drawing/2014/main" id="{F235D70D-DE4C-4874-BDB9-FA455F4D2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23FEA-579C-4DB2-96EF-CDD2EB37BF3B}"/>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152928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3233-5823-46C3-9427-00CE495E5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111AD3-BD52-4A2F-8E9A-90F7E366DA1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EFE3C-6A0F-43C2-852C-160DBF75E383}"/>
              </a:ext>
            </a:extLst>
          </p:cNvPr>
          <p:cNvSpPr>
            <a:spLocks noGrp="1"/>
          </p:cNvSpPr>
          <p:nvPr>
            <p:ph type="dt" sz="half" idx="10"/>
          </p:nvPr>
        </p:nvSpPr>
        <p:spPr/>
        <p:txBody>
          <a:bodyPr/>
          <a:lstStyle/>
          <a:p>
            <a:fld id="{BE6ABA67-8F5E-404C-8D52-DB848B11D744}" type="datetime1">
              <a:rPr lang="en-US" smtClean="0"/>
              <a:t>1/2/2023</a:t>
            </a:fld>
            <a:endParaRPr lang="en-US"/>
          </a:p>
        </p:txBody>
      </p:sp>
      <p:sp>
        <p:nvSpPr>
          <p:cNvPr id="5" name="Footer Placeholder 4">
            <a:extLst>
              <a:ext uri="{FF2B5EF4-FFF2-40B4-BE49-F238E27FC236}">
                <a16:creationId xmlns:a16="http://schemas.microsoft.com/office/drawing/2014/main" id="{76CB38F9-D6C8-4641-AB7F-1C266C85DB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156751-AA24-4086-809D-F1BE721505A9}"/>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613186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F718-EC29-4928-ADE6-241DBD6BD5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765BE8-987C-4298-9D44-824668537F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9AC06A-614D-4AF1-B31D-D6DD6977AD1B}"/>
              </a:ext>
            </a:extLst>
          </p:cNvPr>
          <p:cNvSpPr>
            <a:spLocks noGrp="1"/>
          </p:cNvSpPr>
          <p:nvPr>
            <p:ph type="dt" sz="half" idx="10"/>
          </p:nvPr>
        </p:nvSpPr>
        <p:spPr/>
        <p:txBody>
          <a:bodyPr/>
          <a:lstStyle/>
          <a:p>
            <a:fld id="{D1C44296-731B-4282-87D9-F7CD9FB379CC}" type="datetime1">
              <a:rPr lang="en-US" smtClean="0"/>
              <a:t>1/2/2023</a:t>
            </a:fld>
            <a:endParaRPr lang="en-US"/>
          </a:p>
        </p:txBody>
      </p:sp>
      <p:sp>
        <p:nvSpPr>
          <p:cNvPr id="5" name="Footer Placeholder 4">
            <a:extLst>
              <a:ext uri="{FF2B5EF4-FFF2-40B4-BE49-F238E27FC236}">
                <a16:creationId xmlns:a16="http://schemas.microsoft.com/office/drawing/2014/main" id="{660D8063-5DC9-479B-91F8-08C5CA912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F472B9-1466-429B-9978-464ADD19C3D9}"/>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3578270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2674-A6C9-43DB-862C-F06AEEF19B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5DADAE-B741-44BF-A679-91FD9F9AD55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98BDF3-2611-4849-A177-77FEB2D8CC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820B97-6C75-478F-969F-CF4D3E20A0D9}"/>
              </a:ext>
            </a:extLst>
          </p:cNvPr>
          <p:cNvSpPr>
            <a:spLocks noGrp="1"/>
          </p:cNvSpPr>
          <p:nvPr>
            <p:ph type="dt" sz="half" idx="10"/>
          </p:nvPr>
        </p:nvSpPr>
        <p:spPr/>
        <p:txBody>
          <a:bodyPr/>
          <a:lstStyle/>
          <a:p>
            <a:fld id="{7D747428-DD30-4742-876C-32FB5AE9B9EF}" type="datetime1">
              <a:rPr lang="en-US" smtClean="0"/>
              <a:t>1/2/2023</a:t>
            </a:fld>
            <a:endParaRPr lang="en-US"/>
          </a:p>
        </p:txBody>
      </p:sp>
      <p:sp>
        <p:nvSpPr>
          <p:cNvPr id="6" name="Footer Placeholder 5">
            <a:extLst>
              <a:ext uri="{FF2B5EF4-FFF2-40B4-BE49-F238E27FC236}">
                <a16:creationId xmlns:a16="http://schemas.microsoft.com/office/drawing/2014/main" id="{1BB296C5-7546-4FE3-94BD-644FE2806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CFF27C-31F0-4B3E-B8C6-0091AC1ED352}"/>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4166507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E45A-0DC3-4177-847F-07C36A5E5A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7985BE-15E2-4AB7-B4C1-969834D5A8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F91CF9-3FB2-4285-BDDB-7BA735A6961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388E70-BFF7-473C-B933-E5D3EBAA5A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DFDDED7-B076-4F6F-B0D2-616E8EAD3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B2A12D-A01A-469A-920F-6829CF89CB16}"/>
              </a:ext>
            </a:extLst>
          </p:cNvPr>
          <p:cNvSpPr>
            <a:spLocks noGrp="1"/>
          </p:cNvSpPr>
          <p:nvPr>
            <p:ph type="dt" sz="half" idx="10"/>
          </p:nvPr>
        </p:nvSpPr>
        <p:spPr/>
        <p:txBody>
          <a:bodyPr/>
          <a:lstStyle/>
          <a:p>
            <a:fld id="{78C00033-F19D-4E49-AAE8-92E2FD2F00C4}" type="datetime1">
              <a:rPr lang="en-US" smtClean="0"/>
              <a:t>1/2/2023</a:t>
            </a:fld>
            <a:endParaRPr lang="en-US"/>
          </a:p>
        </p:txBody>
      </p:sp>
      <p:sp>
        <p:nvSpPr>
          <p:cNvPr id="8" name="Footer Placeholder 7">
            <a:extLst>
              <a:ext uri="{FF2B5EF4-FFF2-40B4-BE49-F238E27FC236}">
                <a16:creationId xmlns:a16="http://schemas.microsoft.com/office/drawing/2014/main" id="{D190A374-4CA5-441B-970B-792F75B93A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B7000B-9850-4C1C-8481-B6ACC5391C1E}"/>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923236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DF8E-4078-4ACD-B730-D59A03E1CF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179F75-2240-4A75-A79C-09D12C2BD89D}"/>
              </a:ext>
            </a:extLst>
          </p:cNvPr>
          <p:cNvSpPr>
            <a:spLocks noGrp="1"/>
          </p:cNvSpPr>
          <p:nvPr>
            <p:ph type="dt" sz="half" idx="10"/>
          </p:nvPr>
        </p:nvSpPr>
        <p:spPr/>
        <p:txBody>
          <a:bodyPr/>
          <a:lstStyle/>
          <a:p>
            <a:fld id="{CABBD8B1-7C49-4BE3-AD4B-0D501FA44D57}" type="datetime1">
              <a:rPr lang="en-US" smtClean="0"/>
              <a:t>1/2/2023</a:t>
            </a:fld>
            <a:endParaRPr lang="en-US"/>
          </a:p>
        </p:txBody>
      </p:sp>
      <p:sp>
        <p:nvSpPr>
          <p:cNvPr id="4" name="Footer Placeholder 3">
            <a:extLst>
              <a:ext uri="{FF2B5EF4-FFF2-40B4-BE49-F238E27FC236}">
                <a16:creationId xmlns:a16="http://schemas.microsoft.com/office/drawing/2014/main" id="{B186E251-1AB1-4422-A0C9-D686C0B3C3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9D04F7-3AE0-4281-989B-E84C9D6D5038}"/>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2927141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B84EF3-B429-44BA-9330-876160A94A15}"/>
              </a:ext>
            </a:extLst>
          </p:cNvPr>
          <p:cNvSpPr>
            <a:spLocks noGrp="1"/>
          </p:cNvSpPr>
          <p:nvPr>
            <p:ph type="dt" sz="half" idx="10"/>
          </p:nvPr>
        </p:nvSpPr>
        <p:spPr/>
        <p:txBody>
          <a:bodyPr/>
          <a:lstStyle/>
          <a:p>
            <a:fld id="{02BAD2EE-2D4E-475B-882E-0E6379CFD1C7}" type="datetime1">
              <a:rPr lang="en-US" smtClean="0"/>
              <a:t>1/2/2023</a:t>
            </a:fld>
            <a:endParaRPr lang="en-US"/>
          </a:p>
        </p:txBody>
      </p:sp>
      <p:sp>
        <p:nvSpPr>
          <p:cNvPr id="3" name="Footer Placeholder 2">
            <a:extLst>
              <a:ext uri="{FF2B5EF4-FFF2-40B4-BE49-F238E27FC236}">
                <a16:creationId xmlns:a16="http://schemas.microsoft.com/office/drawing/2014/main" id="{B5A04708-DED4-425A-937E-68EEEF83FC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FEF495-D3E5-44AA-B143-657051A5939C}"/>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270662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C05E0-DAF8-4870-9773-B0B3FFCA11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59A99B-3817-4B59-A8BA-558F19243D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955645-FBF9-4CCE-A298-8BB6B352E8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04624EA-755D-45FD-AD6C-37A2ACE25A85}"/>
              </a:ext>
            </a:extLst>
          </p:cNvPr>
          <p:cNvSpPr>
            <a:spLocks noGrp="1"/>
          </p:cNvSpPr>
          <p:nvPr>
            <p:ph type="dt" sz="half" idx="10"/>
          </p:nvPr>
        </p:nvSpPr>
        <p:spPr/>
        <p:txBody>
          <a:bodyPr/>
          <a:lstStyle/>
          <a:p>
            <a:fld id="{59DFCE7F-9264-4EB5-A43E-E0F49E103A62}" type="datetime1">
              <a:rPr lang="en-US" smtClean="0"/>
              <a:t>1/2/2023</a:t>
            </a:fld>
            <a:endParaRPr lang="en-US"/>
          </a:p>
        </p:txBody>
      </p:sp>
      <p:sp>
        <p:nvSpPr>
          <p:cNvPr id="6" name="Footer Placeholder 5">
            <a:extLst>
              <a:ext uri="{FF2B5EF4-FFF2-40B4-BE49-F238E27FC236}">
                <a16:creationId xmlns:a16="http://schemas.microsoft.com/office/drawing/2014/main" id="{152032F5-8407-4ED6-8211-18326F7BFB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7EF6F-75F0-4B14-AD9E-EA99B8C0C4B2}"/>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251436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E3A4F-C59F-4AA6-84CA-9DC6C5BACE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BD9E93-B02C-4D68-9350-C12051FAA9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A33E7E-A59E-4634-9F7D-4E81548677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1425B57-A3C7-4DD5-A100-5198A970C6E5}"/>
              </a:ext>
            </a:extLst>
          </p:cNvPr>
          <p:cNvSpPr>
            <a:spLocks noGrp="1"/>
          </p:cNvSpPr>
          <p:nvPr>
            <p:ph type="dt" sz="half" idx="10"/>
          </p:nvPr>
        </p:nvSpPr>
        <p:spPr/>
        <p:txBody>
          <a:bodyPr/>
          <a:lstStyle/>
          <a:p>
            <a:fld id="{24058826-0A27-451C-9C13-644ABC305EF6}" type="datetime1">
              <a:rPr lang="en-US" smtClean="0"/>
              <a:t>1/2/2023</a:t>
            </a:fld>
            <a:endParaRPr lang="en-US"/>
          </a:p>
        </p:txBody>
      </p:sp>
      <p:sp>
        <p:nvSpPr>
          <p:cNvPr id="6" name="Footer Placeholder 5">
            <a:extLst>
              <a:ext uri="{FF2B5EF4-FFF2-40B4-BE49-F238E27FC236}">
                <a16:creationId xmlns:a16="http://schemas.microsoft.com/office/drawing/2014/main" id="{6F7F6052-B0CC-49BA-95EF-AD20CFA5D2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6E0D15-42EC-4CC3-A44B-38CBEA7EBE3F}"/>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1500625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023C-CE05-4FEA-AEA5-A661CBF4EB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D083E3-E114-41A7-9A6D-C49B4D09C91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44983-DDA0-4438-B64F-50E8195E048B}"/>
              </a:ext>
            </a:extLst>
          </p:cNvPr>
          <p:cNvSpPr>
            <a:spLocks noGrp="1"/>
          </p:cNvSpPr>
          <p:nvPr>
            <p:ph type="dt" sz="half" idx="10"/>
          </p:nvPr>
        </p:nvSpPr>
        <p:spPr/>
        <p:txBody>
          <a:bodyPr/>
          <a:lstStyle/>
          <a:p>
            <a:fld id="{EAEBA55E-E5C9-4037-935B-F7C68D6F2426}" type="datetime1">
              <a:rPr lang="en-US" smtClean="0"/>
              <a:t>1/2/2023</a:t>
            </a:fld>
            <a:endParaRPr lang="en-US"/>
          </a:p>
        </p:txBody>
      </p:sp>
      <p:sp>
        <p:nvSpPr>
          <p:cNvPr id="5" name="Footer Placeholder 4">
            <a:extLst>
              <a:ext uri="{FF2B5EF4-FFF2-40B4-BE49-F238E27FC236}">
                <a16:creationId xmlns:a16="http://schemas.microsoft.com/office/drawing/2014/main" id="{459BD9AE-DD36-4A73-B4F5-E4633F28A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5340E-1FA5-4B88-8739-CB45ACC326FC}"/>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347535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F8F8C0-BFA8-49D4-AD9D-2602B490D1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9741A4-1FE8-4A2D-BC81-7901B4FA7B9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5752E9-0C16-49C7-AA1A-7CD83F7C038B}"/>
              </a:ext>
            </a:extLst>
          </p:cNvPr>
          <p:cNvSpPr>
            <a:spLocks noGrp="1"/>
          </p:cNvSpPr>
          <p:nvPr>
            <p:ph type="dt" sz="half" idx="10"/>
          </p:nvPr>
        </p:nvSpPr>
        <p:spPr/>
        <p:txBody>
          <a:bodyPr/>
          <a:lstStyle/>
          <a:p>
            <a:fld id="{67F5AA4D-B798-437B-B0D2-6407A5AE744B}" type="datetime1">
              <a:rPr lang="en-US" smtClean="0"/>
              <a:t>1/2/2023</a:t>
            </a:fld>
            <a:endParaRPr lang="en-US"/>
          </a:p>
        </p:txBody>
      </p:sp>
      <p:sp>
        <p:nvSpPr>
          <p:cNvPr id="5" name="Footer Placeholder 4">
            <a:extLst>
              <a:ext uri="{FF2B5EF4-FFF2-40B4-BE49-F238E27FC236}">
                <a16:creationId xmlns:a16="http://schemas.microsoft.com/office/drawing/2014/main" id="{8BCE85D7-4B39-4405-B3F5-C3C69A798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71E60-87D2-4F8A-A2CA-353150466BBC}"/>
              </a:ext>
            </a:extLst>
          </p:cNvPr>
          <p:cNvSpPr>
            <a:spLocks noGrp="1"/>
          </p:cNvSpPr>
          <p:nvPr>
            <p:ph type="sldNum" sz="quarter" idx="12"/>
          </p:nvPr>
        </p:nvSpPr>
        <p:spPr/>
        <p:txBody>
          <a:bodyPr/>
          <a:lstStyle/>
          <a:p>
            <a:fld id="{DE900A00-3DA3-40D9-8627-F4EC14C25FEF}" type="slidenum">
              <a:rPr lang="en-US" smtClean="0"/>
              <a:t>‹#›</a:t>
            </a:fld>
            <a:endParaRPr lang="en-US"/>
          </a:p>
        </p:txBody>
      </p:sp>
    </p:spTree>
    <p:extLst>
      <p:ext uri="{BB962C8B-B14F-4D97-AF65-F5344CB8AC3E}">
        <p14:creationId xmlns:p14="http://schemas.microsoft.com/office/powerpoint/2010/main" val="1297340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FE28C2-64F2-4B29-BCB8-E78010EFC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D07692-2A58-4200-9B62-DA9D91B7DB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F1B431-C116-46ED-9CD9-F286E2DC0E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EBCF7-3E2C-4CAC-8F54-D90FA31895DC}" type="datetime1">
              <a:rPr lang="en-US" smtClean="0"/>
              <a:t>1/2/2023</a:t>
            </a:fld>
            <a:endParaRPr lang="en-US"/>
          </a:p>
        </p:txBody>
      </p:sp>
      <p:sp>
        <p:nvSpPr>
          <p:cNvPr id="5" name="Footer Placeholder 4">
            <a:extLst>
              <a:ext uri="{FF2B5EF4-FFF2-40B4-BE49-F238E27FC236}">
                <a16:creationId xmlns:a16="http://schemas.microsoft.com/office/drawing/2014/main" id="{F7B1E1E8-6C04-4037-9E99-6CF671E90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592CAD-761C-452A-8E16-C25F73A8D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900A00-3DA3-40D9-8627-F4EC14C25FEF}" type="slidenum">
              <a:rPr lang="en-US" smtClean="0"/>
              <a:t>‹#›</a:t>
            </a:fld>
            <a:endParaRPr lang="en-US"/>
          </a:p>
        </p:txBody>
      </p:sp>
    </p:spTree>
    <p:extLst>
      <p:ext uri="{BB962C8B-B14F-4D97-AF65-F5344CB8AC3E}">
        <p14:creationId xmlns:p14="http://schemas.microsoft.com/office/powerpoint/2010/main" val="3455407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7"/>
          <p:cNvSpPr>
            <a:spLocks noChangeArrowheads="1"/>
          </p:cNvSpPr>
          <p:nvPr/>
        </p:nvSpPr>
        <p:spPr bwMode="auto">
          <a:xfrm>
            <a:off x="1143002" y="4314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ko-KR" altLang="en-US">
              <a:solidFill>
                <a:prstClr val="black"/>
              </a:solidFill>
              <a:ea typeface="Gulim" pitchFamily="34" charset="-127"/>
            </a:endParaRPr>
          </a:p>
        </p:txBody>
      </p:sp>
      <p:sp>
        <p:nvSpPr>
          <p:cNvPr id="1036" name="Title 1"/>
          <p:cNvSpPr>
            <a:spLocks noGrp="1"/>
          </p:cNvSpPr>
          <p:nvPr>
            <p:ph type="ctrTitle" idx="4294967295"/>
          </p:nvPr>
        </p:nvSpPr>
        <p:spPr>
          <a:xfrm>
            <a:off x="1676400" y="774009"/>
            <a:ext cx="8502650" cy="1676400"/>
          </a:xfrm>
        </p:spPr>
        <p:txBody>
          <a:bodyPr/>
          <a:lstStyle/>
          <a:p>
            <a:pPr algn="ctr" eaLnBrk="1" hangingPunct="1"/>
            <a:r>
              <a:rPr lang="en-US" altLang="ko-KR" sz="3600" dirty="0">
                <a:latin typeface="Book Antiqua" pitchFamily="18" charset="0"/>
                <a:ea typeface="Gulim" pitchFamily="34" charset="-127"/>
              </a:rPr>
              <a:t>Project RS(3R), Kolkata</a:t>
            </a:r>
            <a:br>
              <a:rPr lang="en-US" altLang="ko-KR" sz="3600" dirty="0">
                <a:latin typeface="Book Antiqua" pitchFamily="18" charset="0"/>
                <a:ea typeface="Gulim" pitchFamily="34" charset="-127"/>
              </a:rPr>
            </a:br>
            <a:r>
              <a:rPr lang="en-US" altLang="ko-KR" sz="3600" dirty="0">
                <a:latin typeface="Book Antiqua" pitchFamily="18" charset="0"/>
                <a:ea typeface="Gulim" pitchFamily="34" charset="-127"/>
              </a:rPr>
              <a:t>Monthly (Dec-2022) FRACAS Meeting</a:t>
            </a:r>
          </a:p>
        </p:txBody>
      </p:sp>
      <p:sp>
        <p:nvSpPr>
          <p:cNvPr id="3" name="Rectangle 20"/>
          <p:cNvSpPr>
            <a:spLocks noChangeArrowheads="1"/>
          </p:cNvSpPr>
          <p:nvPr/>
        </p:nvSpPr>
        <p:spPr bwMode="auto">
          <a:xfrm>
            <a:off x="1143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solidFill>
                <a:prstClr val="black"/>
              </a:solidFill>
            </a:endParaRPr>
          </a:p>
        </p:txBody>
      </p:sp>
      <p:pic>
        <p:nvPicPr>
          <p:cNvPr id="10" name="Picture 8" descr="C:\Users\27786\Desktop\MRS1-Exterior &amp; Interior Colour\Exterior_RAL 1021.jpg">
            <a:extLst>
              <a:ext uri="{FF2B5EF4-FFF2-40B4-BE49-F238E27FC236}">
                <a16:creationId xmlns:a16="http://schemas.microsoft.com/office/drawing/2014/main" id="{84B4D686-1200-4E61-869F-FF16FFE18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1" y="2811945"/>
            <a:ext cx="7696199" cy="327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a:extLst>
              <a:ext uri="{FF2B5EF4-FFF2-40B4-BE49-F238E27FC236}">
                <a16:creationId xmlns:a16="http://schemas.microsoft.com/office/drawing/2014/main" id="{25DE425C-BECE-4501-B3EB-473827EFB8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8215" y="412473"/>
            <a:ext cx="16002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831C4B4-C1A0-4D24-97AB-A44FDB474090}"/>
              </a:ext>
            </a:extLst>
          </p:cNvPr>
          <p:cNvSpPr>
            <a:spLocks noGrp="1"/>
          </p:cNvSpPr>
          <p:nvPr>
            <p:ph type="sldNum" sz="quarter" idx="12"/>
          </p:nvPr>
        </p:nvSpPr>
        <p:spPr/>
        <p:txBody>
          <a:bodyPr/>
          <a:lstStyle/>
          <a:p>
            <a:fld id="{DE900A00-3DA3-40D9-8627-F4EC14C25FEF}" type="slidenum">
              <a:rPr lang="en-US" smtClean="0"/>
              <a:t>1</a:t>
            </a:fld>
            <a:endParaRPr lang="en-US"/>
          </a:p>
        </p:txBody>
      </p:sp>
    </p:spTree>
    <p:extLst>
      <p:ext uri="{BB962C8B-B14F-4D97-AF65-F5344CB8AC3E}">
        <p14:creationId xmlns:p14="http://schemas.microsoft.com/office/powerpoint/2010/main" val="1982018688"/>
      </p:ext>
    </p:extLst>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idx="4294967295"/>
          </p:nvPr>
        </p:nvSpPr>
        <p:spPr>
          <a:xfrm>
            <a:off x="1638300" y="304800"/>
            <a:ext cx="8915400" cy="1143000"/>
          </a:xfrm>
          <a:solidFill>
            <a:schemeClr val="tx2"/>
          </a:solidFill>
          <a:ln w="38100" cap="flat" algn="ctr">
            <a:solidFill>
              <a:schemeClr val="bg1"/>
            </a:solidFill>
          </a:ln>
          <a:effectLst>
            <a:outerShdw dist="20000" dir="5400000" rotWithShape="0">
              <a:srgbClr val="000000">
                <a:alpha val="37999"/>
              </a:srgbClr>
            </a:outerShdw>
          </a:effectLst>
        </p:spPr>
        <p:txBody>
          <a:bodyPr/>
          <a:lstStyle/>
          <a:p>
            <a:pPr algn="ctr" eaLnBrk="1" hangingPunct="1">
              <a:defRPr/>
            </a:pPr>
            <a:r>
              <a:rPr lang="en-US" sz="3200" dirty="0">
                <a:solidFill>
                  <a:srgbClr val="FFFFFF"/>
                </a:solidFill>
                <a:latin typeface="Algerian" pitchFamily="82" charset="0"/>
              </a:rPr>
              <a:t>CONTENTS</a:t>
            </a:r>
          </a:p>
        </p:txBody>
      </p:sp>
      <p:sp>
        <p:nvSpPr>
          <p:cNvPr id="2" name="Rectangle 1">
            <a:extLst>
              <a:ext uri="{FF2B5EF4-FFF2-40B4-BE49-F238E27FC236}">
                <a16:creationId xmlns:a16="http://schemas.microsoft.com/office/drawing/2014/main" id="{F4BE55BD-112E-4F38-8255-BEE8B9FBAA5A}"/>
              </a:ext>
            </a:extLst>
          </p:cNvPr>
          <p:cNvSpPr/>
          <p:nvPr/>
        </p:nvSpPr>
        <p:spPr>
          <a:xfrm>
            <a:off x="2362200" y="1486035"/>
            <a:ext cx="7620000" cy="4893647"/>
          </a:xfrm>
          <a:prstGeom prst="rect">
            <a:avLst/>
          </a:prstGeom>
        </p:spPr>
        <p:txBody>
          <a:bodyPr wrap="square">
            <a:spAutoFit/>
          </a:bodyPr>
          <a:lstStyle/>
          <a:p>
            <a:pPr>
              <a:defRPr/>
            </a:pPr>
            <a:endParaRPr lang="en-US" altLang="ko-KR" sz="2400" b="1" dirty="0">
              <a:solidFill>
                <a:srgbClr val="403152"/>
              </a:solidFill>
              <a:latin typeface="Andalus" pitchFamily="18" charset="-78"/>
              <a:ea typeface="Gulim" pitchFamily="34" charset="-127"/>
              <a:cs typeface="Andalus" pitchFamily="18" charset="-78"/>
            </a:endParaRPr>
          </a:p>
          <a:p>
            <a:pPr marL="514350" indent="-514350">
              <a:buFont typeface="Arial" charset="0"/>
              <a:buAutoNum type="arabicParenR"/>
              <a:defRPr/>
            </a:pPr>
            <a:r>
              <a:rPr lang="en-US" altLang="ko-KR" sz="2400" dirty="0">
                <a:latin typeface="Algerian" pitchFamily="82" charset="0"/>
                <a:ea typeface="Gulim" pitchFamily="34" charset="-127"/>
              </a:rPr>
              <a:t>Train Summary </a:t>
            </a:r>
          </a:p>
          <a:p>
            <a:pPr marL="514350" indent="-514350">
              <a:buFont typeface="Arial" charset="0"/>
              <a:buAutoNum type="arabicParenR"/>
              <a:defRPr/>
            </a:pPr>
            <a:r>
              <a:rPr lang="en-US" altLang="ko-KR" sz="2400" dirty="0">
                <a:latin typeface="Algerian" pitchFamily="82" charset="0"/>
                <a:ea typeface="Gulim" pitchFamily="34" charset="-127"/>
              </a:rPr>
              <a:t>SYSTEM RELEVANT &amp; SERVICE FAILURES</a:t>
            </a:r>
          </a:p>
          <a:p>
            <a:pPr marL="514350" indent="-514350">
              <a:buFont typeface="Arial" charset="0"/>
              <a:buAutoNum type="arabicParenR"/>
              <a:defRPr/>
            </a:pPr>
            <a:r>
              <a:rPr lang="en-US" altLang="ko-KR" sz="2400" dirty="0">
                <a:latin typeface="Algerian" pitchFamily="82" charset="0"/>
                <a:ea typeface="Gulim" pitchFamily="34" charset="-127"/>
              </a:rPr>
              <a:t>service Failure Detail and Action Plan</a:t>
            </a:r>
          </a:p>
          <a:p>
            <a:pPr marL="514350" indent="-514350">
              <a:buFont typeface="Arial" charset="0"/>
              <a:buAutoNum type="arabicParenR"/>
              <a:defRPr/>
            </a:pPr>
            <a:r>
              <a:rPr lang="en-US" altLang="ko-KR" sz="2400" dirty="0">
                <a:latin typeface="Algerian" pitchFamily="82" charset="0"/>
                <a:ea typeface="Gulim" pitchFamily="34" charset="-127"/>
              </a:rPr>
              <a:t>RUNNING MILEAGE </a:t>
            </a:r>
          </a:p>
          <a:p>
            <a:pPr marL="514350" indent="-514350">
              <a:buFont typeface="Arial" charset="0"/>
              <a:buAutoNum type="arabicParenR"/>
              <a:defRPr/>
            </a:pPr>
            <a:r>
              <a:rPr lang="en-US" altLang="ko-KR" sz="2400" dirty="0">
                <a:latin typeface="Algerian" pitchFamily="82" charset="0"/>
                <a:ea typeface="Gulim" pitchFamily="34" charset="-127"/>
              </a:rPr>
              <a:t>Reliability performance (MDBF)</a:t>
            </a:r>
          </a:p>
          <a:p>
            <a:pPr marL="514350" indent="-514350">
              <a:buFont typeface="Arial" charset="0"/>
              <a:buAutoNum type="arabicParenR"/>
              <a:defRPr/>
            </a:pPr>
            <a:r>
              <a:rPr lang="en-US" altLang="ko-KR" sz="2400" dirty="0">
                <a:latin typeface="Algerian" pitchFamily="82" charset="0"/>
                <a:ea typeface="Gulim" pitchFamily="34" charset="-127"/>
              </a:rPr>
              <a:t>MDBCF</a:t>
            </a:r>
          </a:p>
          <a:p>
            <a:pPr marL="514350" indent="-514350">
              <a:buFont typeface="Arial" charset="0"/>
              <a:buAutoNum type="arabicParenR"/>
              <a:defRPr/>
            </a:pPr>
            <a:r>
              <a:rPr lang="en-US" altLang="ko-KR" sz="2400" dirty="0">
                <a:latin typeface="Algerian" pitchFamily="82" charset="0"/>
                <a:ea typeface="Gulim" pitchFamily="34" charset="-127"/>
              </a:rPr>
              <a:t>Pattern Failure</a:t>
            </a:r>
          </a:p>
          <a:p>
            <a:pPr marL="514350" indent="-514350">
              <a:buFont typeface="Arial" charset="0"/>
              <a:buAutoNum type="arabicParenR"/>
              <a:defRPr/>
            </a:pPr>
            <a:r>
              <a:rPr lang="en-US" altLang="ko-KR" sz="2400" dirty="0">
                <a:latin typeface="Algerian" pitchFamily="82" charset="0"/>
                <a:ea typeface="Gulim" pitchFamily="34" charset="-127"/>
              </a:rPr>
              <a:t>Availability</a:t>
            </a:r>
          </a:p>
          <a:p>
            <a:pPr marL="514350" indent="-514350">
              <a:buFont typeface="Arial" charset="0"/>
              <a:buAutoNum type="arabicParenR"/>
              <a:defRPr/>
            </a:pPr>
            <a:endParaRPr lang="en-US" altLang="ko-KR" sz="2400" dirty="0">
              <a:solidFill>
                <a:srgbClr val="FFFFFF"/>
              </a:solidFill>
              <a:latin typeface="Algerian" pitchFamily="82" charset="0"/>
              <a:ea typeface="Gulim" pitchFamily="34" charset="-127"/>
            </a:endParaRPr>
          </a:p>
          <a:p>
            <a:pPr marL="514350" indent="-514350">
              <a:buFont typeface="Arial" charset="0"/>
              <a:buAutoNum type="arabicParenR"/>
              <a:defRPr/>
            </a:pPr>
            <a:endParaRPr lang="en-US" altLang="ko-KR" sz="2400" dirty="0">
              <a:solidFill>
                <a:srgbClr val="FFFFFF"/>
              </a:solidFill>
              <a:latin typeface="Algerian" pitchFamily="82" charset="0"/>
              <a:ea typeface="Gulim" pitchFamily="34" charset="-127"/>
            </a:endParaRPr>
          </a:p>
          <a:p>
            <a:pPr marL="514350" indent="-514350">
              <a:buFont typeface="Arial" charset="0"/>
              <a:buAutoNum type="arabicParenR"/>
              <a:defRPr/>
            </a:pPr>
            <a:endParaRPr lang="en-US" altLang="ko-KR" sz="2400" dirty="0">
              <a:solidFill>
                <a:srgbClr val="FFFFFF"/>
              </a:solidFill>
              <a:latin typeface="Algerian" pitchFamily="82" charset="0"/>
              <a:ea typeface="Gulim" pitchFamily="34" charset="-127"/>
            </a:endParaRPr>
          </a:p>
          <a:p>
            <a:pPr marL="514350" indent="-514350">
              <a:buFont typeface="Arial" charset="0"/>
              <a:buAutoNum type="arabicParenR"/>
              <a:defRPr/>
            </a:pPr>
            <a:endParaRPr lang="en-US" altLang="ko-KR" sz="2400" b="1" dirty="0">
              <a:solidFill>
                <a:srgbClr val="403152"/>
              </a:solidFill>
              <a:latin typeface="Andalus" pitchFamily="18" charset="-78"/>
              <a:ea typeface="Gulim" pitchFamily="34" charset="-127"/>
              <a:cs typeface="Andalus" pitchFamily="18" charset="-78"/>
            </a:endParaRPr>
          </a:p>
        </p:txBody>
      </p:sp>
      <p:sp>
        <p:nvSpPr>
          <p:cNvPr id="3" name="Slide Number Placeholder 2">
            <a:extLst>
              <a:ext uri="{FF2B5EF4-FFF2-40B4-BE49-F238E27FC236}">
                <a16:creationId xmlns:a16="http://schemas.microsoft.com/office/drawing/2014/main" id="{6EBC846D-174D-422C-9EFB-A46A10B7833E}"/>
              </a:ext>
            </a:extLst>
          </p:cNvPr>
          <p:cNvSpPr>
            <a:spLocks noGrp="1"/>
          </p:cNvSpPr>
          <p:nvPr>
            <p:ph type="sldNum" sz="quarter" idx="12"/>
          </p:nvPr>
        </p:nvSpPr>
        <p:spPr/>
        <p:txBody>
          <a:bodyPr/>
          <a:lstStyle/>
          <a:p>
            <a:fld id="{DE900A00-3DA3-40D9-8627-F4EC14C25FEF}" type="slidenum">
              <a:rPr lang="en-US" smtClean="0"/>
              <a:t>2</a:t>
            </a:fld>
            <a:endParaRPr lang="en-US"/>
          </a:p>
        </p:txBody>
      </p:sp>
    </p:spTree>
    <p:extLst>
      <p:ext uri="{BB962C8B-B14F-4D97-AF65-F5344CB8AC3E}">
        <p14:creationId xmlns:p14="http://schemas.microsoft.com/office/powerpoint/2010/main" val="2398140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1778390249"/>
              </p:ext>
            </p:extLst>
          </p:nvPr>
        </p:nvGraphicFramePr>
        <p:xfrm>
          <a:off x="1473201" y="1561876"/>
          <a:ext cx="9109074" cy="1864540"/>
        </p:xfrm>
        <a:graphic>
          <a:graphicData uri="http://schemas.openxmlformats.org/drawingml/2006/table">
            <a:tbl>
              <a:tblPr firstRow="1" bandRow="1">
                <a:tableStyleId>{5C22544A-7EE6-4342-B048-85BDC9FD1C3A}</a:tableStyleId>
              </a:tblPr>
              <a:tblGrid>
                <a:gridCol w="1407909">
                  <a:extLst>
                    <a:ext uri="{9D8B030D-6E8A-4147-A177-3AD203B41FA5}">
                      <a16:colId xmlns:a16="http://schemas.microsoft.com/office/drawing/2014/main" val="20000"/>
                    </a:ext>
                  </a:extLst>
                </a:gridCol>
                <a:gridCol w="1847881">
                  <a:extLst>
                    <a:ext uri="{9D8B030D-6E8A-4147-A177-3AD203B41FA5}">
                      <a16:colId xmlns:a16="http://schemas.microsoft.com/office/drawing/2014/main" val="20001"/>
                    </a:ext>
                  </a:extLst>
                </a:gridCol>
                <a:gridCol w="1847881">
                  <a:extLst>
                    <a:ext uri="{9D8B030D-6E8A-4147-A177-3AD203B41FA5}">
                      <a16:colId xmlns:a16="http://schemas.microsoft.com/office/drawing/2014/main" val="20002"/>
                    </a:ext>
                  </a:extLst>
                </a:gridCol>
                <a:gridCol w="1717551">
                  <a:extLst>
                    <a:ext uri="{9D8B030D-6E8A-4147-A177-3AD203B41FA5}">
                      <a16:colId xmlns:a16="http://schemas.microsoft.com/office/drawing/2014/main" val="20003"/>
                    </a:ext>
                  </a:extLst>
                </a:gridCol>
                <a:gridCol w="1143926">
                  <a:extLst>
                    <a:ext uri="{9D8B030D-6E8A-4147-A177-3AD203B41FA5}">
                      <a16:colId xmlns:a16="http://schemas.microsoft.com/office/drawing/2014/main" val="2232622393"/>
                    </a:ext>
                  </a:extLst>
                </a:gridCol>
                <a:gridCol w="1143926">
                  <a:extLst>
                    <a:ext uri="{9D8B030D-6E8A-4147-A177-3AD203B41FA5}">
                      <a16:colId xmlns:a16="http://schemas.microsoft.com/office/drawing/2014/main" val="20004"/>
                    </a:ext>
                  </a:extLst>
                </a:gridCol>
              </a:tblGrid>
              <a:tr h="1304841">
                <a:tc>
                  <a:txBody>
                    <a:bodyPr/>
                    <a:lstStyle/>
                    <a:p>
                      <a:pPr algn="ctr" latinLnBrk="1"/>
                      <a:r>
                        <a:rPr lang="en-US" altLang="ko-KR" sz="1400" b="1" dirty="0">
                          <a:solidFill>
                            <a:schemeClr val="tx1"/>
                          </a:solidFill>
                        </a:rPr>
                        <a:t>Depot</a:t>
                      </a:r>
                      <a:endParaRPr lang="ko-KR" altLang="en-US" sz="1400" b="1" dirty="0">
                        <a:solidFill>
                          <a:schemeClr val="tx1"/>
                        </a:solidFill>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400" b="1" dirty="0">
                          <a:solidFill>
                            <a:schemeClr val="tx1"/>
                          </a:solidFill>
                        </a:rPr>
                        <a:t>No. of Trains</a:t>
                      </a:r>
                    </a:p>
                    <a:p>
                      <a:pPr algn="ctr" latinLnBrk="1"/>
                      <a:r>
                        <a:rPr lang="en-US" altLang="ko-KR" sz="1400" b="1" dirty="0">
                          <a:solidFill>
                            <a:schemeClr val="tx1"/>
                          </a:solidFill>
                        </a:rPr>
                        <a:t>Under Commissioning</a:t>
                      </a:r>
                    </a:p>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400" b="0" dirty="0">
                          <a:solidFill>
                            <a:schemeClr val="tx1"/>
                          </a:solidFill>
                        </a:rPr>
                        <a:t>(Not started</a:t>
                      </a:r>
                      <a:r>
                        <a:rPr lang="en-US" altLang="ko-KR" sz="1400" b="0" baseline="0" dirty="0">
                          <a:solidFill>
                            <a:schemeClr val="tx1"/>
                          </a:solidFill>
                        </a:rPr>
                        <a:t>  revenue service)</a:t>
                      </a:r>
                      <a:endParaRPr lang="ko-KR" altLang="en-US" sz="1400" b="0" dirty="0">
                        <a:solidFill>
                          <a:schemeClr val="tx1"/>
                        </a:solidFill>
                      </a:endParaRPr>
                    </a:p>
                    <a:p>
                      <a:pPr algn="ctr" latinLnBrk="1"/>
                      <a:endParaRPr lang="ko-KR" altLang="en-US" sz="1400" b="1" dirty="0">
                        <a:solidFill>
                          <a:schemeClr val="tx1"/>
                        </a:solidFill>
                      </a:endParaRPr>
                    </a:p>
                  </a:txBody>
                  <a:tcPr marL="99060" marR="99060" anchor="ctr">
                    <a:lnL w="12700" cap="flat" cmpd="sng" algn="ctr">
                      <a:solidFill>
                        <a:schemeClr val="tx1"/>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400" b="1" dirty="0">
                          <a:solidFill>
                            <a:schemeClr val="tx1"/>
                          </a:solidFill>
                        </a:rPr>
                        <a:t>No. of Trains</a:t>
                      </a:r>
                    </a:p>
                    <a:p>
                      <a:pPr algn="ctr" latinLnBrk="1"/>
                      <a:r>
                        <a:rPr lang="en-US" altLang="ko-KR" sz="1400" b="1" dirty="0">
                          <a:solidFill>
                            <a:schemeClr val="tx1"/>
                          </a:solidFill>
                        </a:rPr>
                        <a:t>Under</a:t>
                      </a:r>
                    </a:p>
                    <a:p>
                      <a:pPr algn="ctr" latinLnBrk="1"/>
                      <a:r>
                        <a:rPr lang="en-US" altLang="ko-KR" sz="1400" b="1" dirty="0">
                          <a:solidFill>
                            <a:schemeClr val="tx1"/>
                          </a:solidFill>
                        </a:rPr>
                        <a:t>Stabilization</a:t>
                      </a:r>
                    </a:p>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400" b="0" kern="1200" dirty="0">
                          <a:solidFill>
                            <a:schemeClr val="tx1"/>
                          </a:solidFill>
                          <a:latin typeface="+mn-lt"/>
                          <a:ea typeface="+mn-ea"/>
                          <a:cs typeface="+mn-cs"/>
                        </a:rPr>
                        <a:t>(Until</a:t>
                      </a:r>
                      <a:r>
                        <a:rPr lang="en-US" altLang="ko-KR" sz="1400" b="0" kern="1200" baseline="0" dirty="0">
                          <a:solidFill>
                            <a:schemeClr val="tx1"/>
                          </a:solidFill>
                          <a:latin typeface="+mn-lt"/>
                          <a:ea typeface="+mn-ea"/>
                          <a:cs typeface="+mn-cs"/>
                        </a:rPr>
                        <a:t> </a:t>
                      </a:r>
                      <a:r>
                        <a:rPr lang="en-US" altLang="ko-KR" sz="1400" b="0" kern="1200" dirty="0">
                          <a:solidFill>
                            <a:schemeClr val="tx1"/>
                          </a:solidFill>
                          <a:latin typeface="+mn-lt"/>
                          <a:ea typeface="+mn-ea"/>
                          <a:cs typeface="+mn-cs"/>
                        </a:rPr>
                        <a:t>6 months from start of each train’s</a:t>
                      </a:r>
                      <a:r>
                        <a:rPr lang="en-US" altLang="ko-KR" sz="1400" b="0" kern="1200" baseline="0" dirty="0">
                          <a:solidFill>
                            <a:schemeClr val="tx1"/>
                          </a:solidFill>
                          <a:latin typeface="+mn-lt"/>
                          <a:ea typeface="+mn-ea"/>
                          <a:cs typeface="+mn-cs"/>
                        </a:rPr>
                        <a:t> </a:t>
                      </a:r>
                      <a:r>
                        <a:rPr lang="en-US" altLang="ko-KR" sz="1400" b="0" kern="1200" dirty="0">
                          <a:solidFill>
                            <a:schemeClr val="tx1"/>
                          </a:solidFill>
                          <a:latin typeface="+mn-lt"/>
                          <a:ea typeface="+mn-ea"/>
                          <a:cs typeface="+mn-cs"/>
                        </a:rPr>
                        <a:t>revenue service)</a:t>
                      </a:r>
                      <a:endParaRPr lang="ko-KR" altLang="en-US" sz="1400" b="0" dirty="0">
                        <a:solidFill>
                          <a:schemeClr val="tx1"/>
                        </a:solidFill>
                      </a:endParaRPr>
                    </a:p>
                  </a:txBody>
                  <a:tcPr marL="99060" marR="99060" anchor="ctr">
                    <a:lnL w="28575" cap="flat" cmpd="sng" algn="ctr">
                      <a:solidFill>
                        <a:srgbClr val="FF0000"/>
                      </a:solidFill>
                      <a:prstDash val="solid"/>
                      <a:round/>
                      <a:headEnd type="none" w="med" len="med"/>
                      <a:tailEnd type="none" w="med" len="med"/>
                    </a:lnL>
                    <a:lnR w="19050" cap="flat" cmpd="sng" algn="ctr">
                      <a:solidFill>
                        <a:srgbClr val="0000FF"/>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400" b="1" dirty="0">
                          <a:solidFill>
                            <a:schemeClr val="tx1"/>
                          </a:solidFill>
                        </a:rPr>
                        <a:t>No. of Trains </a:t>
                      </a:r>
                    </a:p>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400" b="1" dirty="0">
                          <a:solidFill>
                            <a:schemeClr val="tx1"/>
                          </a:solidFill>
                        </a:rPr>
                        <a:t>Under Reliability Verification</a:t>
                      </a:r>
                      <a:endParaRPr lang="ko-KR" altLang="en-US" sz="1400" b="1" dirty="0">
                        <a:solidFill>
                          <a:schemeClr val="tx1"/>
                        </a:solidFill>
                      </a:endParaRPr>
                    </a:p>
                  </a:txBody>
                  <a:tcPr marL="99060" marR="99060" anchor="ctr">
                    <a:lnL w="19050" cap="flat" cmpd="sng" algn="ctr">
                      <a:solidFill>
                        <a:srgbClr val="0000FF"/>
                      </a:solidFill>
                      <a:prstDash val="solid"/>
                      <a:round/>
                      <a:headEnd type="none" w="med" len="med"/>
                      <a:tailEnd type="none" w="med" len="med"/>
                    </a:lnL>
                    <a:lnR w="19050" cap="flat" cmpd="sng" algn="ctr">
                      <a:solidFill>
                        <a:srgbClr val="0000FF"/>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GB" altLang="ko-KR" sz="1400" b="1" dirty="0">
                          <a:solidFill>
                            <a:schemeClr val="tx1"/>
                          </a:solidFill>
                        </a:rPr>
                        <a:t>DLP Over trains</a:t>
                      </a:r>
                      <a:endParaRPr lang="ko-KR" altLang="en-US" sz="1400" b="1" dirty="0">
                        <a:solidFill>
                          <a:schemeClr val="tx1"/>
                        </a:solidFill>
                      </a:endParaRPr>
                    </a:p>
                  </a:txBody>
                  <a:tcPr marL="99060" marR="99060" anchor="ctr">
                    <a:lnL w="19050" cap="flat" cmpd="sng" algn="ctr">
                      <a:solidFill>
                        <a:srgbClr val="0000FF"/>
                      </a:solidFill>
                      <a:prstDash val="solid"/>
                      <a:round/>
                      <a:headEnd type="none" w="med" len="med"/>
                      <a:tailEnd type="none" w="med" len="med"/>
                    </a:lnL>
                    <a:lnR w="19050" cap="flat" cmpd="sng" algn="ctr">
                      <a:solidFill>
                        <a:srgbClr val="0000FF"/>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en-US" altLang="ko-KR" sz="1400" b="1" dirty="0">
                          <a:solidFill>
                            <a:schemeClr val="tx1"/>
                          </a:solidFill>
                        </a:rPr>
                        <a:t>Total No. of Trains</a:t>
                      </a:r>
                      <a:endParaRPr lang="ko-KR" altLang="en-US" sz="1400" b="1" dirty="0">
                        <a:solidFill>
                          <a:schemeClr val="tx1"/>
                        </a:solidFill>
                      </a:endParaRPr>
                    </a:p>
                  </a:txBody>
                  <a:tcPr marL="99060" marR="99060" anchor="ctr">
                    <a:lnL w="19050" cap="flat" cmpd="sng" algn="ctr">
                      <a:solidFill>
                        <a:srgbClr val="0000FF"/>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492940">
                <a:tc>
                  <a:txBody>
                    <a:bodyPr/>
                    <a:lstStyle/>
                    <a:p>
                      <a:pPr algn="ctr" latinLnBrk="1"/>
                      <a:r>
                        <a:rPr lang="en-US" altLang="ko-KR" sz="1300" b="1" dirty="0">
                          <a:solidFill>
                            <a:schemeClr val="tx1"/>
                          </a:solidFill>
                        </a:rPr>
                        <a:t>CPD</a:t>
                      </a:r>
                    </a:p>
                  </a:txBody>
                  <a:tcPr marL="91432" marR="91432" marT="42205" marB="42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300" b="0" dirty="0">
                          <a:solidFill>
                            <a:schemeClr val="tx1"/>
                          </a:solidFill>
                        </a:rPr>
                        <a:t>3</a:t>
                      </a:r>
                      <a:endParaRPr lang="ko-KR" altLang="en-US" sz="1300" b="0" dirty="0">
                        <a:solidFill>
                          <a:schemeClr val="tx1"/>
                        </a:solidFill>
                      </a:endParaRPr>
                    </a:p>
                  </a:txBody>
                  <a:tcPr marL="91432" marR="91432" marT="42205" marB="42205" anchor="ctr">
                    <a:lnL w="12700" cap="flat" cmpd="sng" algn="ctr">
                      <a:solidFill>
                        <a:schemeClr val="tx1"/>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300" dirty="0"/>
                        <a:t>0</a:t>
                      </a:r>
                      <a:endParaRPr lang="ko-KR" altLang="en-US" sz="1300" b="1" dirty="0">
                        <a:solidFill>
                          <a:schemeClr val="tx1"/>
                        </a:solidFill>
                      </a:endParaRPr>
                    </a:p>
                  </a:txBody>
                  <a:tcPr marL="91432" marR="91432" marT="42205" marB="42205" anchor="ctr">
                    <a:lnL w="28575" cap="flat" cmpd="sng" algn="ctr">
                      <a:solidFill>
                        <a:srgbClr val="FF0000"/>
                      </a:solidFill>
                      <a:prstDash val="solid"/>
                      <a:round/>
                      <a:headEnd type="none" w="med" len="med"/>
                      <a:tailEnd type="none" w="med" len="med"/>
                    </a:lnL>
                    <a:lnR w="19050" cap="flat" cmpd="sng" algn="ctr">
                      <a:solidFill>
                        <a:srgbClr val="0000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300" b="1" dirty="0">
                          <a:solidFill>
                            <a:schemeClr val="tx1"/>
                          </a:solidFill>
                        </a:rPr>
                        <a:t>5</a:t>
                      </a:r>
                      <a:endParaRPr lang="ko-KR" altLang="en-US" sz="1300" b="1" dirty="0">
                        <a:solidFill>
                          <a:schemeClr val="tx1"/>
                        </a:solidFill>
                      </a:endParaRPr>
                    </a:p>
                  </a:txBody>
                  <a:tcPr marL="91432" marR="91432" marT="42205" marB="42205" anchor="ctr">
                    <a:lnL w="19050" cap="flat" cmpd="sng" algn="ctr">
                      <a:solidFill>
                        <a:srgbClr val="0000FF"/>
                      </a:solidFill>
                      <a:prstDash val="solid"/>
                      <a:round/>
                      <a:headEnd type="none" w="med" len="med"/>
                      <a:tailEnd type="none" w="med" len="med"/>
                    </a:lnL>
                    <a:lnR w="19050" cap="flat" cmpd="sng" algn="ctr">
                      <a:solidFill>
                        <a:srgbClr val="0000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GB" altLang="ko-KR" sz="1300" b="1" dirty="0">
                          <a:solidFill>
                            <a:schemeClr val="tx1"/>
                          </a:solidFill>
                        </a:rPr>
                        <a:t>6</a:t>
                      </a:r>
                      <a:endParaRPr lang="ko-KR" altLang="en-US" sz="1300" b="1" dirty="0">
                        <a:solidFill>
                          <a:schemeClr val="tx1"/>
                        </a:solidFill>
                      </a:endParaRPr>
                    </a:p>
                  </a:txBody>
                  <a:tcPr marL="91432" marR="91432" marT="42205" marB="42205" anchor="ctr">
                    <a:lnL w="19050" cap="flat" cmpd="sng" algn="ctr">
                      <a:solidFill>
                        <a:srgbClr val="0000FF"/>
                      </a:solidFill>
                      <a:prstDash val="solid"/>
                      <a:round/>
                      <a:headEnd type="none" w="med" len="med"/>
                      <a:tailEnd type="none" w="med" len="med"/>
                    </a:lnL>
                    <a:lnR w="19050" cap="flat" cmpd="sng" algn="ctr">
                      <a:solidFill>
                        <a:srgbClr val="0000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300" b="1" dirty="0">
                          <a:solidFill>
                            <a:schemeClr val="tx1"/>
                          </a:solidFill>
                        </a:rPr>
                        <a:t>14</a:t>
                      </a:r>
                      <a:endParaRPr lang="ko-KR" altLang="en-US" sz="1300" b="1" dirty="0">
                        <a:solidFill>
                          <a:schemeClr val="tx1"/>
                        </a:solidFill>
                      </a:endParaRPr>
                    </a:p>
                  </a:txBody>
                  <a:tcPr marL="91432" marR="91432" marT="42205" marB="42205" anchor="ctr">
                    <a:lnL w="19050" cap="flat" cmpd="sng" algn="ctr">
                      <a:solidFill>
                        <a:srgbClr val="0000FF"/>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8" name="Rectangle 2"/>
          <p:cNvSpPr txBox="1">
            <a:spLocks/>
          </p:cNvSpPr>
          <p:nvPr/>
        </p:nvSpPr>
        <p:spPr bwMode="auto">
          <a:xfrm>
            <a:off x="1390650" y="152400"/>
            <a:ext cx="932815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ko-KR" sz="2400" dirty="0">
                <a:solidFill>
                  <a:srgbClr val="FFFFFF"/>
                </a:solidFill>
                <a:latin typeface="Algerian" pitchFamily="82" charset="0"/>
                <a:ea typeface="Gulim" pitchFamily="34" charset="-127"/>
              </a:rPr>
              <a:t>1) Train summary</a:t>
            </a:r>
          </a:p>
        </p:txBody>
      </p:sp>
      <p:sp>
        <p:nvSpPr>
          <p:cNvPr id="2" name="Slide Number Placeholder 1">
            <a:extLst>
              <a:ext uri="{FF2B5EF4-FFF2-40B4-BE49-F238E27FC236}">
                <a16:creationId xmlns:a16="http://schemas.microsoft.com/office/drawing/2014/main" id="{86D4FE6C-8864-4900-81BE-CC9A9FFC6888}"/>
              </a:ext>
            </a:extLst>
          </p:cNvPr>
          <p:cNvSpPr>
            <a:spLocks noGrp="1"/>
          </p:cNvSpPr>
          <p:nvPr>
            <p:ph type="sldNum" sz="quarter" idx="12"/>
          </p:nvPr>
        </p:nvSpPr>
        <p:spPr/>
        <p:txBody>
          <a:bodyPr/>
          <a:lstStyle/>
          <a:p>
            <a:fld id="{DE900A00-3DA3-40D9-8627-F4EC14C25FEF}" type="slidenum">
              <a:rPr lang="en-US" smtClean="0"/>
              <a:t>3</a:t>
            </a:fld>
            <a:endParaRPr lang="en-US"/>
          </a:p>
        </p:txBody>
      </p:sp>
    </p:spTree>
    <p:extLst>
      <p:ext uri="{BB962C8B-B14F-4D97-AF65-F5344CB8AC3E}">
        <p14:creationId xmlns:p14="http://schemas.microsoft.com/office/powerpoint/2010/main" val="2402309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5CD65D-FCE5-4BBE-A4E4-277A7CC9489F}"/>
              </a:ext>
            </a:extLst>
          </p:cNvPr>
          <p:cNvSpPr txBox="1">
            <a:spLocks/>
          </p:cNvSpPr>
          <p:nvPr/>
        </p:nvSpPr>
        <p:spPr bwMode="auto">
          <a:xfrm>
            <a:off x="1752600" y="333375"/>
            <a:ext cx="8458200" cy="774700"/>
          </a:xfrm>
          <a:prstGeom prst="rect">
            <a:avLst/>
          </a:prstGeom>
          <a:solidFill>
            <a:schemeClr val="tx2"/>
          </a:solidFill>
          <a:ln>
            <a:noFill/>
          </a:ln>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215" dirty="0">
                <a:solidFill>
                  <a:srgbClr val="FFFFFF"/>
                </a:solidFill>
                <a:latin typeface="Algerian" pitchFamily="82" charset="0"/>
                <a:ea typeface="Gulim" pitchFamily="34" charset="-127"/>
              </a:rPr>
              <a:t>2</a:t>
            </a:r>
            <a:r>
              <a:rPr kumimoji="0" lang="en-US" altLang="ko-KR" sz="2215" b="0" i="0" u="none" strike="noStrike" kern="1200" cap="none" spc="0" normalizeH="0" baseline="0" noProof="0" dirty="0">
                <a:ln>
                  <a:noFill/>
                </a:ln>
                <a:solidFill>
                  <a:srgbClr val="FFFFFF"/>
                </a:solidFill>
                <a:effectLst/>
                <a:uLnTx/>
                <a:uFillTx/>
                <a:latin typeface="Algerian" pitchFamily="82" charset="0"/>
                <a:ea typeface="Gulim" pitchFamily="34" charset="-127"/>
                <a:cs typeface="Arial" charset="0"/>
              </a:rPr>
              <a:t>) SYSTEM RELEVANT &amp; SERVICE FAILURES</a:t>
            </a:r>
          </a:p>
        </p:txBody>
      </p:sp>
      <p:sp>
        <p:nvSpPr>
          <p:cNvPr id="14339" name="TextBox 5">
            <a:extLst>
              <a:ext uri="{FF2B5EF4-FFF2-40B4-BE49-F238E27FC236}">
                <a16:creationId xmlns:a16="http://schemas.microsoft.com/office/drawing/2014/main" id="{C5F5C18A-97A2-410F-A42E-CC4F836625D3}"/>
              </a:ext>
            </a:extLst>
          </p:cNvPr>
          <p:cNvSpPr txBox="1">
            <a:spLocks noChangeArrowheads="1"/>
          </p:cNvSpPr>
          <p:nvPr/>
        </p:nvSpPr>
        <p:spPr bwMode="auto">
          <a:xfrm>
            <a:off x="6096002" y="1185865"/>
            <a:ext cx="4308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altLang="ko-KR" sz="16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34" charset="-127"/>
                <a:cs typeface="+mn-cs"/>
              </a:rPr>
              <a:t>Period: OCT’22 onwards</a:t>
            </a:r>
          </a:p>
        </p:txBody>
      </p:sp>
      <p:sp>
        <p:nvSpPr>
          <p:cNvPr id="3" name="Slide Number Placeholder 2">
            <a:extLst>
              <a:ext uri="{FF2B5EF4-FFF2-40B4-BE49-F238E27FC236}">
                <a16:creationId xmlns:a16="http://schemas.microsoft.com/office/drawing/2014/main" id="{F0BC7536-BEDC-4277-BB37-30605221994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900A00-3DA3-40D9-8627-F4EC14C25FE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5C5E6F09-B68B-487C-A1F0-77493F96A5CD}"/>
              </a:ext>
            </a:extLst>
          </p:cNvPr>
          <p:cNvGraphicFramePr>
            <a:graphicFrameLocks noGrp="1"/>
          </p:cNvGraphicFramePr>
          <p:nvPr>
            <p:extLst>
              <p:ext uri="{D42A27DB-BD31-4B8C-83A1-F6EECF244321}">
                <p14:modId xmlns:p14="http://schemas.microsoft.com/office/powerpoint/2010/main" val="1042152886"/>
              </p:ext>
            </p:extLst>
          </p:nvPr>
        </p:nvGraphicFramePr>
        <p:xfrm>
          <a:off x="1752597" y="1185865"/>
          <a:ext cx="8458203" cy="5189587"/>
        </p:xfrm>
        <a:graphic>
          <a:graphicData uri="http://schemas.openxmlformats.org/drawingml/2006/table">
            <a:tbl>
              <a:tblPr/>
              <a:tblGrid>
                <a:gridCol w="484642">
                  <a:extLst>
                    <a:ext uri="{9D8B030D-6E8A-4147-A177-3AD203B41FA5}">
                      <a16:colId xmlns:a16="http://schemas.microsoft.com/office/drawing/2014/main" val="1480397439"/>
                    </a:ext>
                  </a:extLst>
                </a:gridCol>
                <a:gridCol w="1879849">
                  <a:extLst>
                    <a:ext uri="{9D8B030D-6E8A-4147-A177-3AD203B41FA5}">
                      <a16:colId xmlns:a16="http://schemas.microsoft.com/office/drawing/2014/main" val="3040991102"/>
                    </a:ext>
                  </a:extLst>
                </a:gridCol>
                <a:gridCol w="761714">
                  <a:extLst>
                    <a:ext uri="{9D8B030D-6E8A-4147-A177-3AD203B41FA5}">
                      <a16:colId xmlns:a16="http://schemas.microsoft.com/office/drawing/2014/main" val="3716352646"/>
                    </a:ext>
                  </a:extLst>
                </a:gridCol>
                <a:gridCol w="761714">
                  <a:extLst>
                    <a:ext uri="{9D8B030D-6E8A-4147-A177-3AD203B41FA5}">
                      <a16:colId xmlns:a16="http://schemas.microsoft.com/office/drawing/2014/main" val="3326791460"/>
                    </a:ext>
                  </a:extLst>
                </a:gridCol>
                <a:gridCol w="761714">
                  <a:extLst>
                    <a:ext uri="{9D8B030D-6E8A-4147-A177-3AD203B41FA5}">
                      <a16:colId xmlns:a16="http://schemas.microsoft.com/office/drawing/2014/main" val="3662265619"/>
                    </a:ext>
                  </a:extLst>
                </a:gridCol>
                <a:gridCol w="761714">
                  <a:extLst>
                    <a:ext uri="{9D8B030D-6E8A-4147-A177-3AD203B41FA5}">
                      <a16:colId xmlns:a16="http://schemas.microsoft.com/office/drawing/2014/main" val="87216743"/>
                    </a:ext>
                  </a:extLst>
                </a:gridCol>
                <a:gridCol w="761714">
                  <a:extLst>
                    <a:ext uri="{9D8B030D-6E8A-4147-A177-3AD203B41FA5}">
                      <a16:colId xmlns:a16="http://schemas.microsoft.com/office/drawing/2014/main" val="302717716"/>
                    </a:ext>
                  </a:extLst>
                </a:gridCol>
                <a:gridCol w="761714">
                  <a:extLst>
                    <a:ext uri="{9D8B030D-6E8A-4147-A177-3AD203B41FA5}">
                      <a16:colId xmlns:a16="http://schemas.microsoft.com/office/drawing/2014/main" val="416520842"/>
                    </a:ext>
                  </a:extLst>
                </a:gridCol>
                <a:gridCol w="761714">
                  <a:extLst>
                    <a:ext uri="{9D8B030D-6E8A-4147-A177-3AD203B41FA5}">
                      <a16:colId xmlns:a16="http://schemas.microsoft.com/office/drawing/2014/main" val="778926343"/>
                    </a:ext>
                  </a:extLst>
                </a:gridCol>
                <a:gridCol w="761714">
                  <a:extLst>
                    <a:ext uri="{9D8B030D-6E8A-4147-A177-3AD203B41FA5}">
                      <a16:colId xmlns:a16="http://schemas.microsoft.com/office/drawing/2014/main" val="4003171629"/>
                    </a:ext>
                  </a:extLst>
                </a:gridCol>
              </a:tblGrid>
              <a:tr h="376457">
                <a:tc gridSpan="9">
                  <a:txBody>
                    <a:bodyPr/>
                    <a:lstStyle/>
                    <a:p>
                      <a:pPr algn="ctr" rtl="0" fontAlgn="ctr"/>
                      <a:endParaRPr lang="en-US" sz="1400" b="1" i="0" u="none" strike="noStrike" dirty="0">
                        <a:solidFill>
                          <a:srgbClr val="000000"/>
                        </a:solidFill>
                        <a:effectLst/>
                        <a:latin typeface="Calibri" panose="020F050202020403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IN"/>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rtl="0" fontAlgn="ctr"/>
                      <a:endParaRPr lang="en-US" sz="1400" b="1" i="0" u="none" strike="noStrike" dirty="0">
                        <a:solidFill>
                          <a:srgbClr val="000000"/>
                        </a:solidFill>
                        <a:effectLst/>
                        <a:latin typeface="Calibri" panose="020F050202020403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2427051"/>
                  </a:ext>
                </a:extLst>
              </a:tr>
              <a:tr h="192751">
                <a:tc rowSpan="2">
                  <a:txBody>
                    <a:bodyPr/>
                    <a:lstStyle/>
                    <a:p>
                      <a:pPr algn="ctr" rtl="0" fontAlgn="ctr"/>
                      <a:r>
                        <a:rPr lang="en-US" sz="1100" b="1" i="0" u="none" strike="noStrike" dirty="0">
                          <a:solidFill>
                            <a:srgbClr val="000000"/>
                          </a:solidFill>
                          <a:effectLst/>
                          <a:latin typeface="Arial" panose="020B0604020202020204" pitchFamily="34"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rowSpan="2">
                  <a:txBody>
                    <a:bodyPr/>
                    <a:lstStyle/>
                    <a:p>
                      <a:pPr algn="ctr" rtl="0" fontAlgn="ctr"/>
                      <a:r>
                        <a:rPr lang="en-US" sz="1100" b="1" i="0" u="none" strike="noStrike">
                          <a:solidFill>
                            <a:srgbClr val="000000"/>
                          </a:solidFill>
                          <a:effectLst/>
                          <a:latin typeface="Calibri" panose="020F0502020204030204" pitchFamily="34" charset="0"/>
                        </a:rPr>
                        <a:t>Systems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gridSpan="4">
                  <a:txBody>
                    <a:bodyPr/>
                    <a:lstStyle/>
                    <a:p>
                      <a:pPr algn="ctr" rtl="0" fontAlgn="ctr"/>
                      <a:r>
                        <a:rPr lang="en-US" sz="1200" b="1" i="0" u="none" strike="noStrike">
                          <a:solidFill>
                            <a:srgbClr val="000000"/>
                          </a:solidFill>
                          <a:effectLst/>
                          <a:latin typeface="Calibri" panose="020F0502020204030204" pitchFamily="34" charset="0"/>
                        </a:rPr>
                        <a:t>Relevant Failures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5"/>
                    </a:solidFill>
                  </a:tcPr>
                </a:tc>
                <a:tc hMerge="1">
                  <a:txBody>
                    <a:bodyPr/>
                    <a:lstStyle/>
                    <a:p>
                      <a:endParaRPr lang="en-IN"/>
                    </a:p>
                  </a:txBody>
                  <a:tcPr/>
                </a:tc>
                <a:tc hMerge="1">
                  <a:txBody>
                    <a:bodyPr/>
                    <a:lstStyle/>
                    <a:p>
                      <a:endParaRPr lang="en-US"/>
                    </a:p>
                  </a:txBody>
                  <a:tcPr/>
                </a:tc>
                <a:tc hMerge="1">
                  <a:txBody>
                    <a:bodyPr/>
                    <a:lstStyle/>
                    <a:p>
                      <a:endParaRPr lang="en-US"/>
                    </a:p>
                  </a:txBody>
                  <a:tcPr/>
                </a:tc>
                <a:tc gridSpan="3">
                  <a:txBody>
                    <a:bodyPr/>
                    <a:lstStyle/>
                    <a:p>
                      <a:pPr algn="ctr" rtl="0" fontAlgn="ctr"/>
                      <a:r>
                        <a:rPr lang="en-US" sz="1200" b="1" i="0" u="none" strike="noStrike">
                          <a:solidFill>
                            <a:srgbClr val="000000"/>
                          </a:solidFill>
                          <a:effectLst/>
                          <a:latin typeface="Calibri" panose="020F0502020204030204" pitchFamily="34" charset="0"/>
                        </a:rPr>
                        <a:t>Service Failures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5"/>
                    </a:solidFill>
                  </a:tcPr>
                </a:tc>
                <a:tc hMerge="1">
                  <a:txBody>
                    <a:bodyPr/>
                    <a:lstStyle/>
                    <a:p>
                      <a:endParaRPr lang="en-US"/>
                    </a:p>
                  </a:txBody>
                  <a:tcPr/>
                </a:tc>
                <a:tc hMerge="1">
                  <a:txBody>
                    <a:bodyPr/>
                    <a:lstStyle/>
                    <a:p>
                      <a:endParaRPr lang="en-US"/>
                    </a:p>
                  </a:txBody>
                  <a:tcPr/>
                </a:tc>
                <a:tc>
                  <a:txBody>
                    <a:bodyPr/>
                    <a:lstStyle/>
                    <a:p>
                      <a:pPr algn="ctr" rtl="0" fontAlgn="ct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5"/>
                    </a:solidFill>
                  </a:tcPr>
                </a:tc>
                <a:extLst>
                  <a:ext uri="{0D108BD9-81ED-4DB2-BD59-A6C34878D82A}">
                    <a16:rowId xmlns:a16="http://schemas.microsoft.com/office/drawing/2014/main" val="3344252414"/>
                  </a:ext>
                </a:extLst>
              </a:tr>
              <a:tr h="176689">
                <a:tc vMerge="1">
                  <a:txBody>
                    <a:bodyPr/>
                    <a:lstStyle/>
                    <a:p>
                      <a:endParaRPr lang="en-US"/>
                    </a:p>
                  </a:txBody>
                  <a:tcPr/>
                </a:tc>
                <a:tc vMerge="1">
                  <a:txBody>
                    <a:bodyPr/>
                    <a:lstStyle/>
                    <a:p>
                      <a:endParaRPr lang="en-US"/>
                    </a:p>
                  </a:txBody>
                  <a:tcPr/>
                </a:tc>
                <a:tc>
                  <a:txBody>
                    <a:bodyPr/>
                    <a:lstStyle/>
                    <a:p>
                      <a:pPr algn="ctr" rtl="0" fontAlgn="ctr"/>
                      <a:r>
                        <a:rPr lang="en-US" sz="1100" b="0" i="0" u="none" strike="noStrike" dirty="0">
                          <a:solidFill>
                            <a:srgbClr val="000000"/>
                          </a:solidFill>
                          <a:effectLst/>
                          <a:latin typeface="Calibri" panose="020F0502020204030204" pitchFamily="34" charset="0"/>
                        </a:rPr>
                        <a:t>Oct’22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Nov'22</a:t>
                      </a:r>
                    </a:p>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0" i="0" u="none" strike="noStrike" dirty="0">
                          <a:solidFill>
                            <a:srgbClr val="000000"/>
                          </a:solidFill>
                          <a:effectLst/>
                          <a:latin typeface="Calibri" panose="020F0502020204030204" pitchFamily="34" charset="0"/>
                        </a:rPr>
                        <a:t>Dec'22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1" i="0" u="none" strike="noStrike">
                          <a:solidFill>
                            <a:srgbClr val="000000"/>
                          </a:solidFill>
                          <a:effectLst/>
                          <a:latin typeface="Calibri" panose="020F0502020204030204" pitchFamily="34" charset="0"/>
                        </a:rPr>
                        <a:t>TOTAL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0" i="0" u="none" strike="noStrike">
                          <a:solidFill>
                            <a:srgbClr val="000000"/>
                          </a:solidFill>
                          <a:effectLst/>
                          <a:latin typeface="Calibri" panose="020F0502020204030204" pitchFamily="34" charset="0"/>
                        </a:rPr>
                        <a:t>Oct'22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0" i="0" u="none" strike="noStrike">
                          <a:solidFill>
                            <a:srgbClr val="000000"/>
                          </a:solidFill>
                          <a:effectLst/>
                          <a:latin typeface="Calibri" panose="020F0502020204030204" pitchFamily="34" charset="0"/>
                        </a:rPr>
                        <a:t>Nov'22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1" i="0" u="none" strike="noStrike" dirty="0">
                          <a:solidFill>
                            <a:srgbClr val="000000"/>
                          </a:solidFill>
                          <a:effectLst/>
                          <a:latin typeface="Calibri" panose="020F0502020204030204" pitchFamily="34" charset="0"/>
                        </a:rPr>
                        <a:t>Dec’22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algn="ctr" rtl="0" fontAlgn="ctr"/>
                      <a:r>
                        <a:rPr lang="en-US" sz="1100" b="1" i="0" u="none" strike="noStrike" dirty="0">
                          <a:solidFill>
                            <a:srgbClr val="000000"/>
                          </a:solidFill>
                          <a:effectLst/>
                          <a:latin typeface="Calibri" panose="020F0502020204030204" pitchFamily="34" charset="0"/>
                        </a:rPr>
                        <a:t>TOTAL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extLst>
                  <a:ext uri="{0D108BD9-81ED-4DB2-BD59-A6C34878D82A}">
                    <a16:rowId xmlns:a16="http://schemas.microsoft.com/office/drawing/2014/main" val="3330026208"/>
                  </a:ext>
                </a:extLst>
              </a:tr>
              <a:tr h="327354">
                <a:tc>
                  <a:txBody>
                    <a:bodyPr/>
                    <a:lstStyle/>
                    <a:p>
                      <a:pPr algn="ctr" rtl="0" fontAlgn="ctr"/>
                      <a:r>
                        <a:rPr lang="en-US" sz="1200" b="0" i="0" u="none" strike="noStrike" dirty="0">
                          <a:solidFill>
                            <a:srgbClr val="000000"/>
                          </a:solidFill>
                          <a:effectLst/>
                          <a:latin typeface="Calibri" panose="020F0502020204030204" pitchFamily="34"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Calibri" panose="020F0502020204030204" pitchFamily="34" charset="0"/>
                        </a:rPr>
                        <a:t>Propulsion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1986416"/>
                  </a:ext>
                </a:extLst>
              </a:tr>
              <a:tr h="297653">
                <a:tc>
                  <a:txBody>
                    <a:bodyPr/>
                    <a:lstStyle/>
                    <a:p>
                      <a:pPr algn="ctr" rtl="0" fontAlgn="ctr"/>
                      <a:r>
                        <a:rPr lang="en-US" sz="1200" b="0" i="0" u="none" strike="noStrike">
                          <a:solidFill>
                            <a:srgbClr val="000000"/>
                          </a:solidFill>
                          <a:effectLst/>
                          <a:latin typeface="Calibri" panose="020F0502020204030204" pitchFamily="34"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Calibri" panose="020F0502020204030204" pitchFamily="34" charset="0"/>
                        </a:rPr>
                        <a:t>Auxiliary Supply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1559525"/>
                  </a:ext>
                </a:extLst>
              </a:tr>
              <a:tr h="461639">
                <a:tc>
                  <a:txBody>
                    <a:bodyPr/>
                    <a:lstStyle/>
                    <a:p>
                      <a:pPr algn="ctr" rtl="0" fontAlgn="ctr"/>
                      <a:r>
                        <a:rPr lang="en-US" sz="1200" b="0" i="0" u="none" strike="noStrike">
                          <a:solidFill>
                            <a:srgbClr val="000000"/>
                          </a:solidFill>
                          <a:effectLst/>
                          <a:latin typeface="Calibri" panose="020F0502020204030204" pitchFamily="34"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Calibri" panose="020F0502020204030204" pitchFamily="34" charset="0"/>
                        </a:rPr>
                        <a:t>Air Supply and Friction Brake Equipment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710705"/>
                  </a:ext>
                </a:extLst>
              </a:tr>
              <a:tr h="292963">
                <a:tc>
                  <a:txBody>
                    <a:bodyPr/>
                    <a:lstStyle/>
                    <a:p>
                      <a:pPr algn="ctr" rtl="0" fontAlgn="ctr"/>
                      <a:r>
                        <a:rPr lang="en-US" sz="1200" b="0" i="0" u="none" strike="noStrike">
                          <a:solidFill>
                            <a:srgbClr val="000000"/>
                          </a:solidFill>
                          <a:effectLst/>
                          <a:latin typeface="Calibri" panose="020F0502020204030204" pitchFamily="34"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Door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020476"/>
                  </a:ext>
                </a:extLst>
              </a:tr>
              <a:tr h="275208">
                <a:tc>
                  <a:txBody>
                    <a:bodyPr/>
                    <a:lstStyle/>
                    <a:p>
                      <a:pPr algn="ctr" rtl="0" fontAlgn="ctr"/>
                      <a:r>
                        <a:rPr lang="en-US" sz="1200" b="0" i="0" u="none" strike="noStrike">
                          <a:solidFill>
                            <a:srgbClr val="000000"/>
                          </a:solidFill>
                          <a:effectLst/>
                          <a:latin typeface="Calibri" panose="020F0502020204030204" pitchFamily="34"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HVAC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3552369"/>
                  </a:ext>
                </a:extLst>
              </a:tr>
              <a:tr h="327354">
                <a:tc>
                  <a:txBody>
                    <a:bodyPr/>
                    <a:lstStyle/>
                    <a:p>
                      <a:pPr algn="ctr" rtl="0" fontAlgn="ctr"/>
                      <a:r>
                        <a:rPr lang="en-US" sz="1200" b="0" i="0" u="none" strike="noStrike">
                          <a:solidFill>
                            <a:srgbClr val="000000"/>
                          </a:solidFill>
                          <a:effectLst/>
                          <a:latin typeface="Calibri" panose="020F0502020204030204" pitchFamily="34"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Communication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2053832"/>
                  </a:ext>
                </a:extLst>
              </a:tr>
              <a:tr h="327354">
                <a:tc>
                  <a:txBody>
                    <a:bodyPr/>
                    <a:lstStyle/>
                    <a:p>
                      <a:pPr algn="ctr" rtl="0" fontAlgn="ctr"/>
                      <a:r>
                        <a:rPr lang="en-US" sz="1200" b="0" i="0" u="none" strike="noStrike">
                          <a:solidFill>
                            <a:srgbClr val="000000"/>
                          </a:solidFill>
                          <a:effectLst/>
                          <a:latin typeface="Calibri" panose="020F0502020204030204" pitchFamily="34"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Couplers and Draft Gear</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2486101"/>
                  </a:ext>
                </a:extLst>
              </a:tr>
              <a:tr h="327354">
                <a:tc>
                  <a:txBody>
                    <a:bodyPr/>
                    <a:lstStyle/>
                    <a:p>
                      <a:pPr algn="ctr" rtl="0" fontAlgn="ctr"/>
                      <a:r>
                        <a:rPr lang="en-US" sz="1200" b="0" i="0" u="none" strike="noStrike">
                          <a:solidFill>
                            <a:srgbClr val="000000"/>
                          </a:solidFill>
                          <a:effectLst/>
                          <a:latin typeface="Calibri" panose="020F0502020204030204" pitchFamily="34"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Bogies &amp; Suspension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9174571"/>
                  </a:ext>
                </a:extLst>
              </a:tr>
              <a:tr h="327354">
                <a:tc>
                  <a:txBody>
                    <a:bodyPr/>
                    <a:lstStyle/>
                    <a:p>
                      <a:pPr algn="ctr" rtl="0" fontAlgn="ctr"/>
                      <a:r>
                        <a:rPr lang="en-US" sz="1200" b="0" i="0" u="none" strike="noStrike">
                          <a:solidFill>
                            <a:srgbClr val="000000"/>
                          </a:solidFill>
                          <a:effectLst/>
                          <a:latin typeface="Calibri" panose="020F0502020204030204" pitchFamily="34"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Lighting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9812319"/>
                  </a:ext>
                </a:extLst>
              </a:tr>
              <a:tr h="192751">
                <a:tc>
                  <a:txBody>
                    <a:bodyPr/>
                    <a:lstStyle/>
                    <a:p>
                      <a:pPr algn="ctr" rtl="0" fontAlgn="ctr"/>
                      <a:r>
                        <a:rPr lang="en-US" sz="1200" b="0" i="0" u="none" strike="noStrike">
                          <a:solidFill>
                            <a:srgbClr val="000000"/>
                          </a:solidFill>
                          <a:effectLst/>
                          <a:latin typeface="Calibri" panose="020F0502020204030204" pitchFamily="34"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TCMS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0026207"/>
                  </a:ext>
                </a:extLst>
              </a:tr>
              <a:tr h="355823">
                <a:tc>
                  <a:txBody>
                    <a:bodyPr/>
                    <a:lstStyle/>
                    <a:p>
                      <a:pPr algn="ctr" rtl="0" fontAlgn="ctr"/>
                      <a:r>
                        <a:rPr lang="en-US" sz="1200" b="0" i="0" u="none" strike="noStrike">
                          <a:solidFill>
                            <a:srgbClr val="000000"/>
                          </a:solidFill>
                          <a:effectLst/>
                          <a:latin typeface="Calibri" panose="020F0502020204030204" pitchFamily="34"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Calibri" panose="020F0502020204030204" pitchFamily="34" charset="0"/>
                        </a:rPr>
                        <a:t>Fire Detection System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6481213"/>
                  </a:ext>
                </a:extLst>
              </a:tr>
              <a:tr h="343671">
                <a:tc>
                  <a:txBody>
                    <a:bodyPr/>
                    <a:lstStyle/>
                    <a:p>
                      <a:pPr algn="ctr" rtl="0" fontAlgn="ctr"/>
                      <a:r>
                        <a:rPr lang="en-US" sz="1200" b="0" i="0" u="none" strike="noStrike">
                          <a:solidFill>
                            <a:srgbClr val="000000"/>
                          </a:solidFill>
                          <a:effectLst/>
                          <a:latin typeface="Calibri" panose="020F0502020204030204" pitchFamily="34" charset="0"/>
                        </a:rPr>
                        <a:t>12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Structure and Interior Fittings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6403966"/>
                  </a:ext>
                </a:extLst>
              </a:tr>
              <a:tr h="248576">
                <a:tc>
                  <a:txBody>
                    <a:bodyPr/>
                    <a:lstStyle/>
                    <a:p>
                      <a:pPr algn="ctr" rtl="0" fontAlgn="ctr"/>
                      <a:r>
                        <a:rPr lang="en-US" sz="1200" b="0" i="0" u="none" strike="noStrike">
                          <a:solidFill>
                            <a:srgbClr val="000000"/>
                          </a:solidFill>
                          <a:effectLst/>
                          <a:latin typeface="Calibri" panose="020F0502020204030204" pitchFamily="34" charset="0"/>
                        </a:rPr>
                        <a:t>13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200" b="0" i="0" u="none" strike="noStrike">
                          <a:solidFill>
                            <a:srgbClr val="000000"/>
                          </a:solidFill>
                          <a:effectLst/>
                          <a:latin typeface="Calibri" panose="020F0502020204030204" pitchFamily="34" charset="0"/>
                        </a:rPr>
                        <a:t>Wiper</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8372287"/>
                  </a:ext>
                </a:extLst>
              </a:tr>
              <a:tr h="180045">
                <a:tc gridSpan="2">
                  <a:txBody>
                    <a:bodyPr/>
                    <a:lstStyle/>
                    <a:p>
                      <a:pPr algn="ctr" rtl="0" fontAlgn="ctr"/>
                      <a:r>
                        <a:rPr lang="en-US" sz="1100" b="1" i="0" u="none" strike="noStrike" dirty="0">
                          <a:solidFill>
                            <a:srgbClr val="000000"/>
                          </a:solidFill>
                          <a:effectLst/>
                          <a:latin typeface="Calibri" panose="020F0502020204030204" pitchFamily="34" charset="0"/>
                        </a:rPr>
                        <a:t>TOTAL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Cambria" panose="02040503050406030204" pitchFamily="18"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0252700"/>
                  </a:ext>
                </a:extLst>
              </a:tr>
            </a:tbl>
          </a:graphicData>
        </a:graphic>
      </p:graphicFrame>
    </p:spTree>
    <p:extLst>
      <p:ext uri="{BB962C8B-B14F-4D97-AF65-F5344CB8AC3E}">
        <p14:creationId xmlns:p14="http://schemas.microsoft.com/office/powerpoint/2010/main" val="3092126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CFFEC1-7023-4988-AB54-D880EA9ED870}"/>
              </a:ext>
            </a:extLst>
          </p:cNvPr>
          <p:cNvSpPr>
            <a:spLocks noGrp="1"/>
          </p:cNvSpPr>
          <p:nvPr>
            <p:ph type="sldNum" sz="quarter" idx="12"/>
          </p:nvPr>
        </p:nvSpPr>
        <p:spPr/>
        <p:txBody>
          <a:bodyPr/>
          <a:lstStyle/>
          <a:p>
            <a:fld id="{DE900A00-3DA3-40D9-8627-F4EC14C25FEF}" type="slidenum">
              <a:rPr lang="en-US" smtClean="0"/>
              <a:t>5</a:t>
            </a:fld>
            <a:endParaRPr lang="en-US"/>
          </a:p>
        </p:txBody>
      </p:sp>
      <p:sp>
        <p:nvSpPr>
          <p:cNvPr id="3" name="Rectangle 2">
            <a:extLst>
              <a:ext uri="{FF2B5EF4-FFF2-40B4-BE49-F238E27FC236}">
                <a16:creationId xmlns:a16="http://schemas.microsoft.com/office/drawing/2014/main" id="{A6FC239F-FFFB-41FF-B70D-B4DD3D29438F}"/>
              </a:ext>
            </a:extLst>
          </p:cNvPr>
          <p:cNvSpPr txBox="1">
            <a:spLocks/>
          </p:cNvSpPr>
          <p:nvPr/>
        </p:nvSpPr>
        <p:spPr bwMode="auto">
          <a:xfrm>
            <a:off x="1752600" y="333375"/>
            <a:ext cx="8458200" cy="774700"/>
          </a:xfrm>
          <a:prstGeom prst="rect">
            <a:avLst/>
          </a:prstGeom>
          <a:solidFill>
            <a:schemeClr val="tx2"/>
          </a:solidFill>
          <a:ln>
            <a:noFill/>
          </a:ln>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215" b="0" i="0" u="none" strike="noStrike" kern="1200" cap="none" spc="0" normalizeH="0" baseline="0" noProof="0" dirty="0">
                <a:ln>
                  <a:noFill/>
                </a:ln>
                <a:solidFill>
                  <a:srgbClr val="FFFFFF"/>
                </a:solidFill>
                <a:effectLst/>
                <a:uLnTx/>
                <a:uFillTx/>
                <a:latin typeface="Algerian" pitchFamily="82" charset="0"/>
                <a:ea typeface="Gulim" pitchFamily="34" charset="-127"/>
                <a:cs typeface="Arial" charset="0"/>
              </a:rPr>
              <a:t> SYSTEM RELEVANT Failures</a:t>
            </a:r>
          </a:p>
        </p:txBody>
      </p:sp>
      <p:graphicFrame>
        <p:nvGraphicFramePr>
          <p:cNvPr id="4" name="Chart 3">
            <a:extLst>
              <a:ext uri="{FF2B5EF4-FFF2-40B4-BE49-F238E27FC236}">
                <a16:creationId xmlns:a16="http://schemas.microsoft.com/office/drawing/2014/main" id="{E37732A3-61A2-4B83-AA74-ADE5BDD0993E}"/>
              </a:ext>
            </a:extLst>
          </p:cNvPr>
          <p:cNvGraphicFramePr>
            <a:graphicFrameLocks/>
          </p:cNvGraphicFramePr>
          <p:nvPr>
            <p:extLst>
              <p:ext uri="{D42A27DB-BD31-4B8C-83A1-F6EECF244321}">
                <p14:modId xmlns:p14="http://schemas.microsoft.com/office/powerpoint/2010/main" val="1461627233"/>
              </p:ext>
            </p:extLst>
          </p:nvPr>
        </p:nvGraphicFramePr>
        <p:xfrm>
          <a:off x="1752599" y="1571348"/>
          <a:ext cx="8458199" cy="41902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3368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p:cNvSpPr>
          <p:nvPr>
            <p:ph type="title" idx="4294967295"/>
          </p:nvPr>
        </p:nvSpPr>
        <p:spPr>
          <a:xfrm>
            <a:off x="612558" y="136526"/>
            <a:ext cx="11008311" cy="396134"/>
          </a:xfrm>
          <a:solidFill>
            <a:schemeClr val="tx2"/>
          </a:solidFill>
        </p:spPr>
        <p:txBody>
          <a:bodyPr>
            <a:normAutofit fontScale="90000"/>
          </a:bodyPr>
          <a:lstStyle/>
          <a:p>
            <a:pPr eaLnBrk="1" hangingPunct="1"/>
            <a:r>
              <a:rPr lang="en-US" altLang="ko-KR" sz="2400" dirty="0">
                <a:solidFill>
                  <a:schemeClr val="bg1"/>
                </a:solidFill>
                <a:latin typeface="Algerian" pitchFamily="82" charset="0"/>
                <a:ea typeface="Gulim" pitchFamily="34" charset="-127"/>
              </a:rPr>
              <a:t>                    3) service Failure Detail and Action Plan</a:t>
            </a:r>
          </a:p>
        </p:txBody>
      </p:sp>
      <p:sp>
        <p:nvSpPr>
          <p:cNvPr id="2" name="Slide Number Placeholder 1">
            <a:extLst>
              <a:ext uri="{FF2B5EF4-FFF2-40B4-BE49-F238E27FC236}">
                <a16:creationId xmlns:a16="http://schemas.microsoft.com/office/drawing/2014/main" id="{AF4C84A1-F77B-411E-95CA-40FF9D63A8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900A00-3DA3-40D9-8627-F4EC14C25FE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19376ECF-F9D6-459F-BF12-23545EE96619}"/>
              </a:ext>
            </a:extLst>
          </p:cNvPr>
          <p:cNvGraphicFramePr>
            <a:graphicFrameLocks noGrp="1"/>
          </p:cNvGraphicFramePr>
          <p:nvPr>
            <p:extLst>
              <p:ext uri="{D42A27DB-BD31-4B8C-83A1-F6EECF244321}">
                <p14:modId xmlns:p14="http://schemas.microsoft.com/office/powerpoint/2010/main" val="3298103669"/>
              </p:ext>
            </p:extLst>
          </p:nvPr>
        </p:nvGraphicFramePr>
        <p:xfrm>
          <a:off x="612558" y="532660"/>
          <a:ext cx="11008311" cy="6217775"/>
        </p:xfrm>
        <a:graphic>
          <a:graphicData uri="http://schemas.openxmlformats.org/drawingml/2006/table">
            <a:tbl>
              <a:tblPr/>
              <a:tblGrid>
                <a:gridCol w="506028">
                  <a:extLst>
                    <a:ext uri="{9D8B030D-6E8A-4147-A177-3AD203B41FA5}">
                      <a16:colId xmlns:a16="http://schemas.microsoft.com/office/drawing/2014/main" val="477214435"/>
                    </a:ext>
                  </a:extLst>
                </a:gridCol>
                <a:gridCol w="452762">
                  <a:extLst>
                    <a:ext uri="{9D8B030D-6E8A-4147-A177-3AD203B41FA5}">
                      <a16:colId xmlns:a16="http://schemas.microsoft.com/office/drawing/2014/main" val="2007655350"/>
                    </a:ext>
                  </a:extLst>
                </a:gridCol>
                <a:gridCol w="310718">
                  <a:extLst>
                    <a:ext uri="{9D8B030D-6E8A-4147-A177-3AD203B41FA5}">
                      <a16:colId xmlns:a16="http://schemas.microsoft.com/office/drawing/2014/main" val="3565083141"/>
                    </a:ext>
                  </a:extLst>
                </a:gridCol>
                <a:gridCol w="257452">
                  <a:extLst>
                    <a:ext uri="{9D8B030D-6E8A-4147-A177-3AD203B41FA5}">
                      <a16:colId xmlns:a16="http://schemas.microsoft.com/office/drawing/2014/main" val="3678266697"/>
                    </a:ext>
                  </a:extLst>
                </a:gridCol>
                <a:gridCol w="479395">
                  <a:extLst>
                    <a:ext uri="{9D8B030D-6E8A-4147-A177-3AD203B41FA5}">
                      <a16:colId xmlns:a16="http://schemas.microsoft.com/office/drawing/2014/main" val="3653221944"/>
                    </a:ext>
                  </a:extLst>
                </a:gridCol>
                <a:gridCol w="763479">
                  <a:extLst>
                    <a:ext uri="{9D8B030D-6E8A-4147-A177-3AD203B41FA5}">
                      <a16:colId xmlns:a16="http://schemas.microsoft.com/office/drawing/2014/main" val="6606879"/>
                    </a:ext>
                  </a:extLst>
                </a:gridCol>
                <a:gridCol w="2361460">
                  <a:extLst>
                    <a:ext uri="{9D8B030D-6E8A-4147-A177-3AD203B41FA5}">
                      <a16:colId xmlns:a16="http://schemas.microsoft.com/office/drawing/2014/main" val="175027603"/>
                    </a:ext>
                  </a:extLst>
                </a:gridCol>
                <a:gridCol w="4700192">
                  <a:extLst>
                    <a:ext uri="{9D8B030D-6E8A-4147-A177-3AD203B41FA5}">
                      <a16:colId xmlns:a16="http://schemas.microsoft.com/office/drawing/2014/main" val="3609802808"/>
                    </a:ext>
                  </a:extLst>
                </a:gridCol>
                <a:gridCol w="1176825">
                  <a:extLst>
                    <a:ext uri="{9D8B030D-6E8A-4147-A177-3AD203B41FA5}">
                      <a16:colId xmlns:a16="http://schemas.microsoft.com/office/drawing/2014/main" val="348282925"/>
                    </a:ext>
                  </a:extLst>
                </a:gridCol>
              </a:tblGrid>
              <a:tr h="406000">
                <a:tc>
                  <a:txBody>
                    <a:bodyPr/>
                    <a:lstStyle/>
                    <a:p>
                      <a:pPr algn="ctr" fontAlgn="ctr"/>
                      <a:r>
                        <a:rPr lang="en-US" sz="800" b="1" i="0" u="none" strike="noStrike" dirty="0">
                          <a:solidFill>
                            <a:srgbClr val="000000"/>
                          </a:solidFill>
                          <a:effectLst/>
                          <a:latin typeface="Arial" panose="020B0604020202020204" pitchFamily="34" charset="0"/>
                        </a:rPr>
                        <a:t>SERVICE FAILURE  TYPE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FAILURE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CAR 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FAULT DESCRIPTION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MAIN LINE ACTION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dirty="0">
                          <a:solidFill>
                            <a:srgbClr val="000000"/>
                          </a:solidFill>
                          <a:effectLst/>
                          <a:latin typeface="Arial" panose="020B0604020202020204" pitchFamily="34" charset="0"/>
                        </a:rPr>
                        <a:t>DEPOT 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PLAN TO ADDRESS ISSUE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63560807"/>
                  </a:ext>
                </a:extLst>
              </a:tr>
              <a:tr h="3215516">
                <a:tc>
                  <a:txBody>
                    <a:bodyPr/>
                    <a:lstStyle/>
                    <a:p>
                      <a:pPr algn="ctr" fontAlgn="ctr"/>
                      <a:r>
                        <a:rPr lang="en-US" sz="750" b="1" i="0" u="none" strike="noStrike" dirty="0">
                          <a:solidFill>
                            <a:srgbClr val="000000"/>
                          </a:solidFill>
                          <a:effectLst/>
                          <a:latin typeface="Calibri" panose="020F0502020204030204" pitchFamily="34" charset="0"/>
                        </a:rPr>
                        <a:t>Deboarding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50" b="0" i="0" u="none" strike="noStrike" dirty="0">
                          <a:solidFill>
                            <a:srgbClr val="000000"/>
                          </a:solidFill>
                          <a:effectLst/>
                          <a:latin typeface="Calibri" panose="020F0502020204030204" pitchFamily="34" charset="0"/>
                        </a:rPr>
                        <a:t>04.11.2022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50" b="0" i="0" u="none" strike="noStrike" dirty="0">
                          <a:solidFill>
                            <a:srgbClr val="000000"/>
                          </a:solidFill>
                          <a:effectLst/>
                          <a:latin typeface="Calibri" panose="020F0502020204030204" pitchFamily="34" charset="0"/>
                        </a:rPr>
                        <a:t>TS#02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50" b="0" i="0" u="none" strike="noStrike" dirty="0">
                          <a:solidFill>
                            <a:srgbClr val="000000"/>
                          </a:solidFill>
                          <a:effectLst/>
                          <a:latin typeface="Calibri" panose="020F0502020204030204" pitchFamily="34" charset="0"/>
                        </a:rPr>
                        <a:t>DM1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50" b="0" i="0" u="none" strike="noStrike" dirty="0">
                          <a:solidFill>
                            <a:srgbClr val="000000"/>
                          </a:solidFill>
                          <a:effectLst/>
                          <a:latin typeface="Calibri" panose="020F0502020204030204" pitchFamily="34" charset="0"/>
                        </a:rPr>
                        <a:t>Propulsion 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50" b="0" i="0" u="none" strike="noStrike" dirty="0">
                          <a:solidFill>
                            <a:srgbClr val="000000"/>
                          </a:solidFill>
                          <a:effectLst/>
                          <a:latin typeface="Calibri" panose="020F0502020204030204" pitchFamily="34" charset="0"/>
                        </a:rPr>
                        <a:t> Motoring not possible and EB by CC between DIN-KUR DN mast no. 07/42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50" b="0" i="0" u="none" strike="noStrike" dirty="0">
                          <a:solidFill>
                            <a:srgbClr val="000000"/>
                          </a:solidFill>
                          <a:effectLst/>
                          <a:latin typeface="Calibri" panose="020F0502020204030204" pitchFamily="34" charset="0"/>
                        </a:rPr>
                        <a:t>19:42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TS#02 (ID03) at mast no 7/42 between DIN DN - KUR DN train stuck due  to EB by CC ( other cab activated fault on TCMS as per TO, Cab was not getting enabled and motoring not possible from DM1</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19:44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As per RSC changed mode of train to RM &amp; checked motoring is possible or not? TS 02 informed motoring not possible in RM. </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19:48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RSC instructed to change cab. </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19:50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Activated DM6 cab &amp; EB got reset.</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19:52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Cab changed again &amp; key inserted in DM1 cab &amp; showing cab not activated.</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19:54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Motoring not possible in RM mode due to cab not enable</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19:57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As per RSC limp home activated by pressing push button only and got motoring.  Train authorized in RM till KUR DN</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20:01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Train reached at KUR DN doors open in standby mode. TO reported that doors are not closing now.</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20:01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Train evacuated at KUR DN.</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20:05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As per RSC instructed TO </a:t>
                      </a:r>
                      <a:r>
                        <a:rPr lang="en-US" sz="750" b="0" i="0" u="none" strike="noStrike" dirty="0" err="1">
                          <a:solidFill>
                            <a:srgbClr val="000000"/>
                          </a:solidFill>
                          <a:effectLst/>
                          <a:latin typeface="Calibri" panose="020F0502020204030204" pitchFamily="34" charset="0"/>
                        </a:rPr>
                        <a:t>to</a:t>
                      </a:r>
                      <a:r>
                        <a:rPr lang="en-US" sz="750" b="0" i="0" u="none" strike="noStrike" dirty="0">
                          <a:solidFill>
                            <a:srgbClr val="000000"/>
                          </a:solidFill>
                          <a:effectLst/>
                          <a:latin typeface="Calibri" panose="020F0502020204030204" pitchFamily="34" charset="0"/>
                        </a:rPr>
                        <a:t> AUX off the train.</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20:06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Train AUX off</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20:10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Train AUX ON &amp; motoring is possible in RM so departed train from KUR DN. </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20:15 </a:t>
                      </a:r>
                      <a:r>
                        <a:rPr lang="en-US" sz="750" b="0" i="0" u="none" strike="noStrike" dirty="0" err="1">
                          <a:solidFill>
                            <a:srgbClr val="000000"/>
                          </a:solidFill>
                          <a:effectLst/>
                          <a:latin typeface="Calibri" panose="020F0502020204030204" pitchFamily="34" charset="0"/>
                        </a:rPr>
                        <a:t>Hrs</a:t>
                      </a:r>
                      <a:r>
                        <a:rPr lang="en-US" sz="750" b="0" i="0" u="none" strike="noStrike" dirty="0">
                          <a:solidFill>
                            <a:srgbClr val="000000"/>
                          </a:solidFill>
                          <a:effectLst/>
                          <a:latin typeface="Calibri" panose="020F0502020204030204" pitchFamily="34" charset="0"/>
                        </a:rPr>
                        <a:t>: TO reported ATP available so departed that train in ATP. </a:t>
                      </a:r>
                      <a:br>
                        <a:rPr lang="en-US" sz="750" b="0" i="0" u="none" strike="noStrike" dirty="0">
                          <a:solidFill>
                            <a:srgbClr val="000000"/>
                          </a:solidFill>
                          <a:effectLst/>
                          <a:latin typeface="Calibri" panose="020F0502020204030204" pitchFamily="34" charset="0"/>
                        </a:rPr>
                      </a:br>
                      <a:r>
                        <a:rPr lang="en-US" sz="750" b="0" i="0" u="none" strike="noStrike" dirty="0">
                          <a:solidFill>
                            <a:srgbClr val="000000"/>
                          </a:solidFill>
                          <a:effectLst/>
                          <a:latin typeface="Calibri" panose="020F0502020204030204" pitchFamily="34" charset="0"/>
                        </a:rPr>
                        <a:t>Instructed TO </a:t>
                      </a:r>
                      <a:r>
                        <a:rPr lang="en-US" sz="750" b="0" i="0" u="none" strike="noStrike" dirty="0" err="1">
                          <a:solidFill>
                            <a:srgbClr val="000000"/>
                          </a:solidFill>
                          <a:effectLst/>
                          <a:latin typeface="Calibri" panose="020F0502020204030204" pitchFamily="34" charset="0"/>
                        </a:rPr>
                        <a:t>to</a:t>
                      </a:r>
                      <a:r>
                        <a:rPr lang="en-US" sz="750" b="0" i="0" u="none" strike="noStrike" dirty="0">
                          <a:solidFill>
                            <a:srgbClr val="000000"/>
                          </a:solidFill>
                          <a:effectLst/>
                          <a:latin typeface="Calibri" panose="020F0502020204030204" pitchFamily="34" charset="0"/>
                        </a:rPr>
                        <a:t> skip all station till DAH as per skip procedure.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50" b="1" i="0" u="none" strike="noStrike" dirty="0">
                          <a:solidFill>
                            <a:srgbClr val="000000"/>
                          </a:solidFill>
                          <a:effectLst/>
                          <a:latin typeface="Arial" panose="020B0604020202020204" pitchFamily="34" charset="0"/>
                        </a:rPr>
                        <a:t>As per ER data:</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DM1 cab was activated at 19:31:26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for movement in DN Line. </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19:41:01.088 (at Train speed 54.4 kmph) all signals in DM1 car RIO1 YDA1 and YDA2 status along with YGA status was unknown for 500 </a:t>
                      </a:r>
                      <a:r>
                        <a:rPr lang="en-US" sz="750" b="0" i="0" u="none" strike="noStrike" dirty="0" err="1">
                          <a:solidFill>
                            <a:srgbClr val="000000"/>
                          </a:solidFill>
                          <a:effectLst/>
                          <a:latin typeface="Arial" panose="020B0604020202020204" pitchFamily="34" charset="0"/>
                        </a:rPr>
                        <a:t>millisecs</a:t>
                      </a:r>
                      <a:r>
                        <a:rPr lang="en-US" sz="750" b="0" i="0" u="none" strike="noStrike" dirty="0">
                          <a:solidFill>
                            <a:srgbClr val="000000"/>
                          </a:solidFill>
                          <a:effectLst/>
                          <a:latin typeface="Arial" panose="020B0604020202020204" pitchFamily="34" charset="0"/>
                        </a:rPr>
                        <a:t> and got normal at 19:41:01.688 </a:t>
                      </a:r>
                      <a:r>
                        <a:rPr lang="en-US" sz="750" b="0" i="0" u="none" strike="noStrike" dirty="0" err="1">
                          <a:solidFill>
                            <a:srgbClr val="000000"/>
                          </a:solidFill>
                          <a:effectLst/>
                          <a:latin typeface="Arial" panose="020B0604020202020204" pitchFamily="34" charset="0"/>
                        </a:rPr>
                        <a:t>millisecs</a:t>
                      </a:r>
                      <a:r>
                        <a:rPr lang="en-US" sz="750" b="0" i="0" u="none" strike="noStrike" dirty="0">
                          <a:solidFill>
                            <a:srgbClr val="000000"/>
                          </a:solidFill>
                          <a:effectLst/>
                          <a:latin typeface="Arial" panose="020B0604020202020204" pitchFamily="34" charset="0"/>
                        </a:rPr>
                        <a:t>.</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Due to above following signals got unknown on ER data for 500 </a:t>
                      </a:r>
                      <a:r>
                        <a:rPr lang="en-US" sz="750" b="0" i="0" u="none" strike="noStrike" dirty="0" err="1">
                          <a:solidFill>
                            <a:srgbClr val="000000"/>
                          </a:solidFill>
                          <a:effectLst/>
                          <a:latin typeface="Arial" panose="020B0604020202020204" pitchFamily="34" charset="0"/>
                        </a:rPr>
                        <a:t>millisecs</a:t>
                      </a:r>
                      <a:r>
                        <a:rPr lang="en-US" sz="750" b="0" i="0" u="none" strike="noStrike" dirty="0">
                          <a:solidFill>
                            <a:srgbClr val="000000"/>
                          </a:solidFill>
                          <a:effectLst/>
                          <a:latin typeface="Arial" panose="020B0604020202020204" pitchFamily="34" charset="0"/>
                        </a:rPr>
                        <a:t>:</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1.Mode Selector position(OFF/REV/STANDBY/FWD/ATP/ATO)</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2.Door Open PB status</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3.Key switch ON Relay status</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4.Powering and Braking T/L, EBVR, DPR,DPLCOS etc.</a:t>
                      </a:r>
                      <a:br>
                        <a:rPr lang="en-US" sz="750" b="0" i="0" u="none" strike="noStrike" dirty="0">
                          <a:solidFill>
                            <a:srgbClr val="000000"/>
                          </a:solidFill>
                          <a:effectLst/>
                          <a:latin typeface="Arial" panose="020B0604020202020204" pitchFamily="34" charset="0"/>
                        </a:rPr>
                      </a:b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During above time all YDA1 and YDA2 and YGA signals in RIO2 was normal.</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19:41:01.088 when above status got unknown EB command was applied by TCMS (</a:t>
                      </a:r>
                      <a:r>
                        <a:rPr lang="en-US" sz="750" b="0" i="0" u="none" strike="noStrike" dirty="0" err="1">
                          <a:solidFill>
                            <a:srgbClr val="000000"/>
                          </a:solidFill>
                          <a:effectLst/>
                          <a:latin typeface="Arial" panose="020B0604020202020204" pitchFamily="34" charset="0"/>
                        </a:rPr>
                        <a:t>ConTFCS</a:t>
                      </a:r>
                      <a:r>
                        <a:rPr lang="en-US" sz="750" b="0" i="0" u="none" strike="noStrike" dirty="0">
                          <a:solidFill>
                            <a:srgbClr val="000000"/>
                          </a:solidFill>
                          <a:effectLst/>
                          <a:latin typeface="Arial" panose="020B0604020202020204" pitchFamily="34" charset="0"/>
                        </a:rPr>
                        <a:t> signal changed to 6) although EBVR was energized.</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Due to TCMS EB command Train speed started to decrease and Train stopped at 19:41.17 hrs.</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As per MDCU data at 19:42:25.950 “KSONR and KOFFR not energized and Key inserted in DM1” message appeared and cleared at 19:44:50.550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although Key switch was ON and KSONR was energized. After this TO deactivated and again activated Cab twice but EB by TCMS was not released.</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As per Mainline reporting at 19:57:22 Train movement was possible by pressing Limp Home PB (at this time also TCMS was giving EB command as per data).</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20:00:37.888 Train stopped at KUR DN and Doors were opened at 20:01:50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(TDCLR dropped to 0) and was not energized although TO tried Door closing through PB.</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20:05:56 Trains was made AUX OFF and AUX ON.</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TDCLR was energized at 20:12:23.564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and EB was released.</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After this movement was possible normally in TCMS mode. </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 </a:t>
                      </a:r>
                      <a:r>
                        <a:rPr lang="en-US" sz="750" b="1" i="0" u="none" strike="noStrike" dirty="0">
                          <a:solidFill>
                            <a:srgbClr val="000000"/>
                          </a:solidFill>
                          <a:effectLst/>
                          <a:latin typeface="Arial" panose="020B0604020202020204" pitchFamily="34" charset="0"/>
                        </a:rPr>
                        <a:t>Depot Action:- </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Motoring from DM1 side  we check motoring from both side found normal also during multiple times operation of Key switch ON &amp; OFF found ok.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1" i="0" u="none" strike="noStrike" dirty="0">
                          <a:solidFill>
                            <a:srgbClr val="000000"/>
                          </a:solidFill>
                          <a:effectLst/>
                          <a:latin typeface="Calibri" panose="020F0502020204030204" pitchFamily="34" charset="0"/>
                        </a:rPr>
                        <a:t>Hitachi will address this issue in new platform level software, which is already uploaded in TS#21.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23943"/>
                  </a:ext>
                </a:extLst>
              </a:tr>
              <a:tr h="2596259">
                <a:tc>
                  <a:txBody>
                    <a:bodyPr/>
                    <a:lstStyle/>
                    <a:p>
                      <a:pPr algn="ctr" fontAlgn="ctr"/>
                      <a:r>
                        <a:rPr lang="en-US" sz="750" b="1" i="0" u="none" strike="noStrike">
                          <a:solidFill>
                            <a:srgbClr val="000000"/>
                          </a:solidFill>
                          <a:effectLst/>
                          <a:latin typeface="Arial" panose="020B0604020202020204" pitchFamily="34" charset="0"/>
                        </a:rPr>
                        <a:t>Withdrawl</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750" b="0" i="0" u="none" strike="noStrike">
                          <a:solidFill>
                            <a:srgbClr val="000000"/>
                          </a:solidFill>
                          <a:effectLst/>
                          <a:latin typeface="Calibri" panose="020F0502020204030204" pitchFamily="34" charset="0"/>
                        </a:rPr>
                        <a:t>12.11.2022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750" b="0" i="0" u="none" strike="noStrike">
                          <a:solidFill>
                            <a:srgbClr val="000000"/>
                          </a:solidFill>
                          <a:effectLst/>
                          <a:latin typeface="Arial" panose="020B0604020202020204" pitchFamily="34" charset="0"/>
                        </a:rPr>
                        <a:t>TS#15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750" b="0" i="0" u="none" strike="noStrike">
                          <a:solidFill>
                            <a:srgbClr val="000000"/>
                          </a:solidFill>
                          <a:effectLst/>
                          <a:latin typeface="Arial" panose="020B0604020202020204" pitchFamily="34" charset="0"/>
                        </a:rPr>
                        <a:t>DM1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750" b="0" i="0" u="none" strike="noStrike">
                          <a:solidFill>
                            <a:srgbClr val="000000"/>
                          </a:solidFill>
                          <a:effectLst/>
                          <a:latin typeface="Arial" panose="020B0604020202020204" pitchFamily="34" charset="0"/>
                        </a:rPr>
                        <a:t>TCMS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750" b="0" i="0" u="none" strike="noStrike">
                          <a:solidFill>
                            <a:srgbClr val="000000"/>
                          </a:solidFill>
                          <a:effectLst/>
                          <a:latin typeface="Arial" panose="020B0604020202020204" pitchFamily="34" charset="0"/>
                        </a:rPr>
                        <a:t>Desk command (motor -brk) minor fault DM1</a:t>
                      </a:r>
                      <a:br>
                        <a:rPr lang="en-US" sz="750" b="0" i="0" u="none" strike="noStrike">
                          <a:solidFill>
                            <a:srgbClr val="000000"/>
                          </a:solidFill>
                          <a:effectLst/>
                          <a:latin typeface="Arial" panose="020B0604020202020204" pitchFamily="34" charset="0"/>
                        </a:rPr>
                      </a:br>
                      <a:r>
                        <a:rPr lang="en-US" sz="750" b="0" i="0" u="none" strike="noStrike">
                          <a:solidFill>
                            <a:srgbClr val="000000"/>
                          </a:solidFill>
                          <a:effectLst/>
                          <a:latin typeface="Arial" panose="020B0604020202020204" pitchFamily="34" charset="0"/>
                        </a:rPr>
                        <a:t>(VCB opened T2 car and motors in DM1 &amp; M3 CAR  showing Faulty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750" b="0" i="0" u="none" strike="noStrike" dirty="0">
                          <a:solidFill>
                            <a:srgbClr val="000000"/>
                          </a:solidFill>
                          <a:effectLst/>
                          <a:latin typeface="Arial" panose="020B0604020202020204" pitchFamily="34" charset="0"/>
                        </a:rPr>
                        <a:t>VCB not getting closed through TCMS command .physically both VCB open/close command given then both VCB closed at AAR DN PF</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Again the  same fault appeared at neutral section between OVA DN- DAE DN ,VCB (T2  car) was not getting closed till DAE DN PF further physically VCB open/close command given then both VCB got closed and motors got healthy .further same fault logged at BOW DN-PAE DN this time VCB is not getting closed by any way hence train run to DAH 3rd with single VCB closed.</a:t>
                      </a:r>
                      <a:br>
                        <a:rPr lang="en-US" sz="750" b="0" i="0" u="none" strike="noStrike" dirty="0">
                          <a:solidFill>
                            <a:srgbClr val="000000"/>
                          </a:solidFill>
                          <a:effectLst/>
                          <a:latin typeface="Arial" panose="020B0604020202020204" pitchFamily="34" charset="0"/>
                        </a:rPr>
                      </a:br>
                      <a:endParaRPr lang="en-US" sz="75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750" b="1" i="0" u="none" strike="noStrike" dirty="0">
                          <a:solidFill>
                            <a:srgbClr val="000000"/>
                          </a:solidFill>
                          <a:effectLst/>
                          <a:latin typeface="Arial" panose="020B0604020202020204" pitchFamily="34" charset="0"/>
                        </a:rPr>
                        <a:t>As per MDCU &amp; ER data:</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As per data it is observed that, at 13:20:59.989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Train started moving in ATP mode from OVA DN Pf. </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Due to neutral section (between OVA-DN- DAE DN) T2 car </a:t>
                      </a:r>
                      <a:r>
                        <a:rPr lang="en-US" sz="750" b="0" i="0" u="none" strike="noStrike" dirty="0" err="1">
                          <a:solidFill>
                            <a:srgbClr val="000000"/>
                          </a:solidFill>
                          <a:effectLst/>
                          <a:latin typeface="Arial" panose="020B0604020202020204" pitchFamily="34" charset="0"/>
                        </a:rPr>
                        <a:t>TCMS_VCB_Open</a:t>
                      </a:r>
                      <a:r>
                        <a:rPr lang="en-US" sz="750" b="0" i="0" u="none" strike="noStrike" dirty="0">
                          <a:solidFill>
                            <a:srgbClr val="000000"/>
                          </a:solidFill>
                          <a:effectLst/>
                          <a:latin typeface="Arial" panose="020B0604020202020204" pitchFamily="34" charset="0"/>
                        </a:rPr>
                        <a:t>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high at 13:21:32.089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and VCB got open at 13:21:32.289. ACVR_STS become “zero” at 13:21:33.789 hrs.</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After neutral section at 13:21:35.489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T2 car VCB close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from TCMS was high, but VCB was not getting close. (VCB_STS becomes high for 100 </a:t>
                      </a:r>
                      <a:r>
                        <a:rPr lang="en-US" sz="750" b="0" i="0" u="none" strike="noStrike" dirty="0" err="1">
                          <a:solidFill>
                            <a:srgbClr val="000000"/>
                          </a:solidFill>
                          <a:effectLst/>
                          <a:latin typeface="Arial" panose="020B0604020202020204" pitchFamily="34" charset="0"/>
                        </a:rPr>
                        <a:t>ms</a:t>
                      </a:r>
                      <a:r>
                        <a:rPr lang="en-US" sz="750" b="0" i="0" u="none" strike="noStrike" dirty="0">
                          <a:solidFill>
                            <a:srgbClr val="000000"/>
                          </a:solidFill>
                          <a:effectLst/>
                          <a:latin typeface="Arial" panose="020B0604020202020204" pitchFamily="34" charset="0"/>
                        </a:rPr>
                        <a:t>)</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Further at 13:22:43.189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TO tried to close T2 car VCB from TCMS VDU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but still VCB was not getting close. Due to 02 times operations of VCB within 03 mins, “</a:t>
                      </a:r>
                      <a:r>
                        <a:rPr lang="en-US" sz="750" b="0" i="0" u="none" strike="noStrike" dirty="0" err="1">
                          <a:solidFill>
                            <a:srgbClr val="000000"/>
                          </a:solidFill>
                          <a:effectLst/>
                          <a:latin typeface="Arial" panose="020B0604020202020204" pitchFamily="34" charset="0"/>
                        </a:rPr>
                        <a:t>CI:Discharge</a:t>
                      </a:r>
                      <a:r>
                        <a:rPr lang="en-US" sz="750" b="0" i="0" u="none" strike="noStrike" dirty="0">
                          <a:solidFill>
                            <a:srgbClr val="000000"/>
                          </a:solidFill>
                          <a:effectLst/>
                          <a:latin typeface="Arial" panose="020B0604020202020204" pitchFamily="34" charset="0"/>
                        </a:rPr>
                        <a:t> system overheat in DM1/M3” were logged in MDCU data.</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From 13:22:50.689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to 13:26:27.989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TO tried several times to close T2 car VCB from TCMS VDU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as well as VCB push button, but still same issue persist.</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13:30:07.189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TO again tried to close T2 car VCB from TCMS VDU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VCB get close and coach working normal. </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At 13:39:34.689 </a:t>
                      </a:r>
                      <a:r>
                        <a:rPr lang="en-US" sz="750" b="0" i="0" u="none" strike="noStrike" dirty="0" err="1">
                          <a:solidFill>
                            <a:srgbClr val="000000"/>
                          </a:solidFill>
                          <a:effectLst/>
                          <a:latin typeface="Arial" panose="020B0604020202020204" pitchFamily="34" charset="0"/>
                        </a:rPr>
                        <a:t>hrs</a:t>
                      </a:r>
                      <a:r>
                        <a:rPr lang="en-US" sz="750" b="0" i="0" u="none" strike="noStrike" dirty="0">
                          <a:solidFill>
                            <a:srgbClr val="000000"/>
                          </a:solidFill>
                          <a:effectLst/>
                          <a:latin typeface="Arial" panose="020B0604020202020204" pitchFamily="34" charset="0"/>
                        </a:rPr>
                        <a:t> between BOW DN -PAE DN neutral section T2 car VCB got open through TCMS open cmd. After NS VCB close command high at 13:39:37.489, but VCB was not getting close. Further TO tried to close the VCB from TCMS VDU </a:t>
                      </a:r>
                      <a:r>
                        <a:rPr lang="en-US" sz="750" b="0" i="0" u="none" strike="noStrike" dirty="0" err="1">
                          <a:solidFill>
                            <a:srgbClr val="000000"/>
                          </a:solidFill>
                          <a:effectLst/>
                          <a:latin typeface="Arial" panose="020B0604020202020204" pitchFamily="34" charset="0"/>
                        </a:rPr>
                        <a:t>cmd</a:t>
                      </a:r>
                      <a:r>
                        <a:rPr lang="en-US" sz="750" b="0" i="0" u="none" strike="noStrike" dirty="0">
                          <a:solidFill>
                            <a:srgbClr val="000000"/>
                          </a:solidFill>
                          <a:effectLst/>
                          <a:latin typeface="Arial" panose="020B0604020202020204" pitchFamily="34" charset="0"/>
                        </a:rPr>
                        <a:t> as well as VCB push button, but still same issue persist.</a:t>
                      </a:r>
                      <a:br>
                        <a:rPr lang="en-US" sz="750" b="0" i="0" u="none" strike="noStrike" dirty="0">
                          <a:solidFill>
                            <a:srgbClr val="000000"/>
                          </a:solidFill>
                          <a:effectLst/>
                          <a:latin typeface="Arial" panose="020B0604020202020204" pitchFamily="34" charset="0"/>
                        </a:rPr>
                      </a:br>
                      <a:r>
                        <a:rPr lang="en-US" sz="750" b="1" i="0" u="none" strike="noStrike" dirty="0">
                          <a:solidFill>
                            <a:srgbClr val="000000"/>
                          </a:solidFill>
                          <a:effectLst/>
                          <a:latin typeface="Arial" panose="020B0604020202020204" pitchFamily="34" charset="0"/>
                        </a:rPr>
                        <a:t>Depot Action:</a:t>
                      </a:r>
                      <a:br>
                        <a:rPr lang="en-US" sz="750" b="0" i="0" u="none" strike="noStrike" dirty="0">
                          <a:solidFill>
                            <a:srgbClr val="000000"/>
                          </a:solidFill>
                          <a:effectLst/>
                          <a:latin typeface="Arial" panose="020B0604020202020204" pitchFamily="34" charset="0"/>
                        </a:rPr>
                      </a:br>
                      <a:r>
                        <a:rPr lang="en-US" sz="750" b="0" i="0" u="none" strike="noStrike" dirty="0">
                          <a:solidFill>
                            <a:srgbClr val="000000"/>
                          </a:solidFill>
                          <a:effectLst/>
                          <a:latin typeface="Arial" panose="020B0604020202020204" pitchFamily="34" charset="0"/>
                        </a:rPr>
                        <a:t>In depot we checked CI data, after analyzing data multiple times, VCB close command given within short duration of time, hence in unit 1 all motors showing faulty and VCB not getting closed, and observed that T2 car VCB pressure found low (i.e. 4.8 bar). Further Hitachi checked VCB box found Air leakage through PRV (pressure Relief Valve). For the same PRV regulator kit has been replaced and VCB pressure regulator setting set to 6.2 bar. VCB manual open/close operation checked for multiple times found normal.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000" b="1" i="0" u="none" strike="noStrike" dirty="0">
                          <a:solidFill>
                            <a:srgbClr val="000000"/>
                          </a:solidFill>
                          <a:effectLst/>
                          <a:latin typeface="Calibri" panose="020F0502020204030204" pitchFamily="34" charset="0"/>
                        </a:rPr>
                        <a:t>1) To address this issue HECP has been proposed by M/s Hitachi.</a:t>
                      </a:r>
                      <a:br>
                        <a:rPr lang="en-US" sz="1000" b="1" i="0" u="none" strike="noStrike" dirty="0">
                          <a:solidFill>
                            <a:srgbClr val="000000"/>
                          </a:solidFill>
                          <a:effectLst/>
                          <a:latin typeface="Calibri" panose="020F0502020204030204" pitchFamily="34" charset="0"/>
                        </a:rPr>
                      </a:br>
                      <a:br>
                        <a:rPr lang="en-US" sz="1000" b="1" i="0" u="none" strike="noStrike" dirty="0">
                          <a:solidFill>
                            <a:srgbClr val="000000"/>
                          </a:solidFill>
                          <a:effectLst/>
                          <a:latin typeface="Calibri" panose="020F0502020204030204" pitchFamily="34" charset="0"/>
                        </a:rPr>
                      </a:br>
                      <a:br>
                        <a:rPr lang="en-US" sz="1000" b="1" i="0" u="none" strike="noStrike" dirty="0">
                          <a:solidFill>
                            <a:srgbClr val="000000"/>
                          </a:solidFill>
                          <a:effectLst/>
                          <a:latin typeface="Calibri" panose="020F0502020204030204" pitchFamily="34" charset="0"/>
                        </a:rPr>
                      </a:br>
                      <a:r>
                        <a:rPr lang="en-US" sz="1000" b="1" i="0" u="none" strike="noStrike" dirty="0">
                          <a:solidFill>
                            <a:srgbClr val="000000"/>
                          </a:solidFill>
                          <a:effectLst/>
                          <a:latin typeface="Calibri" panose="020F0502020204030204" pitchFamily="34" charset="0"/>
                        </a:rPr>
                        <a:t>2) As decided M/s Hitachi will install 5 </a:t>
                      </a:r>
                      <a:r>
                        <a:rPr lang="en-US" sz="1000" b="1" i="0" u="none" strike="noStrike" dirty="0" err="1">
                          <a:solidFill>
                            <a:srgbClr val="000000"/>
                          </a:solidFill>
                          <a:effectLst/>
                          <a:latin typeface="Calibri" panose="020F0502020204030204" pitchFamily="34" charset="0"/>
                        </a:rPr>
                        <a:t>nos</a:t>
                      </a:r>
                      <a:r>
                        <a:rPr lang="en-US" sz="1000" b="1" i="0" u="none" strike="noStrike" dirty="0">
                          <a:solidFill>
                            <a:srgbClr val="000000"/>
                          </a:solidFill>
                          <a:effectLst/>
                          <a:latin typeface="Calibri" panose="020F0502020204030204" pitchFamily="34" charset="0"/>
                        </a:rPr>
                        <a:t> </a:t>
                      </a:r>
                      <a:r>
                        <a:rPr lang="en-US" sz="1000" b="1" i="0" u="none" strike="noStrike" dirty="0" err="1">
                          <a:solidFill>
                            <a:srgbClr val="000000"/>
                          </a:solidFill>
                          <a:effectLst/>
                          <a:latin typeface="Calibri" panose="020F0502020204030204" pitchFamily="34" charset="0"/>
                        </a:rPr>
                        <a:t>Shavo</a:t>
                      </a:r>
                      <a:r>
                        <a:rPr lang="en-US" sz="1000" b="1" i="0" u="none" strike="noStrike" dirty="0">
                          <a:solidFill>
                            <a:srgbClr val="000000"/>
                          </a:solidFill>
                          <a:effectLst/>
                          <a:latin typeface="Calibri" panose="020F0502020204030204" pitchFamily="34" charset="0"/>
                        </a:rPr>
                        <a:t> make PRV on trial basis.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5425070"/>
                  </a:ext>
                </a:extLst>
              </a:tr>
            </a:tbl>
          </a:graphicData>
        </a:graphic>
      </p:graphicFrame>
    </p:spTree>
    <p:extLst>
      <p:ext uri="{BB962C8B-B14F-4D97-AF65-F5344CB8AC3E}">
        <p14:creationId xmlns:p14="http://schemas.microsoft.com/office/powerpoint/2010/main" val="94178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6449B4-5A86-4906-81CF-D9ED902EB089}"/>
              </a:ext>
            </a:extLst>
          </p:cNvPr>
          <p:cNvSpPr>
            <a:spLocks noGrp="1"/>
          </p:cNvSpPr>
          <p:nvPr>
            <p:ph type="sldNum" sz="quarter" idx="12"/>
          </p:nvPr>
        </p:nvSpPr>
        <p:spPr/>
        <p:txBody>
          <a:bodyPr/>
          <a:lstStyle/>
          <a:p>
            <a:fld id="{DE900A00-3DA3-40D9-8627-F4EC14C25FEF}" type="slidenum">
              <a:rPr lang="en-US" smtClean="0"/>
              <a:t>7</a:t>
            </a:fld>
            <a:endParaRPr lang="en-US"/>
          </a:p>
        </p:txBody>
      </p:sp>
      <p:sp>
        <p:nvSpPr>
          <p:cNvPr id="3" name="Rectangle 2">
            <a:extLst>
              <a:ext uri="{FF2B5EF4-FFF2-40B4-BE49-F238E27FC236}">
                <a16:creationId xmlns:a16="http://schemas.microsoft.com/office/drawing/2014/main" id="{59C60AEC-EDD8-408D-8FEF-5CC3AC774245}"/>
              </a:ext>
            </a:extLst>
          </p:cNvPr>
          <p:cNvSpPr txBox="1">
            <a:spLocks/>
          </p:cNvSpPr>
          <p:nvPr/>
        </p:nvSpPr>
        <p:spPr>
          <a:xfrm>
            <a:off x="612558" y="228600"/>
            <a:ext cx="11008311" cy="499625"/>
          </a:xfrm>
          <a:prstGeom prst="rect">
            <a:avLst/>
          </a:prstGeom>
          <a:solidFill>
            <a:schemeClr val="tx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ko-KR" sz="2400">
                <a:solidFill>
                  <a:schemeClr val="bg1"/>
                </a:solidFill>
                <a:latin typeface="Algerian" pitchFamily="82" charset="0"/>
                <a:ea typeface="Gulim" pitchFamily="34" charset="-127"/>
              </a:rPr>
              <a:t>                    3) service Failure Detail and Action Plan</a:t>
            </a:r>
            <a:endParaRPr lang="en-US" altLang="ko-KR" sz="2400" dirty="0">
              <a:solidFill>
                <a:schemeClr val="bg1"/>
              </a:solidFill>
              <a:latin typeface="Algerian" pitchFamily="82" charset="0"/>
              <a:ea typeface="Gulim" pitchFamily="34" charset="-127"/>
            </a:endParaRPr>
          </a:p>
        </p:txBody>
      </p:sp>
      <p:graphicFrame>
        <p:nvGraphicFramePr>
          <p:cNvPr id="9" name="Table 8">
            <a:extLst>
              <a:ext uri="{FF2B5EF4-FFF2-40B4-BE49-F238E27FC236}">
                <a16:creationId xmlns:a16="http://schemas.microsoft.com/office/drawing/2014/main" id="{9FC0E3EA-3B03-460E-9C9A-B8D4A1430E00}"/>
              </a:ext>
            </a:extLst>
          </p:cNvPr>
          <p:cNvGraphicFramePr>
            <a:graphicFrameLocks noGrp="1"/>
          </p:cNvGraphicFramePr>
          <p:nvPr>
            <p:extLst>
              <p:ext uri="{D42A27DB-BD31-4B8C-83A1-F6EECF244321}">
                <p14:modId xmlns:p14="http://schemas.microsoft.com/office/powerpoint/2010/main" val="801832170"/>
              </p:ext>
            </p:extLst>
          </p:nvPr>
        </p:nvGraphicFramePr>
        <p:xfrm>
          <a:off x="612558" y="742950"/>
          <a:ext cx="11008311" cy="5613400"/>
        </p:xfrm>
        <a:graphic>
          <a:graphicData uri="http://schemas.openxmlformats.org/drawingml/2006/table">
            <a:tbl>
              <a:tblPr/>
              <a:tblGrid>
                <a:gridCol w="566255">
                  <a:extLst>
                    <a:ext uri="{9D8B030D-6E8A-4147-A177-3AD203B41FA5}">
                      <a16:colId xmlns:a16="http://schemas.microsoft.com/office/drawing/2014/main" val="3815726676"/>
                    </a:ext>
                  </a:extLst>
                </a:gridCol>
                <a:gridCol w="472699">
                  <a:extLst>
                    <a:ext uri="{9D8B030D-6E8A-4147-A177-3AD203B41FA5}">
                      <a16:colId xmlns:a16="http://schemas.microsoft.com/office/drawing/2014/main" val="3662801003"/>
                    </a:ext>
                  </a:extLst>
                </a:gridCol>
                <a:gridCol w="315132">
                  <a:extLst>
                    <a:ext uri="{9D8B030D-6E8A-4147-A177-3AD203B41FA5}">
                      <a16:colId xmlns:a16="http://schemas.microsoft.com/office/drawing/2014/main" val="2908041766"/>
                    </a:ext>
                  </a:extLst>
                </a:gridCol>
                <a:gridCol w="315132">
                  <a:extLst>
                    <a:ext uri="{9D8B030D-6E8A-4147-A177-3AD203B41FA5}">
                      <a16:colId xmlns:a16="http://schemas.microsoft.com/office/drawing/2014/main" val="3832646961"/>
                    </a:ext>
                  </a:extLst>
                </a:gridCol>
                <a:gridCol w="354524">
                  <a:extLst>
                    <a:ext uri="{9D8B030D-6E8A-4147-A177-3AD203B41FA5}">
                      <a16:colId xmlns:a16="http://schemas.microsoft.com/office/drawing/2014/main" val="2647410060"/>
                    </a:ext>
                  </a:extLst>
                </a:gridCol>
                <a:gridCol w="866615">
                  <a:extLst>
                    <a:ext uri="{9D8B030D-6E8A-4147-A177-3AD203B41FA5}">
                      <a16:colId xmlns:a16="http://schemas.microsoft.com/office/drawing/2014/main" val="3285358980"/>
                    </a:ext>
                  </a:extLst>
                </a:gridCol>
                <a:gridCol w="2654009">
                  <a:extLst>
                    <a:ext uri="{9D8B030D-6E8A-4147-A177-3AD203B41FA5}">
                      <a16:colId xmlns:a16="http://schemas.microsoft.com/office/drawing/2014/main" val="2062803168"/>
                    </a:ext>
                  </a:extLst>
                </a:gridCol>
                <a:gridCol w="3963620">
                  <a:extLst>
                    <a:ext uri="{9D8B030D-6E8A-4147-A177-3AD203B41FA5}">
                      <a16:colId xmlns:a16="http://schemas.microsoft.com/office/drawing/2014/main" val="2232406364"/>
                    </a:ext>
                  </a:extLst>
                </a:gridCol>
                <a:gridCol w="1500325">
                  <a:extLst>
                    <a:ext uri="{9D8B030D-6E8A-4147-A177-3AD203B41FA5}">
                      <a16:colId xmlns:a16="http://schemas.microsoft.com/office/drawing/2014/main" val="3468250468"/>
                    </a:ext>
                  </a:extLst>
                </a:gridCol>
              </a:tblGrid>
              <a:tr h="489541">
                <a:tc>
                  <a:txBody>
                    <a:bodyPr/>
                    <a:lstStyle/>
                    <a:p>
                      <a:pPr algn="ctr" fontAlgn="ctr"/>
                      <a:r>
                        <a:rPr lang="en-US" sz="800" b="1" i="0" u="none" strike="noStrike" dirty="0">
                          <a:solidFill>
                            <a:srgbClr val="000000"/>
                          </a:solidFill>
                          <a:effectLst/>
                          <a:latin typeface="Arial" panose="020B0604020202020204" pitchFamily="34" charset="0"/>
                        </a:rPr>
                        <a:t>SERVICE FAILURE  TYPE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FAILURE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CAR 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FAULT DESCRIPTION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MAIN LINE ACTION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DEPOT 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800" b="1" i="0" u="none" strike="noStrike">
                          <a:solidFill>
                            <a:srgbClr val="000000"/>
                          </a:solidFill>
                          <a:effectLst/>
                          <a:latin typeface="Arial" panose="020B0604020202020204" pitchFamily="34" charset="0"/>
                        </a:rPr>
                        <a:t>PLAN TO ADDRESS ISSUE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960738070"/>
                  </a:ext>
                </a:extLst>
              </a:tr>
              <a:tr h="1533895">
                <a:tc>
                  <a:txBody>
                    <a:bodyPr/>
                    <a:lstStyle/>
                    <a:p>
                      <a:pPr algn="ctr" fontAlgn="ctr"/>
                      <a:r>
                        <a:rPr lang="en-US" sz="800" b="1" i="0" u="none" strike="noStrike" dirty="0" err="1">
                          <a:solidFill>
                            <a:srgbClr val="000000"/>
                          </a:solidFill>
                          <a:effectLst/>
                          <a:latin typeface="Calibri" panose="020F0502020204030204" pitchFamily="34" charset="0"/>
                        </a:rPr>
                        <a:t>Withdrawl</a:t>
                      </a:r>
                      <a:endParaRPr lang="en-US" sz="8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12.11.2022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TS#02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DM6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Door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dirty="0">
                          <a:solidFill>
                            <a:srgbClr val="000000"/>
                          </a:solidFill>
                          <a:effectLst/>
                          <a:latin typeface="Arial" panose="020B0604020202020204" pitchFamily="34" charset="0"/>
                        </a:rPr>
                        <a:t>DM6 partition door not closing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dirty="0">
                          <a:solidFill>
                            <a:srgbClr val="000000"/>
                          </a:solidFill>
                          <a:effectLst/>
                          <a:latin typeface="Arial" panose="020B0604020202020204" pitchFamily="34" charset="0"/>
                        </a:rPr>
                        <a:t>On primary investigation MA latch lock found faulty ,Which need to replace from spare.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Arial" panose="020B0604020202020204" pitchFamily="34" charset="0"/>
                        </a:rPr>
                        <a:t>In Depot investigation MA latch lock spring found broken.same has been replaced from spare .Further door lock operation found ok.</a:t>
                      </a:r>
                      <a:br>
                        <a:rPr lang="en-US" sz="800" b="0" i="0" u="none" strike="noStrike">
                          <a:solidFill>
                            <a:srgbClr val="000000"/>
                          </a:solidFill>
                          <a:effectLst/>
                          <a:latin typeface="Arial" panose="020B0604020202020204" pitchFamily="34" charset="0"/>
                        </a:rPr>
                      </a:br>
                      <a:endParaRPr lang="en-US" sz="800" b="0" i="0" u="none" strike="noStrike">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1" i="0" u="none" strike="noStrike" dirty="0">
                          <a:solidFill>
                            <a:srgbClr val="000000"/>
                          </a:solidFill>
                          <a:effectLst/>
                          <a:latin typeface="Calibri" panose="020F0502020204030204" pitchFamily="34" charset="0"/>
                        </a:rPr>
                        <a:t>1.M/s </a:t>
                      </a:r>
                      <a:r>
                        <a:rPr lang="en-US" sz="1000" b="1" i="0" u="none" strike="noStrike" dirty="0" err="1">
                          <a:solidFill>
                            <a:srgbClr val="000000"/>
                          </a:solidFill>
                          <a:effectLst/>
                          <a:latin typeface="Calibri" panose="020F0502020204030204" pitchFamily="34" charset="0"/>
                        </a:rPr>
                        <a:t>Saira</a:t>
                      </a:r>
                      <a:r>
                        <a:rPr lang="en-US" sz="1000" b="1" i="0" u="none" strike="noStrike" dirty="0">
                          <a:solidFill>
                            <a:srgbClr val="000000"/>
                          </a:solidFill>
                          <a:effectLst/>
                          <a:latin typeface="Calibri" panose="020F0502020204030204" pitchFamily="34" charset="0"/>
                        </a:rPr>
                        <a:t> performing lock duty cycle test for spring and operation of both master and emergency leaf . </a:t>
                      </a:r>
                      <a:br>
                        <a:rPr lang="en-US" sz="1000" b="1" i="0" u="none" strike="noStrike" dirty="0">
                          <a:solidFill>
                            <a:srgbClr val="000000"/>
                          </a:solidFill>
                          <a:effectLst/>
                          <a:latin typeface="Calibri" panose="020F0502020204030204" pitchFamily="34" charset="0"/>
                        </a:rPr>
                      </a:br>
                      <a:br>
                        <a:rPr lang="en-US" sz="1000" b="1" i="0" u="none" strike="noStrike" dirty="0">
                          <a:solidFill>
                            <a:srgbClr val="000000"/>
                          </a:solidFill>
                          <a:effectLst/>
                          <a:latin typeface="Calibri" panose="020F0502020204030204" pitchFamily="34" charset="0"/>
                        </a:rPr>
                      </a:br>
                      <a:r>
                        <a:rPr lang="en-US" sz="1000" b="1" i="0" u="none" strike="noStrike" dirty="0">
                          <a:solidFill>
                            <a:srgbClr val="000000"/>
                          </a:solidFill>
                          <a:effectLst/>
                          <a:latin typeface="Calibri" panose="020F0502020204030204" pitchFamily="34" charset="0"/>
                        </a:rPr>
                        <a:t>2. Please find primary report in attachment.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2725304"/>
                  </a:ext>
                </a:extLst>
              </a:tr>
              <a:tr h="1958162">
                <a:tc>
                  <a:txBody>
                    <a:bodyPr/>
                    <a:lstStyle/>
                    <a:p>
                      <a:pPr algn="ctr" fontAlgn="ctr"/>
                      <a:r>
                        <a:rPr lang="en-US" sz="800" b="1" i="0" u="none" strike="noStrike">
                          <a:solidFill>
                            <a:srgbClr val="000000"/>
                          </a:solidFill>
                          <a:effectLst/>
                          <a:latin typeface="Calibri" panose="020F0502020204030204" pitchFamily="34" charset="0"/>
                        </a:rPr>
                        <a:t>Delay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02.11.2022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TS#04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Door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dirty="0">
                          <a:solidFill>
                            <a:srgbClr val="000000"/>
                          </a:solidFill>
                          <a:effectLst/>
                          <a:latin typeface="Calibri" panose="020F0502020204030204" pitchFamily="34" charset="0"/>
                        </a:rPr>
                        <a:t>Door B2 T2-Door failed to close due to obstruction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dirty="0">
                          <a:solidFill>
                            <a:srgbClr val="000000"/>
                          </a:solidFill>
                          <a:effectLst/>
                          <a:latin typeface="Calibri" panose="020F0502020204030204" pitchFamily="34" charset="0"/>
                        </a:rPr>
                        <a:t>07:13 @DAH UP TO reported same issue but same door closed after Reopening &amp; closing</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07:15 @KAW UP issue occurred again &amp; same action repeated.</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@PAE UP This door opening &amp; Closing operation is normal</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07:19 @BOW UP issue was reported again so again saloon doors opened &amp; closed but still door closing status not available so instructed TO &amp; onboard RS staff to isolate the door from TCMS &amp; mechanically. </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Same train kept as HSB train at DAH 3rd PF for attention.</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T2 car B2 Door fault attention completed jointly by RS &amp; BEML staff. Also checked door operation multiple times and found normal.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800" b="1" i="0" u="none" strike="noStrike" dirty="0">
                          <a:solidFill>
                            <a:srgbClr val="000000"/>
                          </a:solidFill>
                          <a:effectLst/>
                          <a:latin typeface="Calibri" panose="020F0502020204030204" pitchFamily="34" charset="0"/>
                        </a:rPr>
                        <a:t>As per MDCU Data:</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B2 T2 - Door failed to close due to obstruction" logged at 07:13:02hrs and cleared at 07:13:24hrs.</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Again fault occurred </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B2 T2 - Door failed to close due to obstruction" logged at 07:15:13hrs and cleared at 07:15:38hrs.</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Again,</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B2 T2 - Door failed to close due to obstruction" logged at 07:19:39hrs and cleared at 07:19:57hrs.</a:t>
                      </a:r>
                      <a:br>
                        <a:rPr lang="en-US" sz="800" b="0" i="0" u="none" strike="noStrike" dirty="0">
                          <a:solidFill>
                            <a:srgbClr val="000000"/>
                          </a:solidFill>
                          <a:effectLst/>
                          <a:latin typeface="Calibri" panose="020F0502020204030204" pitchFamily="34" charset="0"/>
                        </a:rPr>
                      </a:br>
                      <a:r>
                        <a:rPr lang="en-US" sz="800" b="1" i="0" u="none" strike="noStrike" dirty="0">
                          <a:solidFill>
                            <a:srgbClr val="000000"/>
                          </a:solidFill>
                          <a:effectLst/>
                          <a:latin typeface="Calibri" panose="020F0502020204030204" pitchFamily="34" charset="0"/>
                        </a:rPr>
                        <a:t>Mainline Action:</a:t>
                      </a:r>
                      <a:br>
                        <a:rPr lang="en-US" sz="800" b="1"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Checked and found DCS cam slightly bend at right side door same has been rectified and  20 times operation done working normal.</a:t>
                      </a:r>
                      <a:br>
                        <a:rPr lang="en-US" sz="800" b="0" i="0" u="none" strike="noStrike" dirty="0">
                          <a:solidFill>
                            <a:srgbClr val="000000"/>
                          </a:solidFill>
                          <a:effectLst/>
                          <a:latin typeface="Calibri" panose="020F0502020204030204" pitchFamily="34" charset="0"/>
                        </a:rPr>
                      </a:br>
                      <a:r>
                        <a:rPr lang="en-US" sz="800" b="1" i="0" u="none" strike="noStrike" dirty="0">
                          <a:solidFill>
                            <a:srgbClr val="000000"/>
                          </a:solidFill>
                          <a:effectLst/>
                          <a:latin typeface="Calibri" panose="020F0502020204030204" pitchFamily="34" charset="0"/>
                        </a:rPr>
                        <a:t>Depot Action:</a:t>
                      </a:r>
                      <a:br>
                        <a:rPr lang="en-US" sz="800" b="1"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parameters found in limit.</a:t>
                      </a:r>
                      <a:br>
                        <a:rPr lang="en-US" sz="800" b="0" i="0" u="none" strike="noStrike" dirty="0">
                          <a:solidFill>
                            <a:srgbClr val="000000"/>
                          </a:solidFill>
                          <a:effectLst/>
                          <a:latin typeface="Calibri" panose="020F0502020204030204" pitchFamily="34" charset="0"/>
                        </a:rPr>
                      </a:br>
                      <a:br>
                        <a:rPr lang="en-US" sz="800" b="0" i="0" u="none" strike="noStrike" dirty="0">
                          <a:solidFill>
                            <a:srgbClr val="000000"/>
                          </a:solidFill>
                          <a:effectLst/>
                          <a:latin typeface="Calibri" panose="020F0502020204030204" pitchFamily="34" charset="0"/>
                        </a:rPr>
                      </a:br>
                      <a:endParaRPr lang="en-US" sz="800" b="0" i="0" u="none" strike="noStrike" dirty="0">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US" sz="1000" b="1" i="0" u="none" strike="noStrike" dirty="0">
                          <a:solidFill>
                            <a:srgbClr val="000000"/>
                          </a:solidFill>
                          <a:effectLst/>
                          <a:latin typeface="Calibri" panose="020F0502020204030204" pitchFamily="34" charset="0"/>
                        </a:rPr>
                        <a:t>1). Suspected cause of DCS cam bending is gap between DCS cam plate and coving panel lock is less</a:t>
                      </a:r>
                      <a:br>
                        <a:rPr lang="en-US" sz="1000" b="1" i="0" u="none" strike="noStrike" dirty="0">
                          <a:solidFill>
                            <a:srgbClr val="000000"/>
                          </a:solidFill>
                          <a:effectLst/>
                          <a:latin typeface="Calibri" panose="020F0502020204030204" pitchFamily="34" charset="0"/>
                        </a:rPr>
                      </a:br>
                      <a:br>
                        <a:rPr lang="en-US" sz="1000" b="1" i="0" u="none" strike="noStrike" dirty="0">
                          <a:solidFill>
                            <a:srgbClr val="000000"/>
                          </a:solidFill>
                          <a:effectLst/>
                          <a:latin typeface="Calibri" panose="020F0502020204030204" pitchFamily="34" charset="0"/>
                        </a:rPr>
                      </a:br>
                      <a:br>
                        <a:rPr lang="en-US" sz="1000" b="1" i="0" u="none" strike="noStrike" dirty="0">
                          <a:solidFill>
                            <a:srgbClr val="000000"/>
                          </a:solidFill>
                          <a:effectLst/>
                          <a:latin typeface="Calibri" panose="020F0502020204030204" pitchFamily="34" charset="0"/>
                        </a:rPr>
                      </a:br>
                      <a:r>
                        <a:rPr lang="en-US" sz="1000" b="1" i="0" u="none" strike="noStrike" dirty="0">
                          <a:solidFill>
                            <a:srgbClr val="000000"/>
                          </a:solidFill>
                          <a:effectLst/>
                          <a:latin typeface="Calibri" panose="020F0502020204030204" pitchFamily="34" charset="0"/>
                        </a:rPr>
                        <a:t>2). As already square key lock holding plate modification has been done in all trains.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523765"/>
                  </a:ext>
                </a:extLst>
              </a:tr>
              <a:tr h="1631802">
                <a:tc>
                  <a:txBody>
                    <a:bodyPr/>
                    <a:lstStyle/>
                    <a:p>
                      <a:pPr algn="ctr" fontAlgn="ctr"/>
                      <a:r>
                        <a:rPr lang="en-US" sz="800" b="1" i="0" u="none" strike="noStrike">
                          <a:solidFill>
                            <a:srgbClr val="000000"/>
                          </a:solidFill>
                          <a:effectLst/>
                          <a:latin typeface="Calibri" panose="020F0502020204030204" pitchFamily="34" charset="0"/>
                        </a:rPr>
                        <a:t>Delay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01.11.2022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TS#10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Calibri" panose="020F0502020204030204" pitchFamily="34" charset="0"/>
                        </a:rPr>
                        <a:t>T2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Door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Calibri" panose="020F0502020204030204" pitchFamily="34" charset="0"/>
                        </a:rPr>
                        <a:t>Door A3 T2 - Door Failed to close due to Obstruction</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Door A3 T2 - Major Fault (Wired)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r>
                        <a:rPr lang="en-US" sz="800" b="0" i="0" u="none" strike="noStrike">
                          <a:solidFill>
                            <a:srgbClr val="000000"/>
                          </a:solidFill>
                          <a:effectLst/>
                          <a:latin typeface="Calibri" panose="020F0502020204030204" pitchFamily="34" charset="0"/>
                        </a:rPr>
                        <a:t>As Fault reported, so RS Staff given reset to EDCUCB of same door but still same issue persist &amp; ADCL was not available. So Instructed TO &amp; RS Staff for isolate the A3 door of T2 car Physically &amp; to keep EDCUCB in off condition at OVA DN as same door is not getting close properly. after isolating same door ADCL became available &amp; Train departed from OVA DN.</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At 09:10 DAE DN again ADCL from T2 car was not available so same door mechanical locking reopened &amp; closed then ADCL became available &amp; train departed.</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at DAH 3rd PF same issue jointly attended by RS &amp; BEML staff after that issue cleared. Now T2 car A3 Door operation is normal.</a:t>
                      </a:r>
                      <a:br>
                        <a:rPr lang="en-US" sz="800" b="0" i="0" u="none" strike="noStrike">
                          <a:solidFill>
                            <a:srgbClr val="000000"/>
                          </a:solidFill>
                          <a:effectLst/>
                          <a:latin typeface="Calibri" panose="020F0502020204030204" pitchFamily="34" charset="0"/>
                        </a:rPr>
                      </a:br>
                      <a:endParaRPr lang="en-US"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r>
                        <a:rPr lang="en-US" sz="800" b="1" i="0" u="none" strike="noStrike" dirty="0">
                          <a:solidFill>
                            <a:srgbClr val="000000"/>
                          </a:solidFill>
                          <a:effectLst/>
                          <a:latin typeface="Calibri" panose="020F0502020204030204" pitchFamily="34" charset="0"/>
                        </a:rPr>
                        <a:t>As per MDCU:</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A3 T2 - Door failed to close due to obstruction" logged at 09:00:53hrs and cleared at 09:39:02hrs.</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A3 T2 - Major fault (wired)" logged at  09:05:33hrs and cleared at 09:39:01hrs.</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A3 T2 Emergency handle activation (wire)" logged at  09:05:34hrs and cleared at 09:05:34hrs.</a:t>
                      </a:r>
                      <a:br>
                        <a:rPr lang="en-US" sz="800" b="0"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"Door A3 T2 TRDP communication missing" logged at 09:05:36hrs and cleared at 09:39:02hrs.</a:t>
                      </a:r>
                      <a:br>
                        <a:rPr lang="en-US" sz="800" b="0" i="0" u="none" strike="noStrike" dirty="0">
                          <a:solidFill>
                            <a:srgbClr val="000000"/>
                          </a:solidFill>
                          <a:effectLst/>
                          <a:latin typeface="Calibri" panose="020F0502020204030204" pitchFamily="34" charset="0"/>
                        </a:rPr>
                      </a:br>
                      <a:r>
                        <a:rPr lang="en-US" sz="800" b="1" i="0" u="none" strike="noStrike" dirty="0">
                          <a:solidFill>
                            <a:srgbClr val="000000"/>
                          </a:solidFill>
                          <a:effectLst/>
                          <a:latin typeface="Calibri" panose="020F0502020204030204" pitchFamily="34" charset="0"/>
                        </a:rPr>
                        <a:t>Depot Action:</a:t>
                      </a:r>
                      <a:br>
                        <a:rPr lang="en-US" sz="800" b="1" i="0" u="none" strike="noStrike" dirty="0">
                          <a:solidFill>
                            <a:srgbClr val="000000"/>
                          </a:solidFill>
                          <a:effectLst/>
                          <a:latin typeface="Calibri" panose="020F0502020204030204" pitchFamily="34" charset="0"/>
                        </a:rPr>
                      </a:br>
                      <a:r>
                        <a:rPr lang="en-US" sz="800" b="0" i="0" u="none" strike="noStrike" dirty="0">
                          <a:solidFill>
                            <a:srgbClr val="000000"/>
                          </a:solidFill>
                          <a:effectLst/>
                          <a:latin typeface="Calibri" panose="020F0502020204030204" pitchFamily="34" charset="0"/>
                        </a:rPr>
                        <a:t>Checked and found DCS cam found bent and coving panel plate hitting on left side DCS cam. same has been rectified and several time operation checked no abnormality found.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729862913"/>
                  </a:ext>
                </a:extLst>
              </a:tr>
            </a:tbl>
          </a:graphicData>
        </a:graphic>
      </p:graphicFrame>
    </p:spTree>
    <p:extLst>
      <p:ext uri="{BB962C8B-B14F-4D97-AF65-F5344CB8AC3E}">
        <p14:creationId xmlns:p14="http://schemas.microsoft.com/office/powerpoint/2010/main" val="3020936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8965CF8-EF32-4A44-B6E5-C31AA4BCBBD5}"/>
              </a:ext>
            </a:extLst>
          </p:cNvPr>
          <p:cNvSpPr txBox="1">
            <a:spLocks/>
          </p:cNvSpPr>
          <p:nvPr/>
        </p:nvSpPr>
        <p:spPr bwMode="auto">
          <a:xfrm>
            <a:off x="1371600" y="228600"/>
            <a:ext cx="932815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ko-KR" sz="2400" dirty="0">
                <a:solidFill>
                  <a:prstClr val="white"/>
                </a:solidFill>
                <a:latin typeface="Algerian" pitchFamily="82" charset="0"/>
                <a:ea typeface="Gulim" pitchFamily="34" charset="-127"/>
              </a:rPr>
              <a:t>4) RUNNING MILEAGE FOR ALL FLEET</a:t>
            </a:r>
          </a:p>
        </p:txBody>
      </p:sp>
      <p:sp>
        <p:nvSpPr>
          <p:cNvPr id="2" name="Slide Number Placeholder 1">
            <a:extLst>
              <a:ext uri="{FF2B5EF4-FFF2-40B4-BE49-F238E27FC236}">
                <a16:creationId xmlns:a16="http://schemas.microsoft.com/office/drawing/2014/main" id="{45207D7F-B34E-4F24-9CB4-A4B7095A3FE9}"/>
              </a:ext>
            </a:extLst>
          </p:cNvPr>
          <p:cNvSpPr>
            <a:spLocks noGrp="1"/>
          </p:cNvSpPr>
          <p:nvPr>
            <p:ph type="sldNum" sz="quarter" idx="12"/>
          </p:nvPr>
        </p:nvSpPr>
        <p:spPr/>
        <p:txBody>
          <a:bodyPr/>
          <a:lstStyle/>
          <a:p>
            <a:fld id="{DE900A00-3DA3-40D9-8627-F4EC14C25FEF}" type="slidenum">
              <a:rPr lang="en-US" smtClean="0"/>
              <a:t>8</a:t>
            </a:fld>
            <a:endParaRPr lang="en-US"/>
          </a:p>
        </p:txBody>
      </p:sp>
      <p:graphicFrame>
        <p:nvGraphicFramePr>
          <p:cNvPr id="10" name="Table 9">
            <a:extLst>
              <a:ext uri="{FF2B5EF4-FFF2-40B4-BE49-F238E27FC236}">
                <a16:creationId xmlns:a16="http://schemas.microsoft.com/office/drawing/2014/main" id="{3B46CB3D-6CB0-4B83-BC77-C057D3DAA091}"/>
              </a:ext>
            </a:extLst>
          </p:cNvPr>
          <p:cNvGraphicFramePr>
            <a:graphicFrameLocks noGrp="1"/>
          </p:cNvGraphicFramePr>
          <p:nvPr>
            <p:extLst>
              <p:ext uri="{D42A27DB-BD31-4B8C-83A1-F6EECF244321}">
                <p14:modId xmlns:p14="http://schemas.microsoft.com/office/powerpoint/2010/main" val="291392722"/>
              </p:ext>
            </p:extLst>
          </p:nvPr>
        </p:nvGraphicFramePr>
        <p:xfrm>
          <a:off x="1371600" y="1296139"/>
          <a:ext cx="9328151" cy="3819564"/>
        </p:xfrm>
        <a:graphic>
          <a:graphicData uri="http://schemas.openxmlformats.org/drawingml/2006/table">
            <a:tbl>
              <a:tblPr/>
              <a:tblGrid>
                <a:gridCol w="1464607">
                  <a:extLst>
                    <a:ext uri="{9D8B030D-6E8A-4147-A177-3AD203B41FA5}">
                      <a16:colId xmlns:a16="http://schemas.microsoft.com/office/drawing/2014/main" val="70103932"/>
                    </a:ext>
                  </a:extLst>
                </a:gridCol>
                <a:gridCol w="1069784">
                  <a:extLst>
                    <a:ext uri="{9D8B030D-6E8A-4147-A177-3AD203B41FA5}">
                      <a16:colId xmlns:a16="http://schemas.microsoft.com/office/drawing/2014/main" val="18881299"/>
                    </a:ext>
                  </a:extLst>
                </a:gridCol>
                <a:gridCol w="849220">
                  <a:extLst>
                    <a:ext uri="{9D8B030D-6E8A-4147-A177-3AD203B41FA5}">
                      <a16:colId xmlns:a16="http://schemas.microsoft.com/office/drawing/2014/main" val="2898125825"/>
                    </a:ext>
                  </a:extLst>
                </a:gridCol>
                <a:gridCol w="849220">
                  <a:extLst>
                    <a:ext uri="{9D8B030D-6E8A-4147-A177-3AD203B41FA5}">
                      <a16:colId xmlns:a16="http://schemas.microsoft.com/office/drawing/2014/main" val="3803340697"/>
                    </a:ext>
                  </a:extLst>
                </a:gridCol>
                <a:gridCol w="849220">
                  <a:extLst>
                    <a:ext uri="{9D8B030D-6E8A-4147-A177-3AD203B41FA5}">
                      <a16:colId xmlns:a16="http://schemas.microsoft.com/office/drawing/2014/main" val="4224839355"/>
                    </a:ext>
                  </a:extLst>
                </a:gridCol>
                <a:gridCol w="849220">
                  <a:extLst>
                    <a:ext uri="{9D8B030D-6E8A-4147-A177-3AD203B41FA5}">
                      <a16:colId xmlns:a16="http://schemas.microsoft.com/office/drawing/2014/main" val="2114489285"/>
                    </a:ext>
                  </a:extLst>
                </a:gridCol>
                <a:gridCol w="849220">
                  <a:extLst>
                    <a:ext uri="{9D8B030D-6E8A-4147-A177-3AD203B41FA5}">
                      <a16:colId xmlns:a16="http://schemas.microsoft.com/office/drawing/2014/main" val="1096700417"/>
                    </a:ext>
                  </a:extLst>
                </a:gridCol>
                <a:gridCol w="849220">
                  <a:extLst>
                    <a:ext uri="{9D8B030D-6E8A-4147-A177-3AD203B41FA5}">
                      <a16:colId xmlns:a16="http://schemas.microsoft.com/office/drawing/2014/main" val="3014359373"/>
                    </a:ext>
                  </a:extLst>
                </a:gridCol>
                <a:gridCol w="849220">
                  <a:extLst>
                    <a:ext uri="{9D8B030D-6E8A-4147-A177-3AD203B41FA5}">
                      <a16:colId xmlns:a16="http://schemas.microsoft.com/office/drawing/2014/main" val="3856540924"/>
                    </a:ext>
                  </a:extLst>
                </a:gridCol>
                <a:gridCol w="849220">
                  <a:extLst>
                    <a:ext uri="{9D8B030D-6E8A-4147-A177-3AD203B41FA5}">
                      <a16:colId xmlns:a16="http://schemas.microsoft.com/office/drawing/2014/main" val="2584267857"/>
                    </a:ext>
                  </a:extLst>
                </a:gridCol>
              </a:tblGrid>
              <a:tr h="311801">
                <a:tc>
                  <a:txBody>
                    <a:bodyPr/>
                    <a:lstStyle/>
                    <a:p>
                      <a:pPr algn="ctr" fontAlgn="ctr"/>
                      <a:r>
                        <a:rPr lang="en-US" sz="1100" b="0"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1100" b="1" i="0" u="none" strike="noStrike" dirty="0">
                          <a:solidFill>
                            <a:srgbClr val="000000"/>
                          </a:solidFill>
                          <a:effectLst/>
                          <a:latin typeface="Calibri" panose="020F0502020204030204" pitchFamily="34" charset="0"/>
                        </a:rPr>
                        <a:t>Apr'22</a:t>
                      </a: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May'22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Jun'22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Jul'22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Aug'22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Sep'22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Oct'22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solidFill>
                            <a:srgbClr val="000000"/>
                          </a:solidFill>
                          <a:effectLst/>
                          <a:latin typeface="Calibri" panose="020F0502020204030204" pitchFamily="34" charset="0"/>
                        </a:rPr>
                        <a:t>Nov'22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solidFill>
                            <a:srgbClr val="000000"/>
                          </a:solidFill>
                          <a:effectLst/>
                          <a:latin typeface="Calibri" panose="020F0502020204030204" pitchFamily="34" charset="0"/>
                        </a:rPr>
                        <a:t>Dec’22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71596097"/>
                  </a:ext>
                </a:extLst>
              </a:tr>
              <a:tr h="342982">
                <a:tc gridSpan="9">
                  <a:txBody>
                    <a:bodyPr/>
                    <a:lstStyle/>
                    <a:p>
                      <a:pPr algn="ctr" fontAlgn="ctr"/>
                      <a:r>
                        <a:rPr lang="en-US" sz="1400" b="1" i="0" u="none" strike="noStrike" dirty="0">
                          <a:solidFill>
                            <a:srgbClr val="000000"/>
                          </a:solidFill>
                          <a:effectLst/>
                          <a:latin typeface="Calibri" panose="020F0502020204030204" pitchFamily="34" charset="0"/>
                        </a:rPr>
                        <a:t>Monthly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h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algn="ctr" fontAlgn="ctr"/>
                      <a:endParaRPr lang="en-US" sz="14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95722487"/>
                  </a:ext>
                </a:extLst>
              </a:tr>
              <a:tr h="311801">
                <a:tc>
                  <a:txBody>
                    <a:bodyPr/>
                    <a:lstStyle/>
                    <a:p>
                      <a:pPr algn="ctr" fontAlgn="ctr"/>
                      <a:endParaRPr lang="en-US"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92,333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97,951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92,980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94,758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97,484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104,374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112,561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106,394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1897671"/>
                  </a:ext>
                </a:extLst>
              </a:tr>
              <a:tr h="342982">
                <a:tc gridSpan="9">
                  <a:txBody>
                    <a:bodyPr/>
                    <a:lstStyle/>
                    <a:p>
                      <a:pPr algn="ctr" fontAlgn="ctr"/>
                      <a:r>
                        <a:rPr lang="en-US" sz="1400" b="1" i="0" u="none" strike="noStrike" dirty="0">
                          <a:solidFill>
                            <a:srgbClr val="000000"/>
                          </a:solidFill>
                          <a:effectLst/>
                          <a:latin typeface="Calibri" panose="020F0502020204030204" pitchFamily="34" charset="0"/>
                        </a:rPr>
                        <a:t>Accumulated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h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p>
                      <a:pPr algn="ctr" fontAlgn="ctr"/>
                      <a:endParaRPr lang="en-US" sz="1400" b="1" i="0" u="none" strike="noStrike" dirty="0">
                        <a:solidFill>
                          <a:srgbClr val="000000"/>
                        </a:solidFill>
                        <a:effectLst/>
                        <a:latin typeface="Calibri" panose="020F0502020204030204" pitchFamily="34" charset="0"/>
                      </a:endParaRPr>
                    </a:p>
                  </a:txBody>
                  <a:tcPr marL="0" marR="0" marT="0" marB="0" anchor="ctr">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78867965"/>
                  </a:ext>
                </a:extLst>
              </a:tr>
              <a:tr h="311801">
                <a:tc>
                  <a:txBody>
                    <a:bodyPr/>
                    <a:lstStyle/>
                    <a:p>
                      <a:pPr algn="ctr" fontAlgn="ctr"/>
                      <a:r>
                        <a:rPr lang="en-US" sz="1100" b="1" i="0" u="none" strike="noStrike" dirty="0">
                          <a:solidFill>
                            <a:srgbClr val="000000"/>
                          </a:solidFill>
                          <a:effectLst/>
                          <a:latin typeface="Calibri" panose="020F0502020204030204" pitchFamily="34" charset="0"/>
                        </a:rPr>
                        <a:t>Line  2A &amp; 7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92,333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190,284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283,264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378,022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475,506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579,880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692,441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798,835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927541"/>
                  </a:ext>
                </a:extLst>
              </a:tr>
              <a:tr h="311801">
                <a:tc>
                  <a:txBody>
                    <a:bodyPr/>
                    <a:lstStyle/>
                    <a:p>
                      <a:pPr algn="ctr" fontAlgn="ctr"/>
                      <a:r>
                        <a:rPr lang="en-US" sz="1100" b="1" i="0" u="none" strike="noStrike" dirty="0">
                          <a:solidFill>
                            <a:srgbClr val="000000"/>
                          </a:solidFill>
                          <a:effectLst/>
                          <a:latin typeface="Calibri" panose="020F0502020204030204" pitchFamily="34" charset="0"/>
                        </a:rPr>
                        <a:t>Total</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92,333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190,284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283,264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378,022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475,506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579,880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692,441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798,835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075835"/>
                  </a:ext>
                </a:extLst>
              </a:tr>
              <a:tr h="935403">
                <a:tc>
                  <a:txBody>
                    <a:bodyPr/>
                    <a:lstStyle/>
                    <a:p>
                      <a:pPr algn="ctr" fontAlgn="ctr"/>
                      <a:r>
                        <a:rPr lang="en-US" sz="1100" b="1" i="0" u="none" strike="noStrike" dirty="0">
                          <a:solidFill>
                            <a:srgbClr val="000000"/>
                          </a:solidFill>
                          <a:effectLst/>
                          <a:latin typeface="Calibri" panose="020F0502020204030204" pitchFamily="34" charset="0"/>
                        </a:rPr>
                        <a:t>Average running mileage (per train/Month)</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8,394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8,905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7,748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7,289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7,499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6,958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7,035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6,258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821657"/>
                  </a:ext>
                </a:extLst>
              </a:tr>
              <a:tr h="950993">
                <a:tc>
                  <a:txBody>
                    <a:bodyPr/>
                    <a:lstStyle/>
                    <a:p>
                      <a:pPr algn="ctr" fontAlgn="ctr"/>
                      <a:r>
                        <a:rPr lang="en-US" sz="1100" b="1" i="0" u="none" strike="noStrike" dirty="0">
                          <a:solidFill>
                            <a:srgbClr val="000000"/>
                          </a:solidFill>
                          <a:effectLst/>
                          <a:latin typeface="Calibri" panose="020F0502020204030204" pitchFamily="34" charset="0"/>
                        </a:rPr>
                        <a:t>Average running mileage (per train/day)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280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287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258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232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227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209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7553790"/>
                  </a:ext>
                </a:extLst>
              </a:tr>
            </a:tbl>
          </a:graphicData>
        </a:graphic>
      </p:graphicFrame>
    </p:spTree>
    <p:extLst>
      <p:ext uri="{BB962C8B-B14F-4D97-AF65-F5344CB8AC3E}">
        <p14:creationId xmlns:p14="http://schemas.microsoft.com/office/powerpoint/2010/main" val="3920551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8E2965F8-5778-49E8-BA93-1DA2A93F2EB8}"/>
              </a:ext>
            </a:extLst>
          </p:cNvPr>
          <p:cNvSpPr txBox="1">
            <a:spLocks/>
          </p:cNvSpPr>
          <p:nvPr/>
        </p:nvSpPr>
        <p:spPr bwMode="auto">
          <a:xfrm>
            <a:off x="1390650" y="152400"/>
            <a:ext cx="932815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ko-KR" sz="2400" dirty="0">
                <a:solidFill>
                  <a:prstClr val="white"/>
                </a:solidFill>
                <a:latin typeface="Algerian" pitchFamily="82" charset="0"/>
                <a:ea typeface="Gulim" pitchFamily="34" charset="-127"/>
              </a:rPr>
              <a:t> RUNNING MILEAGE FOR CPD </a:t>
            </a:r>
            <a:r>
              <a:rPr lang="en-US" altLang="ko-KR" sz="2400" dirty="0" err="1">
                <a:solidFill>
                  <a:prstClr val="white"/>
                </a:solidFill>
                <a:latin typeface="Algerian" pitchFamily="82" charset="0"/>
                <a:ea typeface="Gulim" pitchFamily="34" charset="-127"/>
              </a:rPr>
              <a:t>dEPOT</a:t>
            </a:r>
            <a:endParaRPr lang="en-US" altLang="ko-KR" sz="2400" dirty="0">
              <a:solidFill>
                <a:prstClr val="white"/>
              </a:solidFill>
              <a:latin typeface="Algerian" pitchFamily="82" charset="0"/>
              <a:ea typeface="Gulim" pitchFamily="34" charset="-127"/>
            </a:endParaRPr>
          </a:p>
        </p:txBody>
      </p:sp>
      <p:sp>
        <p:nvSpPr>
          <p:cNvPr id="2" name="Slide Number Placeholder 1">
            <a:extLst>
              <a:ext uri="{FF2B5EF4-FFF2-40B4-BE49-F238E27FC236}">
                <a16:creationId xmlns:a16="http://schemas.microsoft.com/office/drawing/2014/main" id="{E4BFB5AD-FE79-4133-B6A5-019ED366501F}"/>
              </a:ext>
            </a:extLst>
          </p:cNvPr>
          <p:cNvSpPr>
            <a:spLocks noGrp="1"/>
          </p:cNvSpPr>
          <p:nvPr>
            <p:ph type="sldNum" sz="quarter" idx="12"/>
          </p:nvPr>
        </p:nvSpPr>
        <p:spPr/>
        <p:txBody>
          <a:bodyPr/>
          <a:lstStyle/>
          <a:p>
            <a:fld id="{DE900A00-3DA3-40D9-8627-F4EC14C25FEF}" type="slidenum">
              <a:rPr lang="en-US" smtClean="0"/>
              <a:t>9</a:t>
            </a:fld>
            <a:endParaRPr lang="en-US"/>
          </a:p>
        </p:txBody>
      </p:sp>
      <p:graphicFrame>
        <p:nvGraphicFramePr>
          <p:cNvPr id="4" name="Table 3">
            <a:extLst>
              <a:ext uri="{FF2B5EF4-FFF2-40B4-BE49-F238E27FC236}">
                <a16:creationId xmlns:a16="http://schemas.microsoft.com/office/drawing/2014/main" id="{761F38A9-A439-4A21-8F5D-713DC0317C62}"/>
              </a:ext>
            </a:extLst>
          </p:cNvPr>
          <p:cNvGraphicFramePr>
            <a:graphicFrameLocks noGrp="1"/>
          </p:cNvGraphicFramePr>
          <p:nvPr>
            <p:extLst>
              <p:ext uri="{D42A27DB-BD31-4B8C-83A1-F6EECF244321}">
                <p14:modId xmlns:p14="http://schemas.microsoft.com/office/powerpoint/2010/main" val="3442571461"/>
              </p:ext>
            </p:extLst>
          </p:nvPr>
        </p:nvGraphicFramePr>
        <p:xfrm>
          <a:off x="1390650" y="1029810"/>
          <a:ext cx="9328150" cy="4419943"/>
        </p:xfrm>
        <a:graphic>
          <a:graphicData uri="http://schemas.openxmlformats.org/drawingml/2006/table">
            <a:tbl>
              <a:tblPr/>
              <a:tblGrid>
                <a:gridCol w="919407">
                  <a:extLst>
                    <a:ext uri="{9D8B030D-6E8A-4147-A177-3AD203B41FA5}">
                      <a16:colId xmlns:a16="http://schemas.microsoft.com/office/drawing/2014/main" val="3595296307"/>
                    </a:ext>
                  </a:extLst>
                </a:gridCol>
                <a:gridCol w="1053487">
                  <a:extLst>
                    <a:ext uri="{9D8B030D-6E8A-4147-A177-3AD203B41FA5}">
                      <a16:colId xmlns:a16="http://schemas.microsoft.com/office/drawing/2014/main" val="3016595414"/>
                    </a:ext>
                  </a:extLst>
                </a:gridCol>
                <a:gridCol w="919407">
                  <a:extLst>
                    <a:ext uri="{9D8B030D-6E8A-4147-A177-3AD203B41FA5}">
                      <a16:colId xmlns:a16="http://schemas.microsoft.com/office/drawing/2014/main" val="657520348"/>
                    </a:ext>
                  </a:extLst>
                </a:gridCol>
                <a:gridCol w="919407">
                  <a:extLst>
                    <a:ext uri="{9D8B030D-6E8A-4147-A177-3AD203B41FA5}">
                      <a16:colId xmlns:a16="http://schemas.microsoft.com/office/drawing/2014/main" val="1648388367"/>
                    </a:ext>
                  </a:extLst>
                </a:gridCol>
                <a:gridCol w="919407">
                  <a:extLst>
                    <a:ext uri="{9D8B030D-6E8A-4147-A177-3AD203B41FA5}">
                      <a16:colId xmlns:a16="http://schemas.microsoft.com/office/drawing/2014/main" val="3006464702"/>
                    </a:ext>
                  </a:extLst>
                </a:gridCol>
                <a:gridCol w="919407">
                  <a:extLst>
                    <a:ext uri="{9D8B030D-6E8A-4147-A177-3AD203B41FA5}">
                      <a16:colId xmlns:a16="http://schemas.microsoft.com/office/drawing/2014/main" val="2041201451"/>
                    </a:ext>
                  </a:extLst>
                </a:gridCol>
                <a:gridCol w="919407">
                  <a:extLst>
                    <a:ext uri="{9D8B030D-6E8A-4147-A177-3AD203B41FA5}">
                      <a16:colId xmlns:a16="http://schemas.microsoft.com/office/drawing/2014/main" val="1255822632"/>
                    </a:ext>
                  </a:extLst>
                </a:gridCol>
                <a:gridCol w="919407">
                  <a:extLst>
                    <a:ext uri="{9D8B030D-6E8A-4147-A177-3AD203B41FA5}">
                      <a16:colId xmlns:a16="http://schemas.microsoft.com/office/drawing/2014/main" val="3761625454"/>
                    </a:ext>
                  </a:extLst>
                </a:gridCol>
                <a:gridCol w="919407">
                  <a:extLst>
                    <a:ext uri="{9D8B030D-6E8A-4147-A177-3AD203B41FA5}">
                      <a16:colId xmlns:a16="http://schemas.microsoft.com/office/drawing/2014/main" val="1926409668"/>
                    </a:ext>
                  </a:extLst>
                </a:gridCol>
                <a:gridCol w="919407">
                  <a:extLst>
                    <a:ext uri="{9D8B030D-6E8A-4147-A177-3AD203B41FA5}">
                      <a16:colId xmlns:a16="http://schemas.microsoft.com/office/drawing/2014/main" val="759857212"/>
                    </a:ext>
                  </a:extLst>
                </a:gridCol>
              </a:tblGrid>
              <a:tr h="734618">
                <a:tc rowSpan="2">
                  <a:txBody>
                    <a:bodyPr/>
                    <a:lstStyle/>
                    <a:p>
                      <a:pPr algn="ctr" rtl="0" fontAlgn="ctr"/>
                      <a:r>
                        <a:rPr lang="en-US" sz="1100" b="1" i="0" u="none" strike="noStrike" dirty="0">
                          <a:solidFill>
                            <a:srgbClr val="000000"/>
                          </a:solidFill>
                          <a:effectLst/>
                          <a:latin typeface="Calibri" panose="020F0502020204030204" pitchFamily="34" charset="0"/>
                        </a:rPr>
                        <a:t>Train set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rowSpan="2">
                  <a:txBody>
                    <a:bodyPr/>
                    <a:lstStyle/>
                    <a:p>
                      <a:pPr algn="ctr" rtl="0" fontAlgn="ctr"/>
                      <a:r>
                        <a:rPr lang="en-US" sz="1100" b="1" i="0" u="none" strike="noStrike">
                          <a:solidFill>
                            <a:srgbClr val="000000"/>
                          </a:solidFill>
                          <a:effectLst/>
                          <a:latin typeface="Calibri" panose="020F0502020204030204" pitchFamily="34" charset="0"/>
                        </a:rPr>
                        <a:t>Start of Revenue Service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effectLst/>
                          <a:latin typeface="Calibri" panose="020F0502020204030204" pitchFamily="34" charset="0"/>
                        </a:rPr>
                        <a:t>Apr'22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May'22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Jun'22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Jul'22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Aug'22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Sep'22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Oct'22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Nov'22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3827768"/>
                  </a:ext>
                </a:extLst>
              </a:tr>
              <a:tr h="257117">
                <a:tc vMerge="1">
                  <a:txBody>
                    <a:bodyPr/>
                    <a:lstStyle/>
                    <a:p>
                      <a:endParaRPr lang="en-US"/>
                    </a:p>
                  </a:txBody>
                  <a:tcPr/>
                </a:tc>
                <a:tc vMerge="1">
                  <a:txBody>
                    <a:bodyPr/>
                    <a:lstStyle/>
                    <a:p>
                      <a:endParaRPr lang="en-US"/>
                    </a:p>
                  </a:txBody>
                  <a:tcPr/>
                </a:tc>
                <a:tc>
                  <a:txBody>
                    <a:bodyPr/>
                    <a:lstStyle/>
                    <a:p>
                      <a:pPr algn="ctr" fontAlgn="ctr"/>
                      <a:r>
                        <a:rPr lang="en-US" sz="1100" b="1" i="0" u="none" strike="noStrike">
                          <a:solidFill>
                            <a:srgbClr val="000000"/>
                          </a:solidFill>
                          <a:effectLst/>
                          <a:latin typeface="Calibri" panose="020F0502020204030204" pitchFamily="34" charset="0"/>
                        </a:rPr>
                        <a:t>1M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2M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3M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4M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5M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6M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7M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solidFill>
                            <a:srgbClr val="000000"/>
                          </a:solidFill>
                          <a:effectLst/>
                          <a:latin typeface="Calibri" panose="020F0502020204030204" pitchFamily="34" charset="0"/>
                        </a:rPr>
                        <a:t>8M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80909980"/>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14-02-2020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73564322"/>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14-02-2020</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74075380"/>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14-02-2020</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63564780"/>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14-02-2020</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13303862"/>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14-02-2020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60893921"/>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14-02-2022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4341809"/>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20-10-2020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1570210"/>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05-12-2020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65607722"/>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TS#09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27-08-2021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78285485"/>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13-07-2022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68539293"/>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13-07-2022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13855154"/>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TS#12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rgbClr val="000000"/>
                          </a:solidFill>
                          <a:effectLst/>
                          <a:latin typeface="Calibri" panose="020F0502020204030204" pitchFamily="34" charset="0"/>
                        </a:rPr>
                        <a:t>NOT STARTED YET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50079336"/>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TS#13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NOT STARTED YET</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11733238"/>
                  </a:ext>
                </a:extLst>
              </a:tr>
              <a:tr h="244872">
                <a:tc>
                  <a:txBody>
                    <a:bodyPr/>
                    <a:lstStyle/>
                    <a:p>
                      <a:pPr algn="ctr" fontAlgn="ctr"/>
                      <a:r>
                        <a:rPr lang="en-US" sz="1100" b="1" i="0" u="none" strike="noStrike" dirty="0">
                          <a:solidFill>
                            <a:srgbClr val="000000"/>
                          </a:solidFill>
                          <a:effectLst/>
                          <a:latin typeface="Calibri" panose="020F0502020204030204" pitchFamily="34" charset="0"/>
                        </a:rPr>
                        <a:t>TS#14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NOT STARTED YET</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31406499"/>
                  </a:ext>
                </a:extLst>
              </a:tr>
            </a:tbl>
          </a:graphicData>
        </a:graphic>
      </p:graphicFrame>
    </p:spTree>
    <p:extLst>
      <p:ext uri="{BB962C8B-B14F-4D97-AF65-F5344CB8AC3E}">
        <p14:creationId xmlns:p14="http://schemas.microsoft.com/office/powerpoint/2010/main" val="2512668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03CCADB-FF87-470D-9A70-8C11446A7D31}"/>
              </a:ext>
            </a:extLst>
          </p:cNvPr>
          <p:cNvSpPr txBox="1">
            <a:spLocks/>
          </p:cNvSpPr>
          <p:nvPr/>
        </p:nvSpPr>
        <p:spPr bwMode="auto">
          <a:xfrm>
            <a:off x="1390650" y="101600"/>
            <a:ext cx="9328150" cy="77087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ko-KR" sz="2400" dirty="0">
                <a:solidFill>
                  <a:srgbClr val="FFFFFF"/>
                </a:solidFill>
                <a:latin typeface="Algerian" pitchFamily="82" charset="0"/>
                <a:ea typeface="Gulim" pitchFamily="34" charset="-127"/>
              </a:rPr>
              <a:t>5) Reliability performance for line 2a &amp; 7</a:t>
            </a:r>
          </a:p>
          <a:p>
            <a:pPr algn="ctr" eaLnBrk="1" hangingPunct="1"/>
            <a:r>
              <a:rPr lang="en-US" altLang="ko-KR" sz="2400" dirty="0">
                <a:solidFill>
                  <a:srgbClr val="FFFFFF"/>
                </a:solidFill>
                <a:latin typeface="Algerian" pitchFamily="82" charset="0"/>
                <a:ea typeface="Gulim" pitchFamily="34" charset="-127"/>
              </a:rPr>
              <a:t>(MDBF)</a:t>
            </a:r>
          </a:p>
        </p:txBody>
      </p:sp>
      <p:sp>
        <p:nvSpPr>
          <p:cNvPr id="2" name="Slide Number Placeholder 1">
            <a:extLst>
              <a:ext uri="{FF2B5EF4-FFF2-40B4-BE49-F238E27FC236}">
                <a16:creationId xmlns:a16="http://schemas.microsoft.com/office/drawing/2014/main" id="{1D1ACA16-D97C-49D7-ABBE-04A4BCB085A8}"/>
              </a:ext>
            </a:extLst>
          </p:cNvPr>
          <p:cNvSpPr>
            <a:spLocks noGrp="1"/>
          </p:cNvSpPr>
          <p:nvPr>
            <p:ph type="sldNum" sz="quarter" idx="12"/>
          </p:nvPr>
        </p:nvSpPr>
        <p:spPr/>
        <p:txBody>
          <a:bodyPr/>
          <a:lstStyle/>
          <a:p>
            <a:fld id="{DE900A00-3DA3-40D9-8627-F4EC14C25FEF}" type="slidenum">
              <a:rPr lang="en-US" smtClean="0"/>
              <a:t>10</a:t>
            </a:fld>
            <a:endParaRPr lang="en-US"/>
          </a:p>
        </p:txBody>
      </p:sp>
      <p:graphicFrame>
        <p:nvGraphicFramePr>
          <p:cNvPr id="3" name="Table 2">
            <a:extLst>
              <a:ext uri="{FF2B5EF4-FFF2-40B4-BE49-F238E27FC236}">
                <a16:creationId xmlns:a16="http://schemas.microsoft.com/office/drawing/2014/main" id="{71E7975F-71B4-4DF4-B1B6-1F524F682EBB}"/>
              </a:ext>
            </a:extLst>
          </p:cNvPr>
          <p:cNvGraphicFramePr>
            <a:graphicFrameLocks noGrp="1"/>
          </p:cNvGraphicFramePr>
          <p:nvPr>
            <p:extLst>
              <p:ext uri="{D42A27DB-BD31-4B8C-83A1-F6EECF244321}">
                <p14:modId xmlns:p14="http://schemas.microsoft.com/office/powerpoint/2010/main" val="4107794579"/>
              </p:ext>
            </p:extLst>
          </p:nvPr>
        </p:nvGraphicFramePr>
        <p:xfrm>
          <a:off x="1390651" y="1205948"/>
          <a:ext cx="9328155" cy="4982811"/>
        </p:xfrm>
        <a:graphic>
          <a:graphicData uri="http://schemas.openxmlformats.org/drawingml/2006/table">
            <a:tbl>
              <a:tblPr/>
              <a:tblGrid>
                <a:gridCol w="3025763">
                  <a:extLst>
                    <a:ext uri="{9D8B030D-6E8A-4147-A177-3AD203B41FA5}">
                      <a16:colId xmlns:a16="http://schemas.microsoft.com/office/drawing/2014/main" val="698985686"/>
                    </a:ext>
                  </a:extLst>
                </a:gridCol>
                <a:gridCol w="741004">
                  <a:extLst>
                    <a:ext uri="{9D8B030D-6E8A-4147-A177-3AD203B41FA5}">
                      <a16:colId xmlns:a16="http://schemas.microsoft.com/office/drawing/2014/main" val="943515535"/>
                    </a:ext>
                  </a:extLst>
                </a:gridCol>
                <a:gridCol w="741004">
                  <a:extLst>
                    <a:ext uri="{9D8B030D-6E8A-4147-A177-3AD203B41FA5}">
                      <a16:colId xmlns:a16="http://schemas.microsoft.com/office/drawing/2014/main" val="3229523206"/>
                    </a:ext>
                  </a:extLst>
                </a:gridCol>
                <a:gridCol w="741004">
                  <a:extLst>
                    <a:ext uri="{9D8B030D-6E8A-4147-A177-3AD203B41FA5}">
                      <a16:colId xmlns:a16="http://schemas.microsoft.com/office/drawing/2014/main" val="2047262193"/>
                    </a:ext>
                  </a:extLst>
                </a:gridCol>
                <a:gridCol w="849066">
                  <a:extLst>
                    <a:ext uri="{9D8B030D-6E8A-4147-A177-3AD203B41FA5}">
                      <a16:colId xmlns:a16="http://schemas.microsoft.com/office/drawing/2014/main" val="775641134"/>
                    </a:ext>
                  </a:extLst>
                </a:gridCol>
                <a:gridCol w="741004">
                  <a:extLst>
                    <a:ext uri="{9D8B030D-6E8A-4147-A177-3AD203B41FA5}">
                      <a16:colId xmlns:a16="http://schemas.microsoft.com/office/drawing/2014/main" val="1991412931"/>
                    </a:ext>
                  </a:extLst>
                </a:gridCol>
                <a:gridCol w="741004">
                  <a:extLst>
                    <a:ext uri="{9D8B030D-6E8A-4147-A177-3AD203B41FA5}">
                      <a16:colId xmlns:a16="http://schemas.microsoft.com/office/drawing/2014/main" val="3473183704"/>
                    </a:ext>
                  </a:extLst>
                </a:gridCol>
                <a:gridCol w="741004">
                  <a:extLst>
                    <a:ext uri="{9D8B030D-6E8A-4147-A177-3AD203B41FA5}">
                      <a16:colId xmlns:a16="http://schemas.microsoft.com/office/drawing/2014/main" val="2979933932"/>
                    </a:ext>
                  </a:extLst>
                </a:gridCol>
                <a:gridCol w="1007302">
                  <a:extLst>
                    <a:ext uri="{9D8B030D-6E8A-4147-A177-3AD203B41FA5}">
                      <a16:colId xmlns:a16="http://schemas.microsoft.com/office/drawing/2014/main" val="1194023735"/>
                    </a:ext>
                  </a:extLst>
                </a:gridCol>
              </a:tblGrid>
              <a:tr h="288164">
                <a:tc gridSpan="9">
                  <a:txBody>
                    <a:bodyPr/>
                    <a:lstStyle/>
                    <a:p>
                      <a:pPr algn="ctr" fontAlgn="ctr"/>
                      <a:r>
                        <a:rPr lang="en-US" sz="1300" b="1" i="0" u="none" strike="noStrike">
                          <a:solidFill>
                            <a:srgbClr val="000000"/>
                          </a:solidFill>
                          <a:effectLst/>
                          <a:latin typeface="Calibri" panose="020F0502020204030204" pitchFamily="34" charset="0"/>
                        </a:rPr>
                        <a:t>Running Mileage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8087450"/>
                  </a:ext>
                </a:extLst>
              </a:tr>
              <a:tr h="240135">
                <a:tc>
                  <a:txBody>
                    <a:bodyPr/>
                    <a:lstStyle/>
                    <a:p>
                      <a:pPr algn="l" rtl="0" fontAlgn="ctr"/>
                      <a:r>
                        <a:rPr lang="en-US" sz="1100" b="1" i="0" u="none" strike="noStrike">
                          <a:solidFill>
                            <a:srgbClr val="000000"/>
                          </a:solidFill>
                          <a:effectLst/>
                          <a:latin typeface="Calibri" panose="020F0502020204030204" pitchFamily="34" charset="0"/>
                        </a:rPr>
                        <a:t>Months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Apr'22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May'22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Jun'22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Jul'22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Aug'22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Sep'22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Oct'22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Nov'22</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1872760563"/>
                  </a:ext>
                </a:extLst>
              </a:tr>
              <a:tr h="240135">
                <a:tc>
                  <a:txBody>
                    <a:bodyPr/>
                    <a:lstStyle/>
                    <a:p>
                      <a:pPr algn="l" rtl="0" fontAlgn="ctr"/>
                      <a:r>
                        <a:rPr lang="en-US" sz="1100" b="1" i="0" u="none" strike="noStrike">
                          <a:solidFill>
                            <a:srgbClr val="000000"/>
                          </a:solidFill>
                          <a:effectLst/>
                          <a:latin typeface="Calibri" panose="020F0502020204030204" pitchFamily="34" charset="0"/>
                        </a:rPr>
                        <a:t>Lines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872348225"/>
                  </a:ext>
                </a:extLst>
              </a:tr>
              <a:tr h="240135">
                <a:tc>
                  <a:txBody>
                    <a:bodyPr/>
                    <a:lstStyle/>
                    <a:p>
                      <a:pPr algn="l" fontAlgn="ctr"/>
                      <a:r>
                        <a:rPr lang="en-US" sz="1100" b="1" i="0" u="none" strike="noStrike">
                          <a:solidFill>
                            <a:srgbClr val="000000"/>
                          </a:solidFill>
                          <a:effectLst/>
                          <a:latin typeface="Calibri" panose="020F0502020204030204" pitchFamily="34" charset="0"/>
                        </a:rPr>
                        <a:t>Trains in reliability performance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9541578"/>
                  </a:ext>
                </a:extLst>
              </a:tr>
              <a:tr h="252143">
                <a:tc>
                  <a:txBody>
                    <a:bodyPr/>
                    <a:lstStyle/>
                    <a:p>
                      <a:pPr algn="l" fontAlgn="ctr"/>
                      <a:r>
                        <a:rPr lang="en-US" sz="1100" b="1" i="0" u="none" strike="noStrike">
                          <a:solidFill>
                            <a:srgbClr val="000000"/>
                          </a:solidFill>
                          <a:effectLst/>
                          <a:latin typeface="Calibri" panose="020F0502020204030204" pitchFamily="34" charset="0"/>
                        </a:rPr>
                        <a:t>6M Running Mileage ( Km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92333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190284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283264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378022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475506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579880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600108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608551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80445"/>
                  </a:ext>
                </a:extLst>
              </a:tr>
              <a:tr h="240135">
                <a:tc>
                  <a:txBody>
                    <a:bodyPr/>
                    <a:lstStyle/>
                    <a:p>
                      <a:pPr algn="l" fontAlgn="ctr"/>
                      <a:endParaRPr lang="en-US" sz="1100" b="1"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52907862"/>
                  </a:ext>
                </a:extLst>
              </a:tr>
              <a:tr h="288164">
                <a:tc gridSpan="9">
                  <a:txBody>
                    <a:bodyPr/>
                    <a:lstStyle/>
                    <a:p>
                      <a:pPr algn="ctr" fontAlgn="ctr"/>
                      <a:r>
                        <a:rPr lang="en-US" sz="1300" b="1" i="0" u="none" strike="noStrike">
                          <a:solidFill>
                            <a:srgbClr val="000000"/>
                          </a:solidFill>
                          <a:effectLst/>
                          <a:latin typeface="Calibri" panose="020F0502020204030204" pitchFamily="34" charset="0"/>
                        </a:rPr>
                        <a:t>No of Service Failures (Pre-departure withdrawal, withdrawal , 3 min delay)</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lnT w="12700" cmpd="sng">
                      <a:noFill/>
                      <a:prstDash val="soli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7495493"/>
                  </a:ext>
                </a:extLst>
              </a:tr>
              <a:tr h="240135">
                <a:tc>
                  <a:txBody>
                    <a:bodyPr/>
                    <a:lstStyle/>
                    <a:p>
                      <a:pPr algn="l" rtl="0" fontAlgn="ctr"/>
                      <a:r>
                        <a:rPr lang="en-US" sz="1100" b="1" i="0" u="none" strike="noStrike">
                          <a:solidFill>
                            <a:srgbClr val="000000"/>
                          </a:solidFill>
                          <a:effectLst/>
                          <a:latin typeface="Calibri" panose="020F0502020204030204" pitchFamily="34" charset="0"/>
                        </a:rPr>
                        <a:t>Months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Apr'22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May'22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Jun'22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Jul'22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Aug'22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Sep'22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Oct'22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Nov'22</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318162044"/>
                  </a:ext>
                </a:extLst>
              </a:tr>
              <a:tr h="240135">
                <a:tc>
                  <a:txBody>
                    <a:bodyPr/>
                    <a:lstStyle/>
                    <a:p>
                      <a:pPr algn="l" rtl="0" fontAlgn="ctr"/>
                      <a:r>
                        <a:rPr lang="en-US" sz="1100" b="1" i="0" u="none" strike="noStrike">
                          <a:solidFill>
                            <a:srgbClr val="000000"/>
                          </a:solidFill>
                          <a:effectLst/>
                          <a:latin typeface="Calibri" panose="020F0502020204030204" pitchFamily="34" charset="0"/>
                        </a:rPr>
                        <a:t>Lines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1659353060"/>
                  </a:ext>
                </a:extLst>
              </a:tr>
              <a:tr h="240135">
                <a:tc>
                  <a:txBody>
                    <a:bodyPr/>
                    <a:lstStyle/>
                    <a:p>
                      <a:pPr algn="l" fontAlgn="ctr"/>
                      <a:r>
                        <a:rPr lang="en-US" sz="1100" b="1" i="0" u="none" strike="noStrike">
                          <a:solidFill>
                            <a:srgbClr val="000000"/>
                          </a:solidFill>
                          <a:effectLst/>
                          <a:latin typeface="Calibri" panose="020F0502020204030204" pitchFamily="34" charset="0"/>
                        </a:rPr>
                        <a:t>Monthly ( Failures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4755278"/>
                  </a:ext>
                </a:extLst>
              </a:tr>
              <a:tr h="240135">
                <a:tc>
                  <a:txBody>
                    <a:bodyPr/>
                    <a:lstStyle/>
                    <a:p>
                      <a:pPr algn="l" fontAlgn="ctr"/>
                      <a:r>
                        <a:rPr lang="en-US" sz="1100" b="1" i="0" u="none" strike="noStrike">
                          <a:solidFill>
                            <a:srgbClr val="000000"/>
                          </a:solidFill>
                          <a:effectLst/>
                          <a:latin typeface="Calibri" panose="020F0502020204030204" pitchFamily="34" charset="0"/>
                        </a:rPr>
                        <a:t>6 Months ( Failures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302179"/>
                  </a:ext>
                </a:extLst>
              </a:tr>
              <a:tr h="252143">
                <a:tc>
                  <a:txBody>
                    <a:bodyPr/>
                    <a:lstStyle/>
                    <a:p>
                      <a:pPr algn="l" fontAlgn="ctr"/>
                      <a:r>
                        <a:rPr lang="en-US" sz="1100" b="1" i="0" u="none" strike="noStrike">
                          <a:solidFill>
                            <a:srgbClr val="000000"/>
                          </a:solidFill>
                          <a:effectLst/>
                          <a:latin typeface="Calibri" panose="020F0502020204030204" pitchFamily="34" charset="0"/>
                        </a:rPr>
                        <a:t>Shortfall Trains from Availability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3847475"/>
                  </a:ext>
                </a:extLst>
              </a:tr>
              <a:tr h="240135">
                <a:tc>
                  <a:txBody>
                    <a:bodyPr/>
                    <a:lstStyle/>
                    <a:p>
                      <a:pPr algn="l" fontAlgn="ctr"/>
                      <a:endParaRPr lang="en-US" sz="1100" b="1"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8554867"/>
                  </a:ext>
                </a:extLst>
              </a:tr>
              <a:tr h="288164">
                <a:tc gridSpan="9">
                  <a:txBody>
                    <a:bodyPr/>
                    <a:lstStyle/>
                    <a:p>
                      <a:pPr algn="ctr" fontAlgn="ctr"/>
                      <a:r>
                        <a:rPr lang="en-US" sz="1300" b="1" i="0" u="none" strike="noStrike">
                          <a:solidFill>
                            <a:srgbClr val="000000"/>
                          </a:solidFill>
                          <a:effectLst/>
                          <a:latin typeface="Calibri" panose="020F0502020204030204" pitchFamily="34" charset="0"/>
                        </a:rPr>
                        <a:t>MDBF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lnT w="12700" cmpd="sng">
                      <a:noFill/>
                      <a:prstDash val="soli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4314282"/>
                  </a:ext>
                </a:extLst>
              </a:tr>
              <a:tr h="240135">
                <a:tc>
                  <a:txBody>
                    <a:bodyPr/>
                    <a:lstStyle/>
                    <a:p>
                      <a:pPr algn="l" rtl="0" fontAlgn="ctr"/>
                      <a:r>
                        <a:rPr lang="en-US" sz="1100" b="1" i="0" u="none" strike="noStrike">
                          <a:solidFill>
                            <a:srgbClr val="000000"/>
                          </a:solidFill>
                          <a:effectLst/>
                          <a:latin typeface="Calibri" panose="020F0502020204030204" pitchFamily="34" charset="0"/>
                        </a:rPr>
                        <a:t>Months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Apr'22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May'22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Jun'22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Jul'22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Aug'22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Sep'22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Oct'22</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Nov'22</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4051445601"/>
                  </a:ext>
                </a:extLst>
              </a:tr>
              <a:tr h="240135">
                <a:tc>
                  <a:txBody>
                    <a:bodyPr/>
                    <a:lstStyle/>
                    <a:p>
                      <a:pPr algn="l" rtl="0" fontAlgn="ctr"/>
                      <a:r>
                        <a:rPr lang="en-US" sz="1100" b="1" i="0" u="none" strike="noStrike">
                          <a:solidFill>
                            <a:srgbClr val="000000"/>
                          </a:solidFill>
                          <a:effectLst/>
                          <a:latin typeface="Calibri" panose="020F0502020204030204" pitchFamily="34" charset="0"/>
                        </a:rPr>
                        <a:t>Lines</a:t>
                      </a:r>
                    </a:p>
                  </a:txBody>
                  <a:tcPr marL="8572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rtl="0" fontAlgn="ctr"/>
                      <a:r>
                        <a:rPr lang="en-US" sz="1100" b="1" i="0" u="none" strike="noStrike">
                          <a:solidFill>
                            <a:srgbClr val="000000"/>
                          </a:solidFill>
                          <a:effectLst/>
                          <a:latin typeface="Calibri" panose="020F0502020204030204" pitchFamily="34" charset="0"/>
                        </a:rPr>
                        <a:t>2A &amp; 7 </a:t>
                      </a:r>
                    </a:p>
                  </a:txBody>
                  <a:tcPr marL="85725"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3310033601"/>
                  </a:ext>
                </a:extLst>
              </a:tr>
              <a:tr h="240135">
                <a:tc>
                  <a:txBody>
                    <a:bodyPr/>
                    <a:lstStyle/>
                    <a:p>
                      <a:pPr algn="l" fontAlgn="ctr"/>
                      <a:r>
                        <a:rPr lang="en-US" sz="1100" b="1" i="0" u="none" strike="noStrike">
                          <a:solidFill>
                            <a:srgbClr val="000000"/>
                          </a:solidFill>
                          <a:effectLst/>
                          <a:latin typeface="Calibri" panose="020F0502020204030204" pitchFamily="34" charset="0"/>
                        </a:rPr>
                        <a:t>Target MDBF</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100000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4931085"/>
                  </a:ext>
                </a:extLst>
              </a:tr>
              <a:tr h="240135">
                <a:tc>
                  <a:txBody>
                    <a:bodyPr/>
                    <a:lstStyle/>
                    <a:p>
                      <a:pPr algn="l" fontAlgn="ctr"/>
                      <a:r>
                        <a:rPr lang="en-US" sz="1100" b="1" i="0" u="none" strike="noStrike">
                          <a:solidFill>
                            <a:srgbClr val="000000"/>
                          </a:solidFill>
                          <a:effectLst/>
                          <a:latin typeface="Calibri" panose="020F0502020204030204" pitchFamily="34" charset="0"/>
                        </a:rPr>
                        <a:t>Monthly MDBF (Train km)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56281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21279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4287256"/>
                  </a:ext>
                </a:extLst>
              </a:tr>
              <a:tr h="240135">
                <a:tc>
                  <a:txBody>
                    <a:bodyPr/>
                    <a:lstStyle/>
                    <a:p>
                      <a:pPr algn="l" fontAlgn="ctr"/>
                      <a:r>
                        <a:rPr lang="en-US" sz="1100" b="1" i="0" u="none" strike="noStrike">
                          <a:solidFill>
                            <a:srgbClr val="000000"/>
                          </a:solidFill>
                          <a:effectLst/>
                          <a:latin typeface="Calibri" panose="020F0502020204030204" pitchFamily="34" charset="0"/>
                        </a:rPr>
                        <a:t>6 Months MDBF (Train km)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300054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86936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2197144"/>
                  </a:ext>
                </a:extLst>
              </a:tr>
              <a:tr h="252143">
                <a:tc>
                  <a:txBody>
                    <a:bodyPr/>
                    <a:lstStyle/>
                    <a:p>
                      <a:pPr algn="l" fontAlgn="ctr"/>
                      <a:r>
                        <a:rPr lang="en-US" sz="1100" b="1" i="0" u="none" strike="noStrike">
                          <a:solidFill>
                            <a:srgbClr val="000000"/>
                          </a:solidFill>
                          <a:effectLst/>
                          <a:latin typeface="Calibri" panose="020F0502020204030204" pitchFamily="34" charset="0"/>
                        </a:rPr>
                        <a:t>Final 6M MDBF with Shortfall TS.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300054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76069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3738547"/>
                  </a:ext>
                </a:extLst>
              </a:tr>
            </a:tbl>
          </a:graphicData>
        </a:graphic>
      </p:graphicFrame>
    </p:spTree>
    <p:extLst>
      <p:ext uri="{BB962C8B-B14F-4D97-AF65-F5344CB8AC3E}">
        <p14:creationId xmlns:p14="http://schemas.microsoft.com/office/powerpoint/2010/main" val="1322038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3F968DD6-DBE3-4D0F-AA84-EF8EFC518D83}"/>
              </a:ext>
            </a:extLst>
          </p:cNvPr>
          <p:cNvSpPr txBox="1">
            <a:spLocks/>
          </p:cNvSpPr>
          <p:nvPr/>
        </p:nvSpPr>
        <p:spPr bwMode="auto">
          <a:xfrm>
            <a:off x="1100831" y="152400"/>
            <a:ext cx="9741794" cy="6858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ko-KR" sz="2000" dirty="0">
                <a:solidFill>
                  <a:schemeClr val="bg1"/>
                </a:solidFill>
                <a:latin typeface="Algerian" pitchFamily="82" charset="0"/>
                <a:ea typeface="Gulim" pitchFamily="34" charset="-127"/>
              </a:rPr>
              <a:t>6) </a:t>
            </a:r>
            <a:r>
              <a:rPr lang="en-US" altLang="ko-KR" sz="2000" dirty="0" err="1">
                <a:solidFill>
                  <a:schemeClr val="bg1"/>
                </a:solidFill>
                <a:latin typeface="Algerian" pitchFamily="82" charset="0"/>
                <a:ea typeface="Gulim" pitchFamily="34" charset="-127"/>
              </a:rPr>
              <a:t>mdbcf</a:t>
            </a:r>
            <a:r>
              <a:rPr lang="en-US" altLang="ko-KR" sz="2000" dirty="0">
                <a:solidFill>
                  <a:schemeClr val="bg1"/>
                </a:solidFill>
                <a:latin typeface="Algerian" pitchFamily="82" charset="0"/>
                <a:ea typeface="Gulim" pitchFamily="34" charset="-127"/>
              </a:rPr>
              <a:t> of Reliability verification trains (MDBF 100,000 km)</a:t>
            </a:r>
            <a:endParaRPr lang="en-US" altLang="ko-KR" sz="1600" dirty="0">
              <a:solidFill>
                <a:schemeClr val="bg1"/>
              </a:solidFill>
              <a:latin typeface="Algerian" pitchFamily="82" charset="0"/>
              <a:ea typeface="Gulim" pitchFamily="34" charset="-127"/>
            </a:endParaRPr>
          </a:p>
        </p:txBody>
      </p:sp>
      <p:sp>
        <p:nvSpPr>
          <p:cNvPr id="2" name="Slide Number Placeholder 1">
            <a:extLst>
              <a:ext uri="{FF2B5EF4-FFF2-40B4-BE49-F238E27FC236}">
                <a16:creationId xmlns:a16="http://schemas.microsoft.com/office/drawing/2014/main" id="{CBB03CAC-FA6C-43A9-86A3-72B48B1BE972}"/>
              </a:ext>
            </a:extLst>
          </p:cNvPr>
          <p:cNvSpPr>
            <a:spLocks noGrp="1"/>
          </p:cNvSpPr>
          <p:nvPr>
            <p:ph type="sldNum" sz="quarter" idx="12"/>
          </p:nvPr>
        </p:nvSpPr>
        <p:spPr/>
        <p:txBody>
          <a:bodyPr/>
          <a:lstStyle/>
          <a:p>
            <a:fld id="{DE900A00-3DA3-40D9-8627-F4EC14C25FEF}" type="slidenum">
              <a:rPr lang="en-US" smtClean="0"/>
              <a:t>11</a:t>
            </a:fld>
            <a:endParaRPr lang="en-US"/>
          </a:p>
        </p:txBody>
      </p:sp>
      <p:graphicFrame>
        <p:nvGraphicFramePr>
          <p:cNvPr id="3" name="Table 2">
            <a:extLst>
              <a:ext uri="{FF2B5EF4-FFF2-40B4-BE49-F238E27FC236}">
                <a16:creationId xmlns:a16="http://schemas.microsoft.com/office/drawing/2014/main" id="{FAE3EB09-E96D-457F-BAA1-91B85CBAF1FB}"/>
              </a:ext>
            </a:extLst>
          </p:cNvPr>
          <p:cNvGraphicFramePr>
            <a:graphicFrameLocks noGrp="1"/>
          </p:cNvGraphicFramePr>
          <p:nvPr>
            <p:extLst>
              <p:ext uri="{D42A27DB-BD31-4B8C-83A1-F6EECF244321}">
                <p14:modId xmlns:p14="http://schemas.microsoft.com/office/powerpoint/2010/main" val="2183596590"/>
              </p:ext>
            </p:extLst>
          </p:nvPr>
        </p:nvGraphicFramePr>
        <p:xfrm>
          <a:off x="1100831" y="941032"/>
          <a:ext cx="9676662" cy="5697892"/>
        </p:xfrm>
        <a:graphic>
          <a:graphicData uri="http://schemas.openxmlformats.org/drawingml/2006/table">
            <a:tbl>
              <a:tblPr/>
              <a:tblGrid>
                <a:gridCol w="1919267">
                  <a:extLst>
                    <a:ext uri="{9D8B030D-6E8A-4147-A177-3AD203B41FA5}">
                      <a16:colId xmlns:a16="http://schemas.microsoft.com/office/drawing/2014/main" val="3221411328"/>
                    </a:ext>
                  </a:extLst>
                </a:gridCol>
                <a:gridCol w="550821">
                  <a:extLst>
                    <a:ext uri="{9D8B030D-6E8A-4147-A177-3AD203B41FA5}">
                      <a16:colId xmlns:a16="http://schemas.microsoft.com/office/drawing/2014/main" val="775621739"/>
                    </a:ext>
                  </a:extLst>
                </a:gridCol>
                <a:gridCol w="550821">
                  <a:extLst>
                    <a:ext uri="{9D8B030D-6E8A-4147-A177-3AD203B41FA5}">
                      <a16:colId xmlns:a16="http://schemas.microsoft.com/office/drawing/2014/main" val="1728164495"/>
                    </a:ext>
                  </a:extLst>
                </a:gridCol>
                <a:gridCol w="550821">
                  <a:extLst>
                    <a:ext uri="{9D8B030D-6E8A-4147-A177-3AD203B41FA5}">
                      <a16:colId xmlns:a16="http://schemas.microsoft.com/office/drawing/2014/main" val="2745967451"/>
                    </a:ext>
                  </a:extLst>
                </a:gridCol>
                <a:gridCol w="550821">
                  <a:extLst>
                    <a:ext uri="{9D8B030D-6E8A-4147-A177-3AD203B41FA5}">
                      <a16:colId xmlns:a16="http://schemas.microsoft.com/office/drawing/2014/main" val="4170744735"/>
                    </a:ext>
                  </a:extLst>
                </a:gridCol>
                <a:gridCol w="550821">
                  <a:extLst>
                    <a:ext uri="{9D8B030D-6E8A-4147-A177-3AD203B41FA5}">
                      <a16:colId xmlns:a16="http://schemas.microsoft.com/office/drawing/2014/main" val="3474395177"/>
                    </a:ext>
                  </a:extLst>
                </a:gridCol>
                <a:gridCol w="550821">
                  <a:extLst>
                    <a:ext uri="{9D8B030D-6E8A-4147-A177-3AD203B41FA5}">
                      <a16:colId xmlns:a16="http://schemas.microsoft.com/office/drawing/2014/main" val="1379436477"/>
                    </a:ext>
                  </a:extLst>
                </a:gridCol>
                <a:gridCol w="1698364">
                  <a:extLst>
                    <a:ext uri="{9D8B030D-6E8A-4147-A177-3AD203B41FA5}">
                      <a16:colId xmlns:a16="http://schemas.microsoft.com/office/drawing/2014/main" val="2748827202"/>
                    </a:ext>
                  </a:extLst>
                </a:gridCol>
                <a:gridCol w="550821">
                  <a:extLst>
                    <a:ext uri="{9D8B030D-6E8A-4147-A177-3AD203B41FA5}">
                      <a16:colId xmlns:a16="http://schemas.microsoft.com/office/drawing/2014/main" val="553792827"/>
                    </a:ext>
                  </a:extLst>
                </a:gridCol>
                <a:gridCol w="550821">
                  <a:extLst>
                    <a:ext uri="{9D8B030D-6E8A-4147-A177-3AD203B41FA5}">
                      <a16:colId xmlns:a16="http://schemas.microsoft.com/office/drawing/2014/main" val="8844013"/>
                    </a:ext>
                  </a:extLst>
                </a:gridCol>
                <a:gridCol w="550821">
                  <a:extLst>
                    <a:ext uri="{9D8B030D-6E8A-4147-A177-3AD203B41FA5}">
                      <a16:colId xmlns:a16="http://schemas.microsoft.com/office/drawing/2014/main" val="120534838"/>
                    </a:ext>
                  </a:extLst>
                </a:gridCol>
                <a:gridCol w="550821">
                  <a:extLst>
                    <a:ext uri="{9D8B030D-6E8A-4147-A177-3AD203B41FA5}">
                      <a16:colId xmlns:a16="http://schemas.microsoft.com/office/drawing/2014/main" val="2988405453"/>
                    </a:ext>
                  </a:extLst>
                </a:gridCol>
                <a:gridCol w="550821">
                  <a:extLst>
                    <a:ext uri="{9D8B030D-6E8A-4147-A177-3AD203B41FA5}">
                      <a16:colId xmlns:a16="http://schemas.microsoft.com/office/drawing/2014/main" val="3884309"/>
                    </a:ext>
                  </a:extLst>
                </a:gridCol>
              </a:tblGrid>
              <a:tr h="650886">
                <a:tc>
                  <a:txBody>
                    <a:bodyPr/>
                    <a:lstStyle/>
                    <a:p>
                      <a:pPr algn="ctr" fontAlgn="ctr"/>
                      <a:r>
                        <a:rPr lang="en-US" sz="1000" b="1" i="0" u="none" strike="noStrike" dirty="0">
                          <a:solidFill>
                            <a:srgbClr val="000000"/>
                          </a:solidFill>
                          <a:effectLst/>
                          <a:latin typeface="Arial Narrow" panose="020B0606020202030204" pitchFamily="34" charset="0"/>
                        </a:rPr>
                        <a:t>System/Subsystem /</a:t>
                      </a:r>
                      <a:br>
                        <a:rPr lang="en-US" sz="1000" b="1" i="0" u="none" strike="noStrike" dirty="0">
                          <a:solidFill>
                            <a:srgbClr val="000000"/>
                          </a:solidFill>
                          <a:effectLst/>
                          <a:latin typeface="Arial Narrow" panose="020B0606020202030204" pitchFamily="34" charset="0"/>
                        </a:rPr>
                      </a:br>
                      <a:r>
                        <a:rPr lang="en-US" sz="1000" b="1" i="0" u="none" strike="noStrike" dirty="0">
                          <a:solidFill>
                            <a:srgbClr val="000000"/>
                          </a:solidFill>
                          <a:effectLst/>
                          <a:latin typeface="Arial Narrow" panose="020B0606020202030204" pitchFamily="34" charset="0"/>
                        </a:rPr>
                        <a:t>Equipment/Component</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Target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MDBCF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Result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6M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Nov/22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000" b="1" i="0" u="none" strike="noStrike">
                          <a:solidFill>
                            <a:srgbClr val="000000"/>
                          </a:solidFill>
                          <a:effectLst/>
                          <a:latin typeface="Arial Narrow" panose="020B0606020202030204" pitchFamily="34" charset="0"/>
                        </a:rPr>
                        <a:t>System/Subsystem /</a:t>
                      </a:r>
                      <a:br>
                        <a:rPr lang="en-US" sz="1000" b="1" i="0" u="none" strike="noStrike">
                          <a:solidFill>
                            <a:srgbClr val="000000"/>
                          </a:solidFill>
                          <a:effectLst/>
                          <a:latin typeface="Arial Narrow" panose="020B0606020202030204" pitchFamily="34" charset="0"/>
                        </a:rPr>
                      </a:br>
                      <a:r>
                        <a:rPr lang="en-US" sz="1000" b="1" i="0" u="none" strike="noStrike">
                          <a:solidFill>
                            <a:srgbClr val="000000"/>
                          </a:solidFill>
                          <a:effectLst/>
                          <a:latin typeface="Arial Narrow" panose="020B0606020202030204" pitchFamily="34" charset="0"/>
                        </a:rPr>
                        <a:t>Equipment/Component</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Target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MDBCF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Result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6M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Nov/22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9933829"/>
                  </a:ext>
                </a:extLst>
              </a:tr>
              <a:tr h="151369">
                <a:tc>
                  <a:txBody>
                    <a:bodyPr/>
                    <a:lstStyle/>
                    <a:p>
                      <a:pPr algn="l" fontAlgn="ctr"/>
                      <a:r>
                        <a:rPr lang="en-US" sz="1000" b="1" i="0" u="none" strike="noStrike" dirty="0">
                          <a:solidFill>
                            <a:srgbClr val="000000"/>
                          </a:solidFill>
                          <a:effectLst/>
                          <a:latin typeface="Arial Narrow" panose="020B0606020202030204" pitchFamily="34" charset="0"/>
                        </a:rPr>
                        <a:t>Propulsion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13,934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Door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50,000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8,738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034285"/>
                  </a:ext>
                </a:extLst>
              </a:tr>
              <a:tr h="196780">
                <a:tc>
                  <a:txBody>
                    <a:bodyPr/>
                    <a:lstStyle/>
                    <a:p>
                      <a:pPr algn="l" fontAlgn="ctr"/>
                      <a:r>
                        <a:rPr lang="en-US" sz="1000" b="1" i="0" u="none" strike="noStrike" dirty="0">
                          <a:solidFill>
                            <a:srgbClr val="000000"/>
                          </a:solidFill>
                          <a:effectLst/>
                          <a:latin typeface="Arial Narrow" panose="020B0606020202030204" pitchFamily="34" charset="0"/>
                        </a:rPr>
                        <a:t>a) Pantograph</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1,500,000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a) EDCU</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5,000,000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2,749,712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5530256"/>
                  </a:ext>
                </a:extLst>
              </a:tr>
              <a:tr h="151369">
                <a:tc>
                  <a:txBody>
                    <a:bodyPr/>
                    <a:lstStyle/>
                    <a:p>
                      <a:pPr algn="l" fontAlgn="ctr"/>
                      <a:r>
                        <a:rPr lang="en-US" sz="1000" b="1" i="0" u="none" strike="noStrike">
                          <a:solidFill>
                            <a:srgbClr val="000000"/>
                          </a:solidFill>
                          <a:effectLst/>
                          <a:latin typeface="Arial Narrow" panose="020B0606020202030204" pitchFamily="34" charset="0"/>
                        </a:rPr>
                        <a:t>b) VCB and Earthing switch</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9,300,000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b) Motor assembly</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24,747,408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4687349"/>
                  </a:ext>
                </a:extLst>
              </a:tr>
              <a:tr h="151369">
                <a:tc>
                  <a:txBody>
                    <a:bodyPr/>
                    <a:lstStyle/>
                    <a:p>
                      <a:pPr algn="l" fontAlgn="ctr"/>
                      <a:r>
                        <a:rPr lang="en-US" sz="1000" b="1" i="0" u="none" strike="noStrike" dirty="0">
                          <a:solidFill>
                            <a:srgbClr val="000000"/>
                          </a:solidFill>
                          <a:effectLst/>
                          <a:latin typeface="Arial Narrow" panose="020B0606020202030204" pitchFamily="34" charset="0"/>
                        </a:rPr>
                        <a:t>c) Main Transformer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61,600,000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c) Coupling assembly</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7868117"/>
                  </a:ext>
                </a:extLst>
              </a:tr>
              <a:tr h="151369">
                <a:tc>
                  <a:txBody>
                    <a:bodyPr/>
                    <a:lstStyle/>
                    <a:p>
                      <a:pPr algn="l" fontAlgn="ctr"/>
                      <a:r>
                        <a:rPr lang="en-US" sz="1000" b="1" i="0" u="none" strike="noStrike" dirty="0">
                          <a:solidFill>
                            <a:srgbClr val="000000"/>
                          </a:solidFill>
                          <a:effectLst/>
                          <a:latin typeface="Arial Narrow" panose="020B0606020202030204" pitchFamily="34" charset="0"/>
                        </a:rPr>
                        <a:t>d) Power Converter-Inverter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1,360,000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2,062,284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d) DLS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24,747,408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699371"/>
                  </a:ext>
                </a:extLst>
              </a:tr>
              <a:tr h="158937">
                <a:tc>
                  <a:txBody>
                    <a:bodyPr/>
                    <a:lstStyle/>
                    <a:p>
                      <a:pPr algn="l" fontAlgn="ctr"/>
                      <a:r>
                        <a:rPr lang="en-US" sz="1000" b="1" i="0" u="none" strike="noStrike">
                          <a:solidFill>
                            <a:srgbClr val="000000"/>
                          </a:solidFill>
                          <a:effectLst/>
                          <a:latin typeface="Arial Narrow" panose="020B0606020202030204" pitchFamily="34" charset="0"/>
                        </a:rPr>
                        <a:t>e) Traction Motor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40,800,000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e) DCS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12,373,704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5784020"/>
                  </a:ext>
                </a:extLst>
              </a:tr>
              <a:tr h="151369">
                <a:tc>
                  <a:txBody>
                    <a:bodyPr/>
                    <a:lstStyle/>
                    <a:p>
                      <a:pPr algn="l" fontAlgn="ctr"/>
                      <a:r>
                        <a:rPr lang="en-US" sz="1000" b="1" i="0" u="none" strike="noStrike" dirty="0">
                          <a:solidFill>
                            <a:srgbClr val="000000"/>
                          </a:solidFill>
                          <a:effectLst/>
                          <a:latin typeface="Arial Narrow" panose="020B0606020202030204" pitchFamily="34" charset="0"/>
                        </a:rPr>
                        <a:t>f) Arrester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f) EDS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40,000,000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2846847"/>
                  </a:ext>
                </a:extLst>
              </a:tr>
              <a:tr h="181642">
                <a:tc>
                  <a:txBody>
                    <a:bodyPr/>
                    <a:lstStyle/>
                    <a:p>
                      <a:pPr algn="l" fontAlgn="ctr"/>
                      <a:r>
                        <a:rPr lang="en-US" sz="1000" b="1" i="0" u="none" strike="noStrike" dirty="0">
                          <a:solidFill>
                            <a:srgbClr val="000000"/>
                          </a:solidFill>
                          <a:effectLst/>
                          <a:latin typeface="Arial Narrow" panose="020B0606020202030204" pitchFamily="34" charset="0"/>
                        </a:rPr>
                        <a:t>g) Potential transformer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g) LOS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40,000,000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8,249,136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1027948"/>
                  </a:ext>
                </a:extLst>
              </a:tr>
              <a:tr h="151369">
                <a:tc>
                  <a:txBody>
                    <a:bodyPr/>
                    <a:lstStyle/>
                    <a:p>
                      <a:pPr algn="l" fontAlgn="ctr"/>
                      <a:r>
                        <a:rPr lang="en-US" sz="1000" b="1" i="0" u="none" strike="noStrike">
                          <a:solidFill>
                            <a:srgbClr val="000000"/>
                          </a:solidFill>
                          <a:effectLst/>
                          <a:latin typeface="Arial Narrow" panose="020B0606020202030204" pitchFamily="34" charset="0"/>
                        </a:rPr>
                        <a:t>h) Current transformer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h) Saloon to cab door</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5,000,000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60,655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9052867"/>
                  </a:ext>
                </a:extLst>
              </a:tr>
              <a:tr h="151369">
                <a:tc>
                  <a:txBody>
                    <a:bodyPr/>
                    <a:lstStyle/>
                    <a:p>
                      <a:pPr algn="l" fontAlgn="ctr"/>
                      <a:r>
                        <a:rPr lang="en-US" sz="1000" b="1" i="0" u="none" strike="noStrike">
                          <a:solidFill>
                            <a:srgbClr val="000000"/>
                          </a:solidFill>
                          <a:effectLst/>
                          <a:latin typeface="Arial Narrow" panose="020B0606020202030204" pitchFamily="34" charset="0"/>
                        </a:rPr>
                        <a:t>i) Master Controller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i) Emergency door</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5904209"/>
                  </a:ext>
                </a:extLst>
              </a:tr>
              <a:tr h="158937">
                <a:tc>
                  <a:txBody>
                    <a:bodyPr/>
                    <a:lstStyle/>
                    <a:p>
                      <a:pPr algn="l" fontAlgn="ctr"/>
                      <a:r>
                        <a:rPr lang="en-US" sz="1000" b="1" i="0" u="none" strike="noStrike">
                          <a:solidFill>
                            <a:srgbClr val="000000"/>
                          </a:solidFill>
                          <a:effectLst/>
                          <a:latin typeface="Arial Narrow" panose="020B0606020202030204" pitchFamily="34" charset="0"/>
                        </a:rPr>
                        <a:t>j) Others</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j) Others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7465479"/>
                  </a:ext>
                </a:extLst>
              </a:tr>
              <a:tr h="158937">
                <a:tc>
                  <a:txBody>
                    <a:bodyPr/>
                    <a:lstStyle/>
                    <a:p>
                      <a:pPr algn="l" fontAlgn="ctr"/>
                      <a:r>
                        <a:rPr lang="en-US" sz="1000" b="1" i="0" u="none" strike="noStrike">
                          <a:solidFill>
                            <a:srgbClr val="000000"/>
                          </a:solidFill>
                          <a:effectLst/>
                          <a:latin typeface="Arial Narrow" panose="020B0606020202030204" pitchFamily="34" charset="0"/>
                        </a:rPr>
                        <a:t>Auxiliary Supply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450,000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257,786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dirty="0">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HVAC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250,000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11,457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15</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1578066"/>
                  </a:ext>
                </a:extLst>
              </a:tr>
              <a:tr h="151369">
                <a:tc>
                  <a:txBody>
                    <a:bodyPr/>
                    <a:lstStyle/>
                    <a:p>
                      <a:pPr algn="l" fontAlgn="ctr"/>
                      <a:r>
                        <a:rPr lang="en-US" sz="1000" b="1" i="0" u="none" strike="noStrike">
                          <a:solidFill>
                            <a:srgbClr val="000000"/>
                          </a:solidFill>
                          <a:effectLst/>
                          <a:latin typeface="Arial Narrow" panose="020B0606020202030204" pitchFamily="34" charset="0"/>
                        </a:rPr>
                        <a:t>a) Auxiliary Converter-Inverter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1,890,000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a) Compressor</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9274430"/>
                  </a:ext>
                </a:extLst>
              </a:tr>
              <a:tr h="181642">
                <a:tc>
                  <a:txBody>
                    <a:bodyPr/>
                    <a:lstStyle/>
                    <a:p>
                      <a:pPr algn="l" fontAlgn="ctr"/>
                      <a:r>
                        <a:rPr lang="en-US" sz="1000" b="1" i="0" u="none" strike="noStrike">
                          <a:solidFill>
                            <a:srgbClr val="000000"/>
                          </a:solidFill>
                          <a:effectLst/>
                          <a:latin typeface="Arial Narrow" panose="020B0606020202030204" pitchFamily="34" charset="0"/>
                        </a:rPr>
                        <a:t>b) Battery Charger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5,060,000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b) Condenser coil</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8881860"/>
                  </a:ext>
                </a:extLst>
              </a:tr>
              <a:tr h="151369">
                <a:tc>
                  <a:txBody>
                    <a:bodyPr/>
                    <a:lstStyle/>
                    <a:p>
                      <a:pPr algn="l" fontAlgn="ctr"/>
                      <a:r>
                        <a:rPr lang="en-US" sz="1000" b="1" i="0" u="none" strike="noStrike">
                          <a:solidFill>
                            <a:srgbClr val="000000"/>
                          </a:solidFill>
                          <a:effectLst/>
                          <a:latin typeface="Arial Narrow" panose="020B0606020202030204" pitchFamily="34" charset="0"/>
                        </a:rPr>
                        <a:t>c) Back-up Batteries</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c) Dryer</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24,747,408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372231"/>
                  </a:ext>
                </a:extLst>
              </a:tr>
              <a:tr h="158937">
                <a:tc>
                  <a:txBody>
                    <a:bodyPr/>
                    <a:lstStyle/>
                    <a:p>
                      <a:pPr algn="l" fontAlgn="ctr"/>
                      <a:r>
                        <a:rPr lang="en-US" sz="1000" b="1" i="0" u="none" strike="noStrike">
                          <a:solidFill>
                            <a:srgbClr val="000000"/>
                          </a:solidFill>
                          <a:effectLst/>
                          <a:latin typeface="Arial Narrow" panose="020B0606020202030204" pitchFamily="34" charset="0"/>
                        </a:rPr>
                        <a:t>d) Others</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d) Evaporator coil</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5294291"/>
                  </a:ext>
                </a:extLst>
              </a:tr>
              <a:tr h="151369">
                <a:tc>
                  <a:txBody>
                    <a:bodyPr/>
                    <a:lstStyle/>
                    <a:p>
                      <a:pPr algn="l" fontAlgn="ctr"/>
                      <a:r>
                        <a:rPr lang="en-US" sz="1000" b="1" i="0" u="none" strike="noStrike">
                          <a:solidFill>
                            <a:srgbClr val="000000"/>
                          </a:solidFill>
                          <a:effectLst/>
                          <a:latin typeface="Arial Narrow" panose="020B0606020202030204" pitchFamily="34" charset="0"/>
                        </a:rPr>
                        <a:t>Air Supply and Friction Brake Equipment</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70,000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27,135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12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e) High pressure switch</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0452823"/>
                  </a:ext>
                </a:extLst>
              </a:tr>
              <a:tr h="151369">
                <a:tc>
                  <a:txBody>
                    <a:bodyPr/>
                    <a:lstStyle/>
                    <a:p>
                      <a:pPr algn="l" fontAlgn="ctr"/>
                      <a:r>
                        <a:rPr lang="en-US" sz="1000" b="1" i="0" u="none" strike="noStrike">
                          <a:solidFill>
                            <a:srgbClr val="000000"/>
                          </a:solidFill>
                          <a:effectLst/>
                          <a:latin typeface="Arial Narrow" panose="020B0606020202030204" pitchFamily="34" charset="0"/>
                        </a:rPr>
                        <a:t>a) Main Compressor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1,500,000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f) Low pressure switch</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3849074"/>
                  </a:ext>
                </a:extLst>
              </a:tr>
              <a:tr h="158937">
                <a:tc>
                  <a:txBody>
                    <a:bodyPr/>
                    <a:lstStyle/>
                    <a:p>
                      <a:pPr algn="l" fontAlgn="ctr"/>
                      <a:r>
                        <a:rPr lang="en-US" sz="1000" b="1" i="0" u="none" strike="noStrike">
                          <a:solidFill>
                            <a:srgbClr val="000000"/>
                          </a:solidFill>
                          <a:effectLst/>
                          <a:latin typeface="Arial Narrow" panose="020B0606020202030204" pitchFamily="34" charset="0"/>
                        </a:rPr>
                        <a:t>b) Air Dryer Unit</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4,500,000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g) Condenser fan</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12,373,704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3986516"/>
                  </a:ext>
                </a:extLst>
              </a:tr>
              <a:tr h="151369">
                <a:tc>
                  <a:txBody>
                    <a:bodyPr/>
                    <a:lstStyle/>
                    <a:p>
                      <a:pPr algn="l" fontAlgn="ctr"/>
                      <a:r>
                        <a:rPr lang="en-US" sz="1000" b="1" i="0" u="none" strike="noStrike">
                          <a:solidFill>
                            <a:srgbClr val="000000"/>
                          </a:solidFill>
                          <a:effectLst/>
                          <a:latin typeface="Arial Narrow" panose="020B0606020202030204" pitchFamily="34" charset="0"/>
                        </a:rPr>
                        <a:t>c) Aux Compressor</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h) Evaporator fan</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0486138"/>
                  </a:ext>
                </a:extLst>
              </a:tr>
              <a:tr h="181642">
                <a:tc>
                  <a:txBody>
                    <a:bodyPr/>
                    <a:lstStyle/>
                    <a:p>
                      <a:pPr algn="l" fontAlgn="ctr"/>
                      <a:r>
                        <a:rPr lang="en-US" sz="1000" b="1" i="0" u="none" strike="noStrike">
                          <a:solidFill>
                            <a:srgbClr val="000000"/>
                          </a:solidFill>
                          <a:effectLst/>
                          <a:latin typeface="Arial Narrow" panose="020B0606020202030204" pitchFamily="34" charset="0"/>
                        </a:rPr>
                        <a:t>d) Hose pipe</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i) Inverter for compressor</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12,373,704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7568160"/>
                  </a:ext>
                </a:extLst>
              </a:tr>
              <a:tr h="151369">
                <a:tc>
                  <a:txBody>
                    <a:bodyPr/>
                    <a:lstStyle/>
                    <a:p>
                      <a:pPr algn="l" fontAlgn="ctr"/>
                      <a:r>
                        <a:rPr lang="en-US" sz="1000" b="1" i="0" u="none" strike="noStrike">
                          <a:solidFill>
                            <a:srgbClr val="000000"/>
                          </a:solidFill>
                          <a:effectLst/>
                          <a:latin typeface="Arial Narrow" panose="020B0606020202030204" pitchFamily="34" charset="0"/>
                        </a:rPr>
                        <a:t>e) BCU</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2,800,000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j) Air conditioning control panel</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1192897"/>
                  </a:ext>
                </a:extLst>
              </a:tr>
              <a:tr h="151369">
                <a:tc>
                  <a:txBody>
                    <a:bodyPr/>
                    <a:lstStyle/>
                    <a:p>
                      <a:pPr algn="l" fontAlgn="ctr"/>
                      <a:r>
                        <a:rPr lang="en-US" sz="1000" b="1" i="0" u="none" strike="noStrike">
                          <a:solidFill>
                            <a:srgbClr val="000000"/>
                          </a:solidFill>
                          <a:effectLst/>
                          <a:latin typeface="Arial Narrow" panose="020B0606020202030204" pitchFamily="34" charset="0"/>
                        </a:rPr>
                        <a:t>f) Precontrol valve </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k) Smoke detector unit</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171,857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dirty="0">
                          <a:solidFill>
                            <a:srgbClr val="000000"/>
                          </a:solidFill>
                          <a:effectLst/>
                          <a:latin typeface="Arial Narrow" panose="020B0606020202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104571"/>
                  </a:ext>
                </a:extLst>
              </a:tr>
              <a:tr h="158937">
                <a:tc>
                  <a:txBody>
                    <a:bodyPr/>
                    <a:lstStyle/>
                    <a:p>
                      <a:pPr algn="l" fontAlgn="ctr"/>
                      <a:r>
                        <a:rPr lang="en-US" sz="1000" b="1" i="0" u="none" strike="noStrike">
                          <a:solidFill>
                            <a:srgbClr val="000000"/>
                          </a:solidFill>
                          <a:effectLst/>
                          <a:latin typeface="Arial Narrow" panose="020B0606020202030204" pitchFamily="34" charset="0"/>
                        </a:rPr>
                        <a:t>g) BECU</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l) Others</a:t>
                      </a:r>
                    </a:p>
                  </a:txBody>
                  <a:tcPr marL="110006"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15</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049436"/>
                  </a:ext>
                </a:extLst>
              </a:tr>
              <a:tr h="151369">
                <a:tc>
                  <a:txBody>
                    <a:bodyPr/>
                    <a:lstStyle/>
                    <a:p>
                      <a:pPr algn="l" fontAlgn="ctr"/>
                      <a:r>
                        <a:rPr lang="en-US" sz="1000" b="1" i="0" u="none" strike="noStrike">
                          <a:solidFill>
                            <a:srgbClr val="000000"/>
                          </a:solidFill>
                          <a:effectLst/>
                          <a:latin typeface="Arial Narrow" panose="020B0606020202030204" pitchFamily="34" charset="0"/>
                        </a:rPr>
                        <a:t>h) Tread Brake Unit</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25,000,000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21327445"/>
                  </a:ext>
                </a:extLst>
              </a:tr>
              <a:tr h="151369">
                <a:tc>
                  <a:txBody>
                    <a:bodyPr/>
                    <a:lstStyle/>
                    <a:p>
                      <a:pPr algn="l" fontAlgn="ctr"/>
                      <a:r>
                        <a:rPr lang="en-US" sz="1000" b="1" i="0" u="none" strike="noStrike">
                          <a:solidFill>
                            <a:srgbClr val="000000"/>
                          </a:solidFill>
                          <a:effectLst/>
                          <a:latin typeface="Arial Narrow" panose="020B0606020202030204" pitchFamily="34" charset="0"/>
                        </a:rPr>
                        <a:t>i) Anti-Skid Valve</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2760820236"/>
                  </a:ext>
                </a:extLst>
              </a:tr>
              <a:tr h="158937">
                <a:tc>
                  <a:txBody>
                    <a:bodyPr/>
                    <a:lstStyle/>
                    <a:p>
                      <a:pPr algn="l" fontAlgn="ctr"/>
                      <a:r>
                        <a:rPr lang="en-US" sz="1000" b="1" i="0" u="none" strike="noStrike">
                          <a:solidFill>
                            <a:srgbClr val="000000"/>
                          </a:solidFill>
                          <a:effectLst/>
                          <a:latin typeface="Arial Narrow" panose="020B0606020202030204" pitchFamily="34" charset="0"/>
                        </a:rPr>
                        <a:t>j) Levelling Valve</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554964803"/>
                  </a:ext>
                </a:extLst>
              </a:tr>
              <a:tr h="151369">
                <a:tc>
                  <a:txBody>
                    <a:bodyPr/>
                    <a:lstStyle/>
                    <a:p>
                      <a:pPr algn="l" fontAlgn="ctr"/>
                      <a:r>
                        <a:rPr lang="en-US" sz="1000" b="1" i="0" u="none" strike="noStrike">
                          <a:solidFill>
                            <a:srgbClr val="000000"/>
                          </a:solidFill>
                          <a:effectLst/>
                          <a:latin typeface="Arial Narrow" panose="020B0606020202030204" pitchFamily="34" charset="0"/>
                        </a:rPr>
                        <a:t>k) TYFON</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30,000,000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909560552"/>
                  </a:ext>
                </a:extLst>
              </a:tr>
              <a:tr h="151369">
                <a:tc>
                  <a:txBody>
                    <a:bodyPr/>
                    <a:lstStyle/>
                    <a:p>
                      <a:pPr algn="l" fontAlgn="ctr"/>
                      <a:r>
                        <a:rPr lang="en-US" sz="1000" b="1" i="0" u="none" strike="noStrike">
                          <a:solidFill>
                            <a:srgbClr val="000000"/>
                          </a:solidFill>
                          <a:effectLst/>
                          <a:latin typeface="Arial Narrow" panose="020B0606020202030204" pitchFamily="34" charset="0"/>
                        </a:rPr>
                        <a:t>l) Hose pipe</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3648217014"/>
                  </a:ext>
                </a:extLst>
              </a:tr>
              <a:tr h="158937">
                <a:tc>
                  <a:txBody>
                    <a:bodyPr/>
                    <a:lstStyle/>
                    <a:p>
                      <a:pPr algn="l" fontAlgn="ctr"/>
                      <a:r>
                        <a:rPr lang="en-US" sz="1000" b="1" i="0" u="none" strike="noStrike">
                          <a:solidFill>
                            <a:srgbClr val="000000"/>
                          </a:solidFill>
                          <a:effectLst/>
                          <a:latin typeface="Arial Narrow" panose="020B0606020202030204" pitchFamily="34" charset="0"/>
                        </a:rPr>
                        <a:t>m) Others</a:t>
                      </a:r>
                    </a:p>
                  </a:txBody>
                  <a:tcPr marL="55003"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1257336639"/>
                  </a:ext>
                </a:extLst>
              </a:tr>
            </a:tbl>
          </a:graphicData>
        </a:graphic>
      </p:graphicFrame>
    </p:spTree>
    <p:extLst>
      <p:ext uri="{BB962C8B-B14F-4D97-AF65-F5344CB8AC3E}">
        <p14:creationId xmlns:p14="http://schemas.microsoft.com/office/powerpoint/2010/main" val="3727098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88DB072D-A684-4BCC-9103-58ED8C538F95}"/>
              </a:ext>
            </a:extLst>
          </p:cNvPr>
          <p:cNvSpPr txBox="1">
            <a:spLocks/>
          </p:cNvSpPr>
          <p:nvPr/>
        </p:nvSpPr>
        <p:spPr bwMode="auto">
          <a:xfrm>
            <a:off x="1127464" y="152400"/>
            <a:ext cx="9715161" cy="6858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ko-KR" sz="2000" dirty="0">
                <a:solidFill>
                  <a:schemeClr val="bg1"/>
                </a:solidFill>
                <a:latin typeface="Algerian" pitchFamily="82" charset="0"/>
                <a:ea typeface="Gulim" pitchFamily="34" charset="-127"/>
              </a:rPr>
              <a:t> </a:t>
            </a:r>
            <a:r>
              <a:rPr lang="en-US" altLang="ko-KR" sz="2000" dirty="0" err="1">
                <a:solidFill>
                  <a:schemeClr val="bg1"/>
                </a:solidFill>
                <a:latin typeface="Algerian" pitchFamily="82" charset="0"/>
                <a:ea typeface="Gulim" pitchFamily="34" charset="-127"/>
              </a:rPr>
              <a:t>mdbcf</a:t>
            </a:r>
            <a:r>
              <a:rPr lang="en-US" altLang="ko-KR" sz="2000" dirty="0">
                <a:solidFill>
                  <a:schemeClr val="bg1"/>
                </a:solidFill>
                <a:latin typeface="Algerian" pitchFamily="82" charset="0"/>
                <a:ea typeface="Gulim" pitchFamily="34" charset="-127"/>
              </a:rPr>
              <a:t> of Reliability verification trains (MDBF 100,000 km)</a:t>
            </a:r>
            <a:endParaRPr lang="en-US" altLang="ko-KR" sz="1600" dirty="0">
              <a:solidFill>
                <a:schemeClr val="bg1"/>
              </a:solidFill>
              <a:latin typeface="Algerian" pitchFamily="82" charset="0"/>
              <a:ea typeface="Gulim" pitchFamily="34" charset="-127"/>
            </a:endParaRPr>
          </a:p>
        </p:txBody>
      </p:sp>
      <p:sp>
        <p:nvSpPr>
          <p:cNvPr id="2" name="Slide Number Placeholder 1">
            <a:extLst>
              <a:ext uri="{FF2B5EF4-FFF2-40B4-BE49-F238E27FC236}">
                <a16:creationId xmlns:a16="http://schemas.microsoft.com/office/drawing/2014/main" id="{8330C0DF-E64A-4D50-A481-6880CECFF656}"/>
              </a:ext>
            </a:extLst>
          </p:cNvPr>
          <p:cNvSpPr>
            <a:spLocks noGrp="1"/>
          </p:cNvSpPr>
          <p:nvPr>
            <p:ph type="sldNum" sz="quarter" idx="12"/>
          </p:nvPr>
        </p:nvSpPr>
        <p:spPr/>
        <p:txBody>
          <a:bodyPr/>
          <a:lstStyle/>
          <a:p>
            <a:fld id="{DE900A00-3DA3-40D9-8627-F4EC14C25FEF}" type="slidenum">
              <a:rPr lang="en-US" smtClean="0"/>
              <a:t>12</a:t>
            </a:fld>
            <a:endParaRPr lang="en-US"/>
          </a:p>
        </p:txBody>
      </p:sp>
      <p:graphicFrame>
        <p:nvGraphicFramePr>
          <p:cNvPr id="4" name="Table 3">
            <a:extLst>
              <a:ext uri="{FF2B5EF4-FFF2-40B4-BE49-F238E27FC236}">
                <a16:creationId xmlns:a16="http://schemas.microsoft.com/office/drawing/2014/main" id="{CCA37C3D-03A0-4EEF-B3DE-D10E319028DD}"/>
              </a:ext>
            </a:extLst>
          </p:cNvPr>
          <p:cNvGraphicFramePr>
            <a:graphicFrameLocks noGrp="1"/>
          </p:cNvGraphicFramePr>
          <p:nvPr>
            <p:extLst>
              <p:ext uri="{D42A27DB-BD31-4B8C-83A1-F6EECF244321}">
                <p14:modId xmlns:p14="http://schemas.microsoft.com/office/powerpoint/2010/main" val="3558629166"/>
              </p:ext>
            </p:extLst>
          </p:nvPr>
        </p:nvGraphicFramePr>
        <p:xfrm>
          <a:off x="1198485" y="1065320"/>
          <a:ext cx="9636764" cy="5270143"/>
        </p:xfrm>
        <a:graphic>
          <a:graphicData uri="http://schemas.openxmlformats.org/drawingml/2006/table">
            <a:tbl>
              <a:tblPr/>
              <a:tblGrid>
                <a:gridCol w="1911353">
                  <a:extLst>
                    <a:ext uri="{9D8B030D-6E8A-4147-A177-3AD203B41FA5}">
                      <a16:colId xmlns:a16="http://schemas.microsoft.com/office/drawing/2014/main" val="1512596681"/>
                    </a:ext>
                  </a:extLst>
                </a:gridCol>
                <a:gridCol w="548550">
                  <a:extLst>
                    <a:ext uri="{9D8B030D-6E8A-4147-A177-3AD203B41FA5}">
                      <a16:colId xmlns:a16="http://schemas.microsoft.com/office/drawing/2014/main" val="1219112261"/>
                    </a:ext>
                  </a:extLst>
                </a:gridCol>
                <a:gridCol w="548550">
                  <a:extLst>
                    <a:ext uri="{9D8B030D-6E8A-4147-A177-3AD203B41FA5}">
                      <a16:colId xmlns:a16="http://schemas.microsoft.com/office/drawing/2014/main" val="3076364301"/>
                    </a:ext>
                  </a:extLst>
                </a:gridCol>
                <a:gridCol w="548550">
                  <a:extLst>
                    <a:ext uri="{9D8B030D-6E8A-4147-A177-3AD203B41FA5}">
                      <a16:colId xmlns:a16="http://schemas.microsoft.com/office/drawing/2014/main" val="1875909985"/>
                    </a:ext>
                  </a:extLst>
                </a:gridCol>
                <a:gridCol w="548550">
                  <a:extLst>
                    <a:ext uri="{9D8B030D-6E8A-4147-A177-3AD203B41FA5}">
                      <a16:colId xmlns:a16="http://schemas.microsoft.com/office/drawing/2014/main" val="159171601"/>
                    </a:ext>
                  </a:extLst>
                </a:gridCol>
                <a:gridCol w="548550">
                  <a:extLst>
                    <a:ext uri="{9D8B030D-6E8A-4147-A177-3AD203B41FA5}">
                      <a16:colId xmlns:a16="http://schemas.microsoft.com/office/drawing/2014/main" val="3872783190"/>
                    </a:ext>
                  </a:extLst>
                </a:gridCol>
                <a:gridCol w="548550">
                  <a:extLst>
                    <a:ext uri="{9D8B030D-6E8A-4147-A177-3AD203B41FA5}">
                      <a16:colId xmlns:a16="http://schemas.microsoft.com/office/drawing/2014/main" val="161242917"/>
                    </a:ext>
                  </a:extLst>
                </a:gridCol>
                <a:gridCol w="1691361">
                  <a:extLst>
                    <a:ext uri="{9D8B030D-6E8A-4147-A177-3AD203B41FA5}">
                      <a16:colId xmlns:a16="http://schemas.microsoft.com/office/drawing/2014/main" val="2142755098"/>
                    </a:ext>
                  </a:extLst>
                </a:gridCol>
                <a:gridCol w="548550">
                  <a:extLst>
                    <a:ext uri="{9D8B030D-6E8A-4147-A177-3AD203B41FA5}">
                      <a16:colId xmlns:a16="http://schemas.microsoft.com/office/drawing/2014/main" val="3536382300"/>
                    </a:ext>
                  </a:extLst>
                </a:gridCol>
                <a:gridCol w="548550">
                  <a:extLst>
                    <a:ext uri="{9D8B030D-6E8A-4147-A177-3AD203B41FA5}">
                      <a16:colId xmlns:a16="http://schemas.microsoft.com/office/drawing/2014/main" val="2159918303"/>
                    </a:ext>
                  </a:extLst>
                </a:gridCol>
                <a:gridCol w="548550">
                  <a:extLst>
                    <a:ext uri="{9D8B030D-6E8A-4147-A177-3AD203B41FA5}">
                      <a16:colId xmlns:a16="http://schemas.microsoft.com/office/drawing/2014/main" val="821429295"/>
                    </a:ext>
                  </a:extLst>
                </a:gridCol>
                <a:gridCol w="548550">
                  <a:extLst>
                    <a:ext uri="{9D8B030D-6E8A-4147-A177-3AD203B41FA5}">
                      <a16:colId xmlns:a16="http://schemas.microsoft.com/office/drawing/2014/main" val="1023005676"/>
                    </a:ext>
                  </a:extLst>
                </a:gridCol>
                <a:gridCol w="548550">
                  <a:extLst>
                    <a:ext uri="{9D8B030D-6E8A-4147-A177-3AD203B41FA5}">
                      <a16:colId xmlns:a16="http://schemas.microsoft.com/office/drawing/2014/main" val="2439139483"/>
                    </a:ext>
                  </a:extLst>
                </a:gridCol>
              </a:tblGrid>
              <a:tr h="323677">
                <a:tc>
                  <a:txBody>
                    <a:bodyPr/>
                    <a:lstStyle/>
                    <a:p>
                      <a:pPr algn="ctr" fontAlgn="ctr"/>
                      <a:r>
                        <a:rPr lang="en-US" sz="1000" b="1" i="0" u="none" strike="noStrike" dirty="0">
                          <a:solidFill>
                            <a:srgbClr val="000000"/>
                          </a:solidFill>
                          <a:effectLst/>
                          <a:latin typeface="Arial Narrow" panose="020B0606020202030204" pitchFamily="34" charset="0"/>
                        </a:rPr>
                        <a:t>System/Subsystem /</a:t>
                      </a:r>
                      <a:br>
                        <a:rPr lang="en-US" sz="1000" b="1" i="0" u="none" strike="noStrike" dirty="0">
                          <a:solidFill>
                            <a:srgbClr val="000000"/>
                          </a:solidFill>
                          <a:effectLst/>
                          <a:latin typeface="Arial Narrow" panose="020B0606020202030204" pitchFamily="34" charset="0"/>
                        </a:rPr>
                      </a:br>
                      <a:r>
                        <a:rPr lang="en-US" sz="1000" b="1" i="0" u="none" strike="noStrike" dirty="0">
                          <a:solidFill>
                            <a:srgbClr val="000000"/>
                          </a:solidFill>
                          <a:effectLst/>
                          <a:latin typeface="Arial Narrow" panose="020B0606020202030204" pitchFamily="34" charset="0"/>
                        </a:rPr>
                        <a:t>Equipment/Component</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Target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MDBCF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Result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6M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Nov/22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000" b="1" i="0" u="none" strike="noStrike">
                          <a:solidFill>
                            <a:srgbClr val="000000"/>
                          </a:solidFill>
                          <a:effectLst/>
                          <a:latin typeface="Arial Narrow" panose="020B0606020202030204" pitchFamily="34" charset="0"/>
                        </a:rPr>
                        <a:t>System/Subsystem /</a:t>
                      </a:r>
                      <a:br>
                        <a:rPr lang="en-US" sz="1000" b="1" i="0" u="none" strike="noStrike">
                          <a:solidFill>
                            <a:srgbClr val="000000"/>
                          </a:solidFill>
                          <a:effectLst/>
                          <a:latin typeface="Arial Narrow" panose="020B0606020202030204" pitchFamily="34" charset="0"/>
                        </a:rPr>
                      </a:br>
                      <a:r>
                        <a:rPr lang="en-US" sz="1000" b="1" i="0" u="none" strike="noStrike">
                          <a:solidFill>
                            <a:srgbClr val="000000"/>
                          </a:solidFill>
                          <a:effectLst/>
                          <a:latin typeface="Arial Narrow" panose="020B0606020202030204" pitchFamily="34" charset="0"/>
                        </a:rPr>
                        <a:t>Equipment/Component</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Target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MDBCF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Result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6M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Nov/22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2817934"/>
                  </a:ext>
                </a:extLst>
              </a:tr>
              <a:tr h="190399">
                <a:tc>
                  <a:txBody>
                    <a:bodyPr/>
                    <a:lstStyle/>
                    <a:p>
                      <a:pPr algn="l" fontAlgn="ctr"/>
                      <a:r>
                        <a:rPr lang="en-US" sz="1000" b="1" i="0" u="none" strike="noStrike" dirty="0">
                          <a:solidFill>
                            <a:srgbClr val="000000"/>
                          </a:solidFill>
                          <a:effectLst/>
                          <a:latin typeface="Arial Narrow" panose="020B0606020202030204" pitchFamily="34" charset="0"/>
                        </a:rPr>
                        <a:t>Communication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15,000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17,778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Couplers and Draft Gear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1734498"/>
                  </a:ext>
                </a:extLst>
              </a:tr>
              <a:tr h="190399">
                <a:tc>
                  <a:txBody>
                    <a:bodyPr/>
                    <a:lstStyle/>
                    <a:p>
                      <a:pPr algn="l" fontAlgn="ctr"/>
                      <a:r>
                        <a:rPr lang="en-US" sz="1000" b="1" i="0" u="none" strike="noStrike" dirty="0">
                          <a:solidFill>
                            <a:srgbClr val="000000"/>
                          </a:solidFill>
                          <a:effectLst/>
                          <a:latin typeface="Arial Narrow" panose="020B0606020202030204" pitchFamily="34" charset="0"/>
                        </a:rPr>
                        <a:t>a) PIS control unit</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a) Automatic coupler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4,600,000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9752800"/>
                  </a:ext>
                </a:extLst>
              </a:tr>
              <a:tr h="190399">
                <a:tc>
                  <a:txBody>
                    <a:bodyPr/>
                    <a:lstStyle/>
                    <a:p>
                      <a:pPr algn="l" fontAlgn="ctr"/>
                      <a:r>
                        <a:rPr lang="en-US" sz="1000" b="1" i="0" u="none" strike="noStrike" dirty="0">
                          <a:solidFill>
                            <a:srgbClr val="000000"/>
                          </a:solidFill>
                          <a:effectLst/>
                          <a:latin typeface="Arial Narrow" panose="020B0606020202030204" pitchFamily="34" charset="0"/>
                        </a:rPr>
                        <a:t>b) Saloon control unit</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b) Semi permanent coupler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7,000,000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1046692"/>
                  </a:ext>
                </a:extLst>
              </a:tr>
              <a:tr h="190399">
                <a:tc>
                  <a:txBody>
                    <a:bodyPr/>
                    <a:lstStyle/>
                    <a:p>
                      <a:pPr algn="l" fontAlgn="ctr"/>
                      <a:r>
                        <a:rPr lang="en-US" sz="1000" b="1" i="0" u="none" strike="noStrike" dirty="0">
                          <a:solidFill>
                            <a:srgbClr val="000000"/>
                          </a:solidFill>
                          <a:effectLst/>
                          <a:latin typeface="Arial Narrow" panose="020B0606020202030204" pitchFamily="34" charset="0"/>
                        </a:rPr>
                        <a:t>c) Main operational panel</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c) Others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1653520"/>
                  </a:ext>
                </a:extLst>
              </a:tr>
              <a:tr h="190399">
                <a:tc>
                  <a:txBody>
                    <a:bodyPr/>
                    <a:lstStyle/>
                    <a:p>
                      <a:pPr algn="l" fontAlgn="ctr"/>
                      <a:r>
                        <a:rPr lang="en-US" sz="1000" b="1" i="0" u="none" strike="noStrike">
                          <a:solidFill>
                            <a:srgbClr val="000000"/>
                          </a:solidFill>
                          <a:effectLst/>
                          <a:latin typeface="Arial Narrow" panose="020B0606020202030204" pitchFamily="34" charset="0"/>
                        </a:rPr>
                        <a:t>d) Cab loudspeaker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Bogies &amp; Suspension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150,000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46,870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0702542"/>
                  </a:ext>
                </a:extLst>
              </a:tr>
              <a:tr h="190399">
                <a:tc>
                  <a:txBody>
                    <a:bodyPr/>
                    <a:lstStyle/>
                    <a:p>
                      <a:pPr algn="l" fontAlgn="ctr"/>
                      <a:r>
                        <a:rPr lang="en-US" sz="1000" b="1" i="0" u="none" strike="noStrike">
                          <a:solidFill>
                            <a:srgbClr val="000000"/>
                          </a:solidFill>
                          <a:effectLst/>
                          <a:latin typeface="Arial Narrow" panose="020B0606020202030204" pitchFamily="34" charset="0"/>
                        </a:rPr>
                        <a:t>e) Passenger emergency control unit</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a) Drive gear and coupling</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6,000,000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2672283"/>
                  </a:ext>
                </a:extLst>
              </a:tr>
              <a:tr h="190399">
                <a:tc>
                  <a:txBody>
                    <a:bodyPr/>
                    <a:lstStyle/>
                    <a:p>
                      <a:pPr algn="l" fontAlgn="ctr"/>
                      <a:r>
                        <a:rPr lang="en-US" sz="1000" b="1" i="0" u="none" strike="noStrike">
                          <a:solidFill>
                            <a:srgbClr val="000000"/>
                          </a:solidFill>
                          <a:effectLst/>
                          <a:latin typeface="Arial Narrow" panose="020B0606020202030204" pitchFamily="34" charset="0"/>
                        </a:rPr>
                        <a:t>f) Saloon loudspeaker(SLSP)</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b) Primary suspension</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7777914"/>
                  </a:ext>
                </a:extLst>
              </a:tr>
              <a:tr h="190399">
                <a:tc>
                  <a:txBody>
                    <a:bodyPr/>
                    <a:lstStyle/>
                    <a:p>
                      <a:pPr algn="l" fontAlgn="ctr"/>
                      <a:r>
                        <a:rPr lang="en-US" sz="1000" b="1" i="0" u="none" strike="noStrike">
                          <a:solidFill>
                            <a:srgbClr val="000000"/>
                          </a:solidFill>
                          <a:effectLst/>
                          <a:latin typeface="Arial Narrow" panose="020B0606020202030204" pitchFamily="34" charset="0"/>
                        </a:rPr>
                        <a:t>g) Dynamic route map(DRM)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24,747,408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c) Secondary suspension</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4230645"/>
                  </a:ext>
                </a:extLst>
              </a:tr>
              <a:tr h="309683">
                <a:tc>
                  <a:txBody>
                    <a:bodyPr/>
                    <a:lstStyle/>
                    <a:p>
                      <a:pPr algn="l" fontAlgn="ctr"/>
                      <a:r>
                        <a:rPr lang="en-US" sz="1000" b="1" i="0" u="none" strike="noStrike">
                          <a:solidFill>
                            <a:srgbClr val="000000"/>
                          </a:solidFill>
                          <a:effectLst/>
                          <a:latin typeface="Arial Narrow" panose="020B0606020202030204" pitchFamily="34" charset="0"/>
                        </a:rPr>
                        <a:t>h) 37 inches Liquid Crystal Display(LCD)</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d) ODD</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0582301"/>
                  </a:ext>
                </a:extLst>
              </a:tr>
              <a:tr h="190399">
                <a:tc>
                  <a:txBody>
                    <a:bodyPr/>
                    <a:lstStyle/>
                    <a:p>
                      <a:pPr algn="l" fontAlgn="ctr"/>
                      <a:r>
                        <a:rPr lang="en-US" sz="1000" b="1" i="0" u="none" strike="noStrike">
                          <a:solidFill>
                            <a:srgbClr val="000000"/>
                          </a:solidFill>
                          <a:effectLst/>
                          <a:latin typeface="Arial Narrow" panose="020B0606020202030204" pitchFamily="34" charset="0"/>
                        </a:rPr>
                        <a:t>i) Cab switch(CSW)</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e) Vertical Damper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7224704"/>
                  </a:ext>
                </a:extLst>
              </a:tr>
              <a:tr h="190399">
                <a:tc>
                  <a:txBody>
                    <a:bodyPr/>
                    <a:lstStyle/>
                    <a:p>
                      <a:pPr algn="l" fontAlgn="ctr"/>
                      <a:r>
                        <a:rPr lang="en-US" sz="1000" b="1" i="0" u="none" strike="noStrike">
                          <a:solidFill>
                            <a:srgbClr val="000000"/>
                          </a:solidFill>
                          <a:effectLst/>
                          <a:latin typeface="Arial Narrow" panose="020B0606020202030204" pitchFamily="34" charset="0"/>
                        </a:rPr>
                        <a:t>j) Saloon switch(SSW)</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f) Lateral Damper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2473099"/>
                  </a:ext>
                </a:extLst>
              </a:tr>
              <a:tr h="190399">
                <a:tc>
                  <a:txBody>
                    <a:bodyPr/>
                    <a:lstStyle/>
                    <a:p>
                      <a:pPr algn="l" fontAlgn="ctr"/>
                      <a:r>
                        <a:rPr lang="en-US" sz="1000" b="1" i="0" u="none" strike="noStrike">
                          <a:solidFill>
                            <a:srgbClr val="000000"/>
                          </a:solidFill>
                          <a:effectLst/>
                          <a:latin typeface="Arial Narrow" panose="020B0606020202030204" pitchFamily="34" charset="0"/>
                        </a:rPr>
                        <a:t>k) Front display unit(FDU)</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g) Axle Bearing</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8484079"/>
                  </a:ext>
                </a:extLst>
              </a:tr>
              <a:tr h="190399">
                <a:tc>
                  <a:txBody>
                    <a:bodyPr/>
                    <a:lstStyle/>
                    <a:p>
                      <a:pPr algn="l" fontAlgn="ctr"/>
                      <a:r>
                        <a:rPr lang="en-US" sz="1000" b="1" i="0" u="none" strike="noStrike">
                          <a:solidFill>
                            <a:srgbClr val="000000"/>
                          </a:solidFill>
                          <a:effectLst/>
                          <a:latin typeface="Arial Narrow" panose="020B0606020202030204" pitchFamily="34" charset="0"/>
                        </a:rPr>
                        <a:t>l) Train number indicator(TNI)</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h) Others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6506710"/>
                  </a:ext>
                </a:extLst>
              </a:tr>
              <a:tr h="190399">
                <a:tc>
                  <a:txBody>
                    <a:bodyPr/>
                    <a:lstStyle/>
                    <a:p>
                      <a:pPr algn="l" fontAlgn="ctr"/>
                      <a:r>
                        <a:rPr lang="en-US" sz="1000" b="1" i="0" u="none" strike="noStrike">
                          <a:solidFill>
                            <a:srgbClr val="000000"/>
                          </a:solidFill>
                          <a:effectLst/>
                          <a:latin typeface="Arial Narrow" panose="020B0606020202030204" pitchFamily="34" charset="0"/>
                        </a:rPr>
                        <a:t>m) Side display unit(SDU)</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6,186,852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Lighting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32,223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7483937"/>
                  </a:ext>
                </a:extLst>
              </a:tr>
              <a:tr h="190399">
                <a:tc>
                  <a:txBody>
                    <a:bodyPr/>
                    <a:lstStyle/>
                    <a:p>
                      <a:pPr algn="l" fontAlgn="ctr"/>
                      <a:r>
                        <a:rPr lang="en-US" sz="1000" b="1" i="0" u="none" strike="noStrike">
                          <a:solidFill>
                            <a:srgbClr val="000000"/>
                          </a:solidFill>
                          <a:effectLst/>
                          <a:latin typeface="Arial Narrow" panose="020B0606020202030204" pitchFamily="34" charset="0"/>
                        </a:rPr>
                        <a:t>n) Saloon camera(SCAM)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a) Exterior Lights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1,546,713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1675481"/>
                  </a:ext>
                </a:extLst>
              </a:tr>
              <a:tr h="190399">
                <a:tc>
                  <a:txBody>
                    <a:bodyPr/>
                    <a:lstStyle/>
                    <a:p>
                      <a:pPr algn="l" fontAlgn="ctr"/>
                      <a:r>
                        <a:rPr lang="en-US" sz="1000" b="1" i="0" u="none" strike="noStrike">
                          <a:solidFill>
                            <a:srgbClr val="000000"/>
                          </a:solidFill>
                          <a:effectLst/>
                          <a:latin typeface="Arial Narrow" panose="020B0606020202030204" pitchFamily="34" charset="0"/>
                        </a:rPr>
                        <a:t>o) ODD camera(OCAM)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b) Interior Lights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515,571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5866195"/>
                  </a:ext>
                </a:extLst>
              </a:tr>
              <a:tr h="190399">
                <a:tc>
                  <a:txBody>
                    <a:bodyPr/>
                    <a:lstStyle/>
                    <a:p>
                      <a:pPr algn="l" fontAlgn="ctr"/>
                      <a:r>
                        <a:rPr lang="en-US" sz="1000" b="1" i="0" u="none" strike="noStrike">
                          <a:solidFill>
                            <a:srgbClr val="000000"/>
                          </a:solidFill>
                          <a:effectLst/>
                          <a:latin typeface="Arial Narrow" panose="020B0606020202030204" pitchFamily="34" charset="0"/>
                        </a:rPr>
                        <a:t>p) Track view camera(TCAM)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000000"/>
                          </a:solidFill>
                          <a:effectLst/>
                          <a:latin typeface="Arial Narrow" panose="020B0606020202030204" pitchFamily="34" charset="0"/>
                        </a:rPr>
                        <a:t>f) Others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733813"/>
                  </a:ext>
                </a:extLst>
              </a:tr>
              <a:tr h="190399">
                <a:tc>
                  <a:txBody>
                    <a:bodyPr/>
                    <a:lstStyle/>
                    <a:p>
                      <a:pPr algn="l" fontAlgn="ctr"/>
                      <a:r>
                        <a:rPr lang="en-US" sz="1000" b="1" i="0" u="none" strike="noStrike">
                          <a:solidFill>
                            <a:srgbClr val="000000"/>
                          </a:solidFill>
                          <a:effectLst/>
                          <a:latin typeface="Arial Narrow" panose="020B0606020202030204" pitchFamily="34" charset="0"/>
                        </a:rPr>
                        <a:t>q) Front camera(FCAM)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TCMS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1,090,000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193,339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519059"/>
                  </a:ext>
                </a:extLst>
              </a:tr>
              <a:tr h="309683">
                <a:tc>
                  <a:txBody>
                    <a:bodyPr/>
                    <a:lstStyle/>
                    <a:p>
                      <a:pPr algn="l" fontAlgn="ctr"/>
                      <a:r>
                        <a:rPr lang="en-US" sz="1000" b="1" i="0" u="none" strike="noStrike">
                          <a:solidFill>
                            <a:srgbClr val="000000"/>
                          </a:solidFill>
                          <a:effectLst/>
                          <a:latin typeface="Arial Narrow" panose="020B0606020202030204" pitchFamily="34" charset="0"/>
                        </a:rPr>
                        <a:t>r) Detrainment camera(DCAM)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Structure and Vehicle Interior Fittings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100,000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85,929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062696"/>
                  </a:ext>
                </a:extLst>
              </a:tr>
              <a:tr h="309683">
                <a:tc>
                  <a:txBody>
                    <a:bodyPr/>
                    <a:lstStyle/>
                    <a:p>
                      <a:pPr algn="l" fontAlgn="ctr"/>
                      <a:r>
                        <a:rPr lang="en-US" sz="1000" b="1" i="0" u="none" strike="noStrike">
                          <a:solidFill>
                            <a:srgbClr val="000000"/>
                          </a:solidFill>
                          <a:effectLst/>
                          <a:latin typeface="Arial Narrow" panose="020B0606020202030204" pitchFamily="34" charset="0"/>
                        </a:rPr>
                        <a:t>s) Pantograph monitoring camera(PCAM)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1,031,142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0" i="0" u="none" strike="noStrike">
                          <a:solidFill>
                            <a:srgbClr val="000000"/>
                          </a:solidFill>
                          <a:effectLst/>
                          <a:latin typeface="Arial Narrow" panose="020B0606020202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Fire Detection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5,000,000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90,983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136714"/>
                  </a:ext>
                </a:extLst>
              </a:tr>
              <a:tr h="199918">
                <a:tc>
                  <a:txBody>
                    <a:bodyPr/>
                    <a:lstStyle/>
                    <a:p>
                      <a:pPr algn="l" fontAlgn="ctr"/>
                      <a:r>
                        <a:rPr lang="en-US" sz="1000" b="1" i="0" u="none" strike="noStrike">
                          <a:solidFill>
                            <a:srgbClr val="000000"/>
                          </a:solidFill>
                          <a:effectLst/>
                          <a:latin typeface="Arial Narrow" panose="020B0606020202030204" pitchFamily="34" charset="0"/>
                        </a:rPr>
                        <a:t>t) Exterior camera(ECAM)</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2,062,284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fontAlgn="ctr"/>
                      <a:r>
                        <a:rPr lang="en-US" sz="1000" b="1" i="0" u="none" strike="noStrike">
                          <a:solidFill>
                            <a:srgbClr val="000000"/>
                          </a:solidFill>
                          <a:effectLst/>
                          <a:latin typeface="Arial Narrow" panose="020B0606020202030204" pitchFamily="34" charset="0"/>
                        </a:rPr>
                        <a:t>Wiper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Arial Narrow" panose="020B0606020202030204" pitchFamily="34" charset="0"/>
                        </a:rPr>
                        <a:t>90,983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9C0006"/>
                          </a:solidFill>
                          <a:effectLst/>
                          <a:latin typeface="Arial Narrow" panose="020B0606020202030204" pitchFamily="34" charset="0"/>
                        </a:rPr>
                        <a:t>Fail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7CE"/>
                    </a:solidFill>
                  </a:tcPr>
                </a:tc>
                <a:tc>
                  <a:txBody>
                    <a:bodyPr/>
                    <a:lstStyle/>
                    <a:p>
                      <a:pPr algn="ctr" fontAlgn="ctr"/>
                      <a:r>
                        <a:rPr lang="en-US" sz="1000" b="1" i="0" u="none" strike="noStrike">
                          <a:solidFill>
                            <a:srgbClr val="000000"/>
                          </a:solidFill>
                          <a:effectLst/>
                          <a:latin typeface="Arial Narrow" panose="020B060602020203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4255251"/>
                  </a:ext>
                </a:extLst>
              </a:tr>
              <a:tr h="190399">
                <a:tc>
                  <a:txBody>
                    <a:bodyPr/>
                    <a:lstStyle/>
                    <a:p>
                      <a:pPr algn="l" fontAlgn="ctr"/>
                      <a:r>
                        <a:rPr lang="en-US" sz="1000" b="1" i="0" u="none" strike="noStrike">
                          <a:solidFill>
                            <a:srgbClr val="000000"/>
                          </a:solidFill>
                          <a:effectLst/>
                          <a:latin typeface="Arial Narrow" panose="020B0606020202030204" pitchFamily="34" charset="0"/>
                        </a:rPr>
                        <a:t>u) Network Video Recorder(NVR)</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62015167"/>
                  </a:ext>
                </a:extLst>
              </a:tr>
              <a:tr h="190399">
                <a:tc>
                  <a:txBody>
                    <a:bodyPr/>
                    <a:lstStyle/>
                    <a:p>
                      <a:pPr algn="l" fontAlgn="ctr"/>
                      <a:r>
                        <a:rPr lang="en-US" sz="1000" b="1" i="0" u="none" strike="noStrike">
                          <a:solidFill>
                            <a:srgbClr val="000000"/>
                          </a:solidFill>
                          <a:effectLst/>
                          <a:latin typeface="Arial Narrow" panose="020B0606020202030204" pitchFamily="34" charset="0"/>
                        </a:rPr>
                        <a:t>v) External loudspeakers(ELSP)</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1,400,000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No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Pass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2571042053"/>
                  </a:ext>
                </a:extLst>
              </a:tr>
              <a:tr h="199918">
                <a:tc>
                  <a:txBody>
                    <a:bodyPr/>
                    <a:lstStyle/>
                    <a:p>
                      <a:pPr algn="l" fontAlgn="ctr"/>
                      <a:r>
                        <a:rPr lang="en-US" sz="1000" b="1" i="0" u="none" strike="noStrike">
                          <a:solidFill>
                            <a:srgbClr val="000000"/>
                          </a:solidFill>
                          <a:effectLst/>
                          <a:latin typeface="Arial Narrow" panose="020B0606020202030204" pitchFamily="34" charset="0"/>
                        </a:rPr>
                        <a:t>w) Others</a:t>
                      </a:r>
                    </a:p>
                  </a:txBody>
                  <a:tcPr marL="75895"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Narrow" panose="020B060602020203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Arial Narrow" panose="020B0606020202030204" pitchFamily="34" charset="0"/>
                        </a:rPr>
                        <a:t>11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l" fontAlgn="ctr"/>
                      <a:endParaRPr lang="en-US" sz="1050" b="0" i="0" u="none" strike="noStrike" dirty="0">
                        <a:solidFill>
                          <a:srgbClr val="000000"/>
                        </a:solidFill>
                        <a:effectLst/>
                        <a:latin typeface="Calibri" panose="020F050202020403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916623902"/>
                  </a:ext>
                </a:extLst>
              </a:tr>
            </a:tbl>
          </a:graphicData>
        </a:graphic>
      </p:graphicFrame>
    </p:spTree>
    <p:extLst>
      <p:ext uri="{BB962C8B-B14F-4D97-AF65-F5344CB8AC3E}">
        <p14:creationId xmlns:p14="http://schemas.microsoft.com/office/powerpoint/2010/main" val="1869887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A8AB95-A837-42F1-B9B9-CF72BCC481C9}"/>
              </a:ext>
            </a:extLst>
          </p:cNvPr>
          <p:cNvSpPr txBox="1">
            <a:spLocks/>
          </p:cNvSpPr>
          <p:nvPr/>
        </p:nvSpPr>
        <p:spPr bwMode="auto">
          <a:xfrm>
            <a:off x="1349375" y="152400"/>
            <a:ext cx="9493250" cy="6858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ko-KR" sz="2400" dirty="0">
                <a:solidFill>
                  <a:srgbClr val="FFFFFF"/>
                </a:solidFill>
                <a:latin typeface="Algerian" pitchFamily="82" charset="0"/>
                <a:ea typeface="Gulim" pitchFamily="34" charset="-127"/>
              </a:rPr>
              <a:t>7) Pattern Failure</a:t>
            </a:r>
            <a:endParaRPr lang="en-US" altLang="ko-KR" sz="1800" dirty="0">
              <a:solidFill>
                <a:srgbClr val="FF0066"/>
              </a:solidFill>
              <a:latin typeface="Algerian" pitchFamily="82" charset="0"/>
              <a:ea typeface="Gulim" pitchFamily="34" charset="-127"/>
            </a:endParaRPr>
          </a:p>
        </p:txBody>
      </p:sp>
      <p:sp>
        <p:nvSpPr>
          <p:cNvPr id="6" name="TextBox 5">
            <a:extLst>
              <a:ext uri="{FF2B5EF4-FFF2-40B4-BE49-F238E27FC236}">
                <a16:creationId xmlns:a16="http://schemas.microsoft.com/office/drawing/2014/main" id="{76A05DB3-2496-40E3-B413-6AE0D8007007}"/>
              </a:ext>
            </a:extLst>
          </p:cNvPr>
          <p:cNvSpPr txBox="1"/>
          <p:nvPr/>
        </p:nvSpPr>
        <p:spPr>
          <a:xfrm>
            <a:off x="838196" y="1103412"/>
            <a:ext cx="10515603" cy="307777"/>
          </a:xfrm>
          <a:prstGeom prst="rect">
            <a:avLst/>
          </a:prstGeom>
          <a:noFill/>
        </p:spPr>
        <p:txBody>
          <a:bodyPr wrap="square" rtlCol="0">
            <a:spAutoFit/>
          </a:bodyPr>
          <a:lstStyle/>
          <a:p>
            <a:pPr marL="285750" indent="-285750">
              <a:buFont typeface="Wingdings" panose="05000000000000000000" pitchFamily="2" charset="2"/>
              <a:buChar char="u"/>
            </a:pPr>
            <a:r>
              <a:rPr lang="en-US" altLang="ko-KR" sz="1400" b="1" dirty="0">
                <a:solidFill>
                  <a:prstClr val="black"/>
                </a:solidFill>
                <a:latin typeface="Calibri"/>
              </a:rPr>
              <a:t>Period: Oct-Nov 2022 </a:t>
            </a:r>
          </a:p>
        </p:txBody>
      </p:sp>
      <p:sp>
        <p:nvSpPr>
          <p:cNvPr id="2" name="Slide Number Placeholder 1">
            <a:extLst>
              <a:ext uri="{FF2B5EF4-FFF2-40B4-BE49-F238E27FC236}">
                <a16:creationId xmlns:a16="http://schemas.microsoft.com/office/drawing/2014/main" id="{77AC0E56-6101-46B6-AB2E-3225D43C167F}"/>
              </a:ext>
            </a:extLst>
          </p:cNvPr>
          <p:cNvSpPr>
            <a:spLocks noGrp="1"/>
          </p:cNvSpPr>
          <p:nvPr>
            <p:ph type="sldNum" sz="quarter" idx="12"/>
          </p:nvPr>
        </p:nvSpPr>
        <p:spPr/>
        <p:txBody>
          <a:bodyPr/>
          <a:lstStyle/>
          <a:p>
            <a:fld id="{DE900A00-3DA3-40D9-8627-F4EC14C25FEF}" type="slidenum">
              <a:rPr lang="en-US" smtClean="0"/>
              <a:t>13</a:t>
            </a:fld>
            <a:endParaRPr lang="en-US"/>
          </a:p>
        </p:txBody>
      </p:sp>
      <p:graphicFrame>
        <p:nvGraphicFramePr>
          <p:cNvPr id="7" name="Table 6">
            <a:extLst>
              <a:ext uri="{FF2B5EF4-FFF2-40B4-BE49-F238E27FC236}">
                <a16:creationId xmlns:a16="http://schemas.microsoft.com/office/drawing/2014/main" id="{5644601C-0C4C-474F-B756-6EC330E88619}"/>
              </a:ext>
            </a:extLst>
          </p:cNvPr>
          <p:cNvGraphicFramePr>
            <a:graphicFrameLocks noGrp="1"/>
          </p:cNvGraphicFramePr>
          <p:nvPr>
            <p:extLst>
              <p:ext uri="{D42A27DB-BD31-4B8C-83A1-F6EECF244321}">
                <p14:modId xmlns:p14="http://schemas.microsoft.com/office/powerpoint/2010/main" val="1119414308"/>
              </p:ext>
            </p:extLst>
          </p:nvPr>
        </p:nvGraphicFramePr>
        <p:xfrm>
          <a:off x="838197" y="1470493"/>
          <a:ext cx="10515603" cy="5068419"/>
        </p:xfrm>
        <a:graphic>
          <a:graphicData uri="http://schemas.openxmlformats.org/drawingml/2006/table">
            <a:tbl>
              <a:tblPr/>
              <a:tblGrid>
                <a:gridCol w="1489803">
                  <a:extLst>
                    <a:ext uri="{9D8B030D-6E8A-4147-A177-3AD203B41FA5}">
                      <a16:colId xmlns:a16="http://schemas.microsoft.com/office/drawing/2014/main" val="3980371983"/>
                    </a:ext>
                  </a:extLst>
                </a:gridCol>
                <a:gridCol w="1205313">
                  <a:extLst>
                    <a:ext uri="{9D8B030D-6E8A-4147-A177-3AD203B41FA5}">
                      <a16:colId xmlns:a16="http://schemas.microsoft.com/office/drawing/2014/main" val="1473706265"/>
                    </a:ext>
                  </a:extLst>
                </a:gridCol>
                <a:gridCol w="470516">
                  <a:extLst>
                    <a:ext uri="{9D8B030D-6E8A-4147-A177-3AD203B41FA5}">
                      <a16:colId xmlns:a16="http://schemas.microsoft.com/office/drawing/2014/main" val="3857938844"/>
                    </a:ext>
                  </a:extLst>
                </a:gridCol>
                <a:gridCol w="470517">
                  <a:extLst>
                    <a:ext uri="{9D8B030D-6E8A-4147-A177-3AD203B41FA5}">
                      <a16:colId xmlns:a16="http://schemas.microsoft.com/office/drawing/2014/main" val="1657871939"/>
                    </a:ext>
                  </a:extLst>
                </a:gridCol>
                <a:gridCol w="399495">
                  <a:extLst>
                    <a:ext uri="{9D8B030D-6E8A-4147-A177-3AD203B41FA5}">
                      <a16:colId xmlns:a16="http://schemas.microsoft.com/office/drawing/2014/main" val="2135308291"/>
                    </a:ext>
                  </a:extLst>
                </a:gridCol>
                <a:gridCol w="443883">
                  <a:extLst>
                    <a:ext uri="{9D8B030D-6E8A-4147-A177-3AD203B41FA5}">
                      <a16:colId xmlns:a16="http://schemas.microsoft.com/office/drawing/2014/main" val="95348201"/>
                    </a:ext>
                  </a:extLst>
                </a:gridCol>
                <a:gridCol w="461639">
                  <a:extLst>
                    <a:ext uri="{9D8B030D-6E8A-4147-A177-3AD203B41FA5}">
                      <a16:colId xmlns:a16="http://schemas.microsoft.com/office/drawing/2014/main" val="2648005677"/>
                    </a:ext>
                  </a:extLst>
                </a:gridCol>
                <a:gridCol w="399495">
                  <a:extLst>
                    <a:ext uri="{9D8B030D-6E8A-4147-A177-3AD203B41FA5}">
                      <a16:colId xmlns:a16="http://schemas.microsoft.com/office/drawing/2014/main" val="703044090"/>
                    </a:ext>
                  </a:extLst>
                </a:gridCol>
                <a:gridCol w="443884">
                  <a:extLst>
                    <a:ext uri="{9D8B030D-6E8A-4147-A177-3AD203B41FA5}">
                      <a16:colId xmlns:a16="http://schemas.microsoft.com/office/drawing/2014/main" val="421516448"/>
                    </a:ext>
                  </a:extLst>
                </a:gridCol>
                <a:gridCol w="830360">
                  <a:extLst>
                    <a:ext uri="{9D8B030D-6E8A-4147-A177-3AD203B41FA5}">
                      <a16:colId xmlns:a16="http://schemas.microsoft.com/office/drawing/2014/main" val="120496511"/>
                    </a:ext>
                  </a:extLst>
                </a:gridCol>
                <a:gridCol w="501805">
                  <a:extLst>
                    <a:ext uri="{9D8B030D-6E8A-4147-A177-3AD203B41FA5}">
                      <a16:colId xmlns:a16="http://schemas.microsoft.com/office/drawing/2014/main" val="2620352566"/>
                    </a:ext>
                  </a:extLst>
                </a:gridCol>
                <a:gridCol w="428207">
                  <a:extLst>
                    <a:ext uri="{9D8B030D-6E8A-4147-A177-3AD203B41FA5}">
                      <a16:colId xmlns:a16="http://schemas.microsoft.com/office/drawing/2014/main" val="692889273"/>
                    </a:ext>
                  </a:extLst>
                </a:gridCol>
                <a:gridCol w="428207">
                  <a:extLst>
                    <a:ext uri="{9D8B030D-6E8A-4147-A177-3AD203B41FA5}">
                      <a16:colId xmlns:a16="http://schemas.microsoft.com/office/drawing/2014/main" val="1108722463"/>
                    </a:ext>
                  </a:extLst>
                </a:gridCol>
                <a:gridCol w="633390">
                  <a:extLst>
                    <a:ext uri="{9D8B030D-6E8A-4147-A177-3AD203B41FA5}">
                      <a16:colId xmlns:a16="http://schemas.microsoft.com/office/drawing/2014/main" val="3037090252"/>
                    </a:ext>
                  </a:extLst>
                </a:gridCol>
                <a:gridCol w="428207">
                  <a:extLst>
                    <a:ext uri="{9D8B030D-6E8A-4147-A177-3AD203B41FA5}">
                      <a16:colId xmlns:a16="http://schemas.microsoft.com/office/drawing/2014/main" val="2761182176"/>
                    </a:ext>
                  </a:extLst>
                </a:gridCol>
                <a:gridCol w="624468">
                  <a:extLst>
                    <a:ext uri="{9D8B030D-6E8A-4147-A177-3AD203B41FA5}">
                      <a16:colId xmlns:a16="http://schemas.microsoft.com/office/drawing/2014/main" val="1635040878"/>
                    </a:ext>
                  </a:extLst>
                </a:gridCol>
                <a:gridCol w="428207">
                  <a:extLst>
                    <a:ext uri="{9D8B030D-6E8A-4147-A177-3AD203B41FA5}">
                      <a16:colId xmlns:a16="http://schemas.microsoft.com/office/drawing/2014/main" val="1179090571"/>
                    </a:ext>
                  </a:extLst>
                </a:gridCol>
                <a:gridCol w="428207">
                  <a:extLst>
                    <a:ext uri="{9D8B030D-6E8A-4147-A177-3AD203B41FA5}">
                      <a16:colId xmlns:a16="http://schemas.microsoft.com/office/drawing/2014/main" val="2033431434"/>
                    </a:ext>
                  </a:extLst>
                </a:gridCol>
              </a:tblGrid>
              <a:tr h="614454">
                <a:tc>
                  <a:txBody>
                    <a:bodyPr/>
                    <a:lstStyle/>
                    <a:p>
                      <a:pPr algn="ctr" fontAlgn="ctr"/>
                      <a:r>
                        <a:rPr lang="en-US" sz="1000" b="0" i="0" u="none" strike="noStrike" dirty="0">
                          <a:solidFill>
                            <a:srgbClr val="000000"/>
                          </a:solidFill>
                          <a:effectLst/>
                          <a:latin typeface="Arial" panose="020B0604020202020204" pitchFamily="34" charset="0"/>
                        </a:rPr>
                        <a:t>Sub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1000" b="0" i="0" u="none" strike="noStrike">
                          <a:solidFill>
                            <a:srgbClr val="000000"/>
                          </a:solidFill>
                          <a:effectLst/>
                          <a:latin typeface="Arial" panose="020B0604020202020204" pitchFamily="34" charset="0"/>
                        </a:rPr>
                        <a:t>Equipment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gridSpan="7">
                  <a:txBody>
                    <a:bodyPr/>
                    <a:lstStyle/>
                    <a:p>
                      <a:pPr algn="ctr" fontAlgn="ctr"/>
                      <a:r>
                        <a:rPr lang="en-US" sz="1000" b="0" i="0" u="none" strike="noStrike" dirty="0">
                          <a:solidFill>
                            <a:srgbClr val="000000"/>
                          </a:solidFill>
                          <a:effectLst/>
                          <a:latin typeface="Arial" panose="020B0604020202020204" pitchFamily="34" charset="0"/>
                        </a:rPr>
                        <a:t>Quantity per one trainset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b="0" i="0" u="none" strike="noStrike">
                          <a:solidFill>
                            <a:srgbClr val="000000"/>
                          </a:solidFill>
                          <a:effectLst/>
                          <a:latin typeface="Arial" panose="020B0604020202020204" pitchFamily="34" charset="0"/>
                        </a:rPr>
                        <a:t>Item MDBCF</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(equip-km/failure)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1000" b="0" i="0" u="none" strike="noStrike">
                          <a:solidFill>
                            <a:srgbClr val="000000"/>
                          </a:solidFill>
                          <a:effectLst/>
                          <a:latin typeface="Arial" panose="020B0604020202020204" pitchFamily="34" charset="0"/>
                        </a:rPr>
                        <a:t>Item Failure Rate</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(Failure/km)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1000" b="0" i="0" u="none" strike="noStrike">
                          <a:solidFill>
                            <a:srgbClr val="000000"/>
                          </a:solidFill>
                          <a:effectLst/>
                          <a:latin typeface="Arial" panose="020B0604020202020204" pitchFamily="34" charset="0"/>
                        </a:rPr>
                        <a:t>Predicted Failure 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Result</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(Oct' 22 ~ Nov' 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Inconsistent with Predicted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Result</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(Three or more)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Pattern Failure</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(Inconsistent &amp; </a:t>
                      </a:r>
                      <a:r>
                        <a:rPr lang="en-US" sz="1000" b="0" i="0" u="none" strike="noStrike">
                          <a:solidFill>
                            <a:srgbClr val="000000"/>
                          </a:solidFill>
                          <a:effectLst/>
                          <a:latin typeface="맑은 고딕" panose="020B0503020000020004" pitchFamily="34" charset="-127"/>
                          <a:ea typeface="맑은 고딕" panose="020B0503020000020004" pitchFamily="34" charset="-127"/>
                        </a:rPr>
                        <a:t>≥</a:t>
                      </a:r>
                      <a:r>
                        <a:rPr lang="en-US" sz="1000" b="0" i="0" u="none" strike="noStrike">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1000" b="0" i="0" u="none" strike="noStrike">
                          <a:solidFill>
                            <a:srgbClr val="000000"/>
                          </a:solidFill>
                          <a:effectLst/>
                          <a:latin typeface="Arial" panose="020B0604020202020204" pitchFamily="34" charset="0"/>
                        </a:rPr>
                        <a:t>2022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3128805939"/>
                  </a:ext>
                </a:extLst>
              </a:tr>
              <a:tr h="144577">
                <a:tc>
                  <a:txBody>
                    <a:bodyPr/>
                    <a:lstStyle/>
                    <a:p>
                      <a:pPr algn="l" fontAlgn="t"/>
                      <a:r>
                        <a:rPr lang="en-US" sz="1000" b="0" i="0" u="none" strike="noStrike" dirty="0">
                          <a:solidFill>
                            <a:srgbClr val="000000"/>
                          </a:solidFill>
                          <a:effectLst/>
                          <a:latin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DM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DM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000000"/>
                          </a:solidFill>
                          <a:effectLst/>
                          <a:latin typeface="Arial" panose="020B0604020202020204" pitchFamily="34" charset="0"/>
                        </a:rPr>
                        <a:t>Total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fontAlgn="t"/>
                      <a:r>
                        <a:rPr lang="en-US" sz="1000" b="0" i="0" u="none" strike="noStrike">
                          <a:solidFill>
                            <a:srgbClr val="E26B0A"/>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t"/>
                      <a:r>
                        <a:rPr lang="en-US" sz="1000" b="0" i="0" u="none" strike="noStrike">
                          <a:solidFill>
                            <a:srgbClr val="FFFFFF"/>
                          </a:solidFill>
                          <a:effectLst/>
                          <a:latin typeface="Arial" panose="020B0604020202020204" pitchFamily="34" charset="0"/>
                        </a:rPr>
                        <a:t>0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en-US" sz="1000" b="0" i="0" u="none" strike="noStrike">
                          <a:solidFill>
                            <a:srgbClr val="000000"/>
                          </a:solidFill>
                          <a:effectLst/>
                          <a:latin typeface="Arial" panose="020B0604020202020204" pitchFamily="34" charset="0"/>
                        </a:rPr>
                        <a:t>1M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ctr"/>
                      <a:r>
                        <a:rPr lang="en-US" sz="1000" b="0" i="0" u="none" strike="noStrike">
                          <a:solidFill>
                            <a:srgbClr val="000000"/>
                          </a:solidFill>
                          <a:effectLst/>
                          <a:latin typeface="Arial" panose="020B0604020202020204" pitchFamily="34" charset="0"/>
                        </a:rPr>
                        <a:t>2M</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2387894366"/>
                  </a:ext>
                </a:extLst>
              </a:tr>
              <a:tr h="233595">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DM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DM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000000"/>
                          </a:solidFill>
                          <a:effectLst/>
                          <a:latin typeface="Arial" panose="020B0604020202020204" pitchFamily="34" charset="0"/>
                        </a:rPr>
                        <a:t>Total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l" rtl="0" fontAlgn="t"/>
                      <a:r>
                        <a:rPr lang="en-US" sz="1000" b="0" i="0" u="none" strike="noStrike">
                          <a:solidFill>
                            <a:srgbClr val="548235"/>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rtl="0" fontAlgn="t"/>
                      <a:r>
                        <a:rPr lang="en-US" sz="1000" b="0" i="0" u="none" strike="noStrike">
                          <a:solidFill>
                            <a:srgbClr val="FFFFFF"/>
                          </a:solidFill>
                          <a:effectLst/>
                          <a:latin typeface="Arial" panose="020B0604020202020204" pitchFamily="34" charset="0"/>
                        </a:rPr>
                        <a:t>112,561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rtl="0" fontAlgn="t"/>
                      <a:r>
                        <a:rPr lang="en-US" sz="1000" b="0" i="0" u="none" strike="noStrike">
                          <a:solidFill>
                            <a:srgbClr val="000000"/>
                          </a:solidFill>
                          <a:effectLst/>
                          <a:latin typeface="Arial" panose="020B060402020202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rtl="0" fontAlgn="ctr"/>
                      <a:r>
                        <a:rPr lang="en-US" sz="1000" b="0" i="0" u="none" strike="noStrike">
                          <a:solidFill>
                            <a:srgbClr val="00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rtl="0" fontAlgn="ctr"/>
                      <a:r>
                        <a:rPr lang="en-US" sz="1000" b="0" i="0" u="none" strike="noStrike">
                          <a:solidFill>
                            <a:srgbClr val="00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4146353236"/>
                  </a:ext>
                </a:extLst>
              </a:tr>
              <a:tr h="245782">
                <a:tc>
                  <a:txBody>
                    <a:bodyPr/>
                    <a:lstStyle/>
                    <a:p>
                      <a:pPr algn="ctr" fontAlgn="ctr"/>
                      <a:r>
                        <a:rPr lang="en-US" sz="1000" b="0" i="0" u="none" strike="noStrike" dirty="0">
                          <a:solidFill>
                            <a:srgbClr val="000000"/>
                          </a:solidFill>
                          <a:effectLst/>
                          <a:latin typeface="Arial" panose="020B0604020202020204" pitchFamily="34" charset="0"/>
                        </a:rPr>
                        <a:t>Door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1688291245"/>
                  </a:ext>
                </a:extLst>
              </a:tr>
              <a:tr h="231324">
                <a:tc rowSpan="3">
                  <a:txBody>
                    <a:bodyPr/>
                    <a:lstStyle/>
                    <a:p>
                      <a:pPr algn="ctr" fontAlgn="t"/>
                      <a:r>
                        <a:rPr lang="en-US" sz="1000" b="0" i="0" u="none" strike="noStrike">
                          <a:solidFill>
                            <a:srgbClr val="000000"/>
                          </a:solidFill>
                          <a:effectLst/>
                          <a:latin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Arial" panose="020B0604020202020204" pitchFamily="34" charset="0"/>
                        </a:rPr>
                        <a:t>EDCU</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48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5,468,750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1.83E-07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0039951"/>
                  </a:ext>
                </a:extLst>
              </a:tr>
              <a:tr h="231324">
                <a:tc vMerge="1">
                  <a:txBody>
                    <a:bodyPr/>
                    <a:lstStyle/>
                    <a:p>
                      <a:endParaRPr lang="en-US"/>
                    </a:p>
                  </a:txBody>
                  <a:tcPr/>
                </a:tc>
                <a:tc>
                  <a:txBody>
                    <a:bodyPr/>
                    <a:lstStyle/>
                    <a:p>
                      <a:pPr algn="l" fontAlgn="t"/>
                      <a:r>
                        <a:rPr lang="en-US" sz="1000" b="0" i="0" u="none" strike="noStrike">
                          <a:solidFill>
                            <a:srgbClr val="000000"/>
                          </a:solidFill>
                          <a:effectLst/>
                          <a:latin typeface="Arial" panose="020B0604020202020204" pitchFamily="34" charset="0"/>
                        </a:rPr>
                        <a:t>LOS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48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166,666,667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6.00E-09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8582878"/>
                  </a:ext>
                </a:extLst>
              </a:tr>
              <a:tr h="231324">
                <a:tc vMerge="1">
                  <a:txBody>
                    <a:bodyPr/>
                    <a:lstStyle/>
                    <a:p>
                      <a:endParaRPr lang="en-US"/>
                    </a:p>
                  </a:txBody>
                  <a:tcPr/>
                </a:tc>
                <a:tc>
                  <a:txBody>
                    <a:bodyPr/>
                    <a:lstStyle/>
                    <a:p>
                      <a:pPr algn="l" fontAlgn="t"/>
                      <a:r>
                        <a:rPr lang="en-US" sz="1000" b="0" i="0" u="none" strike="noStrike" dirty="0">
                          <a:solidFill>
                            <a:srgbClr val="000000"/>
                          </a:solidFill>
                          <a:effectLst/>
                          <a:latin typeface="Arial" panose="020B0604020202020204" pitchFamily="34" charset="0"/>
                        </a:rPr>
                        <a:t>Saloon to cab door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13,790,147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7.25E-08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7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1375168"/>
                  </a:ext>
                </a:extLst>
              </a:tr>
              <a:tr h="245782">
                <a:tc>
                  <a:txBody>
                    <a:bodyPr/>
                    <a:lstStyle/>
                    <a:p>
                      <a:pPr algn="ctr" fontAlgn="ctr"/>
                      <a:r>
                        <a:rPr lang="en-US" sz="1000" b="0" i="0" u="none" strike="noStrike">
                          <a:solidFill>
                            <a:srgbClr val="000000"/>
                          </a:solidFill>
                          <a:effectLst/>
                          <a:latin typeface="Arial" panose="020B0604020202020204" pitchFamily="34" charset="0"/>
                        </a:rPr>
                        <a:t>HVAC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3311920102"/>
                  </a:ext>
                </a:extLst>
              </a:tr>
              <a:tr h="231324">
                <a:tc>
                  <a:txBody>
                    <a:bodyPr/>
                    <a:lstStyle/>
                    <a:p>
                      <a:pPr algn="ctr" fontAlgn="t"/>
                      <a:r>
                        <a:rPr lang="en-US" sz="1000" b="0" i="0" u="none" strike="noStrike">
                          <a:solidFill>
                            <a:srgbClr val="000000"/>
                          </a:solidFill>
                          <a:effectLst/>
                          <a:latin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Arial" panose="020B0604020202020204" pitchFamily="34" charset="0"/>
                        </a:rPr>
                        <a:t>Smoke detector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175,000,000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5.71E-09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093002"/>
                  </a:ext>
                </a:extLst>
              </a:tr>
              <a:tr h="368673">
                <a:tc>
                  <a:txBody>
                    <a:bodyPr/>
                    <a:lstStyle/>
                    <a:p>
                      <a:pPr algn="ctr" fontAlgn="ctr"/>
                      <a:r>
                        <a:rPr lang="en-US" sz="1000" b="0" i="0" u="none" strike="noStrike">
                          <a:solidFill>
                            <a:srgbClr val="000000"/>
                          </a:solidFill>
                          <a:effectLst/>
                          <a:latin typeface="Arial" panose="020B0604020202020204" pitchFamily="34" charset="0"/>
                        </a:rPr>
                        <a:t>Communication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3968146610"/>
                  </a:ext>
                </a:extLst>
              </a:tr>
              <a:tr h="245782">
                <a:tc>
                  <a:txBody>
                    <a:bodyPr/>
                    <a:lstStyle/>
                    <a:p>
                      <a:pPr algn="ctr" fontAlgn="ctr"/>
                      <a:r>
                        <a:rPr lang="en-US" sz="1000" b="0" i="0" u="none" strike="noStrike">
                          <a:solidFill>
                            <a:srgbClr val="000000"/>
                          </a:solidFill>
                          <a:effectLst/>
                          <a:latin typeface="Arial" panose="020B0604020202020204" pitchFamily="34" charset="0"/>
                        </a:rPr>
                        <a:t>Lighting System</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2814767473"/>
                  </a:ext>
                </a:extLst>
              </a:tr>
              <a:tr h="231324">
                <a:tc>
                  <a:txBody>
                    <a:bodyPr/>
                    <a:lstStyle/>
                    <a:p>
                      <a:pPr algn="l" fontAlgn="t"/>
                      <a:r>
                        <a:rPr lang="en-US" sz="1000" b="0" i="0" u="none" strike="noStrike">
                          <a:solidFill>
                            <a:srgbClr val="000000"/>
                          </a:solidFill>
                          <a:effectLst/>
                          <a:latin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panose="020B0604020202020204" pitchFamily="34" charset="0"/>
                        </a:rPr>
                        <a:t>Interior Lights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30,158,494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3.32E-08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0113529"/>
                  </a:ext>
                </a:extLst>
              </a:tr>
              <a:tr h="231324">
                <a:tc>
                  <a:txBody>
                    <a:bodyPr/>
                    <a:lstStyle/>
                    <a:p>
                      <a:pPr algn="l" fontAlgn="t"/>
                      <a:r>
                        <a:rPr lang="en-US" sz="1000" b="0" i="0" u="none" strike="noStrike">
                          <a:solidFill>
                            <a:srgbClr val="000000"/>
                          </a:solidFill>
                          <a:effectLst/>
                          <a:latin typeface="Arial" panose="020B0604020202020204" pitchFamily="34" charset="0"/>
                        </a:rPr>
                        <a:t>TCMS</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1,160,536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8.62E-07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11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1699289"/>
                  </a:ext>
                </a:extLst>
              </a:tr>
              <a:tr h="231324">
                <a:tc>
                  <a:txBody>
                    <a:bodyPr/>
                    <a:lstStyle/>
                    <a:p>
                      <a:pPr algn="l" fontAlgn="ctr"/>
                      <a:r>
                        <a:rPr lang="en-US" sz="1000" b="0" i="0" u="none" strike="noStrike">
                          <a:solidFill>
                            <a:srgbClr val="000000"/>
                          </a:solidFill>
                          <a:effectLst/>
                          <a:latin typeface="Arial" panose="020B0604020202020204" pitchFamily="34" charset="0"/>
                        </a:rPr>
                        <a:t>Structure and Vehicle Interior Fittings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191,335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5.23E-06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11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734367"/>
                  </a:ext>
                </a:extLst>
              </a:tr>
              <a:tr h="231324">
                <a:tc>
                  <a:txBody>
                    <a:bodyPr/>
                    <a:lstStyle/>
                    <a:p>
                      <a:pPr algn="l" fontAlgn="t"/>
                      <a:r>
                        <a:rPr lang="en-US" sz="1000" b="0" i="0" u="none" strike="noStrike">
                          <a:solidFill>
                            <a:srgbClr val="000000"/>
                          </a:solidFill>
                          <a:effectLst/>
                          <a:latin typeface="Arial" panose="020B0604020202020204" pitchFamily="34" charset="0"/>
                        </a:rPr>
                        <a:t>Fire Detection System</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5,608,974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1.78E-07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11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8355616"/>
                  </a:ext>
                </a:extLst>
              </a:tr>
              <a:tr h="231324">
                <a:tc>
                  <a:txBody>
                    <a:bodyPr/>
                    <a:lstStyle/>
                    <a:p>
                      <a:pPr algn="l" fontAlgn="t"/>
                      <a:r>
                        <a:rPr lang="en-US" sz="1000" b="0" i="0" u="none" strike="noStrike">
                          <a:solidFill>
                            <a:srgbClr val="000000"/>
                          </a:solidFill>
                          <a:effectLst/>
                          <a:latin typeface="Arial" panose="020B0604020202020204" pitchFamily="34" charset="0"/>
                        </a:rPr>
                        <a:t>Wiper </a:t>
                      </a:r>
                    </a:p>
                  </a:txBody>
                  <a:tcPr marL="0" marR="0" marT="0"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215,255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4.65E-06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Inconsistent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9C0006"/>
                          </a:solidFill>
                          <a:effectLst/>
                          <a:latin typeface="Arial" panose="020B0604020202020204" pitchFamily="34" charset="0"/>
                        </a:rPr>
                        <a:t>Pattern Failure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B0604020202020204" pitchFamily="34" charset="0"/>
                        </a:rPr>
                        <a:t>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B0604020202020204" pitchFamily="34" charset="0"/>
                        </a:rPr>
                        <a:t>11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6820971"/>
                  </a:ext>
                </a:extLst>
              </a:tr>
            </a:tbl>
          </a:graphicData>
        </a:graphic>
      </p:graphicFrame>
    </p:spTree>
    <p:extLst>
      <p:ext uri="{BB962C8B-B14F-4D97-AF65-F5344CB8AC3E}">
        <p14:creationId xmlns:p14="http://schemas.microsoft.com/office/powerpoint/2010/main" val="3005825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bwMode="auto">
          <a:xfrm>
            <a:off x="1349375" y="152400"/>
            <a:ext cx="9493250"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altLang="ko-KR" sz="2400" dirty="0">
                <a:solidFill>
                  <a:srgbClr val="FFFFFF"/>
                </a:solidFill>
                <a:latin typeface="Algerian" pitchFamily="82" charset="0"/>
                <a:ea typeface="Gulim" pitchFamily="34" charset="-127"/>
              </a:rPr>
              <a:t>8) Availability of trains</a:t>
            </a:r>
            <a:endParaRPr lang="en-US" altLang="ko-KR" sz="2400" dirty="0">
              <a:solidFill>
                <a:srgbClr val="FF0066"/>
              </a:solidFill>
              <a:latin typeface="Algerian" pitchFamily="82" charset="0"/>
              <a:ea typeface="Gulim" pitchFamily="34" charset="-127"/>
            </a:endParaRPr>
          </a:p>
        </p:txBody>
      </p:sp>
      <p:sp>
        <p:nvSpPr>
          <p:cNvPr id="7" name="TextBox 6"/>
          <p:cNvSpPr txBox="1"/>
          <p:nvPr/>
        </p:nvSpPr>
        <p:spPr>
          <a:xfrm>
            <a:off x="1463040" y="772161"/>
            <a:ext cx="7874000" cy="638636"/>
          </a:xfrm>
          <a:prstGeom prst="rect">
            <a:avLst/>
          </a:prstGeom>
          <a:noFill/>
        </p:spPr>
        <p:txBody>
          <a:bodyPr wrap="square" rtlCol="0">
            <a:spAutoFit/>
          </a:bodyPr>
          <a:lstStyle/>
          <a:p>
            <a:pPr marL="285750" indent="-285750">
              <a:spcAft>
                <a:spcPts val="900"/>
              </a:spcAft>
              <a:buFont typeface="Wingdings" panose="05000000000000000000" pitchFamily="2" charset="2"/>
              <a:buChar char="u"/>
            </a:pPr>
            <a:r>
              <a:rPr lang="en-US" altLang="ko-KR" sz="1400" b="1" i="1" dirty="0">
                <a:effectLst>
                  <a:outerShdw blurRad="38100" dist="38100" dir="2700000" algn="tl">
                    <a:srgbClr val="000000">
                      <a:alpha val="43137"/>
                    </a:srgbClr>
                  </a:outerShdw>
                </a:effectLst>
              </a:rPr>
              <a:t>SUMMARY of Availability Demonstration</a:t>
            </a:r>
          </a:p>
          <a:p>
            <a:pPr>
              <a:spcAft>
                <a:spcPts val="900"/>
              </a:spcAft>
            </a:pPr>
            <a:endParaRPr lang="en-US" altLang="ko-KR" sz="1400" b="1" i="1" dirty="0">
              <a:effectLst>
                <a:outerShdw blurRad="38100" dist="38100" dir="2700000" algn="tl">
                  <a:srgbClr val="000000">
                    <a:alpha val="43137"/>
                  </a:srgbClr>
                </a:outerShdw>
              </a:effectLst>
            </a:endParaRPr>
          </a:p>
        </p:txBody>
      </p:sp>
      <p:sp>
        <p:nvSpPr>
          <p:cNvPr id="2" name="Slide Number Placeholder 1">
            <a:extLst>
              <a:ext uri="{FF2B5EF4-FFF2-40B4-BE49-F238E27FC236}">
                <a16:creationId xmlns:a16="http://schemas.microsoft.com/office/drawing/2014/main" id="{7B32AEF5-C56D-4635-ABED-D63E87A40367}"/>
              </a:ext>
            </a:extLst>
          </p:cNvPr>
          <p:cNvSpPr>
            <a:spLocks noGrp="1"/>
          </p:cNvSpPr>
          <p:nvPr>
            <p:ph type="sldNum" sz="quarter" idx="12"/>
          </p:nvPr>
        </p:nvSpPr>
        <p:spPr/>
        <p:txBody>
          <a:bodyPr/>
          <a:lstStyle/>
          <a:p>
            <a:fld id="{DE900A00-3DA3-40D9-8627-F4EC14C25FEF}" type="slidenum">
              <a:rPr lang="en-US" smtClean="0"/>
              <a:t>14</a:t>
            </a:fld>
            <a:endParaRPr lang="en-US"/>
          </a:p>
        </p:txBody>
      </p:sp>
      <p:graphicFrame>
        <p:nvGraphicFramePr>
          <p:cNvPr id="5" name="Table 4">
            <a:extLst>
              <a:ext uri="{FF2B5EF4-FFF2-40B4-BE49-F238E27FC236}">
                <a16:creationId xmlns:a16="http://schemas.microsoft.com/office/drawing/2014/main" id="{767A7447-2B87-4B13-B8E6-FC3ED0286792}"/>
              </a:ext>
            </a:extLst>
          </p:cNvPr>
          <p:cNvGraphicFramePr>
            <a:graphicFrameLocks noGrp="1"/>
          </p:cNvGraphicFramePr>
          <p:nvPr>
            <p:extLst>
              <p:ext uri="{D42A27DB-BD31-4B8C-83A1-F6EECF244321}">
                <p14:modId xmlns:p14="http://schemas.microsoft.com/office/powerpoint/2010/main" val="3057524186"/>
              </p:ext>
            </p:extLst>
          </p:nvPr>
        </p:nvGraphicFramePr>
        <p:xfrm>
          <a:off x="1349376" y="1410796"/>
          <a:ext cx="9493247" cy="4226523"/>
        </p:xfrm>
        <a:graphic>
          <a:graphicData uri="http://schemas.openxmlformats.org/drawingml/2006/table">
            <a:tbl>
              <a:tblPr/>
              <a:tblGrid>
                <a:gridCol w="1890058">
                  <a:extLst>
                    <a:ext uri="{9D8B030D-6E8A-4147-A177-3AD203B41FA5}">
                      <a16:colId xmlns:a16="http://schemas.microsoft.com/office/drawing/2014/main" val="2611422720"/>
                    </a:ext>
                  </a:extLst>
                </a:gridCol>
                <a:gridCol w="1145489">
                  <a:extLst>
                    <a:ext uri="{9D8B030D-6E8A-4147-A177-3AD203B41FA5}">
                      <a16:colId xmlns:a16="http://schemas.microsoft.com/office/drawing/2014/main" val="3389165529"/>
                    </a:ext>
                  </a:extLst>
                </a:gridCol>
                <a:gridCol w="916392">
                  <a:extLst>
                    <a:ext uri="{9D8B030D-6E8A-4147-A177-3AD203B41FA5}">
                      <a16:colId xmlns:a16="http://schemas.microsoft.com/office/drawing/2014/main" val="741133214"/>
                    </a:ext>
                  </a:extLst>
                </a:gridCol>
                <a:gridCol w="916392">
                  <a:extLst>
                    <a:ext uri="{9D8B030D-6E8A-4147-A177-3AD203B41FA5}">
                      <a16:colId xmlns:a16="http://schemas.microsoft.com/office/drawing/2014/main" val="312255854"/>
                    </a:ext>
                  </a:extLst>
                </a:gridCol>
                <a:gridCol w="916392">
                  <a:extLst>
                    <a:ext uri="{9D8B030D-6E8A-4147-A177-3AD203B41FA5}">
                      <a16:colId xmlns:a16="http://schemas.microsoft.com/office/drawing/2014/main" val="115241615"/>
                    </a:ext>
                  </a:extLst>
                </a:gridCol>
                <a:gridCol w="916392">
                  <a:extLst>
                    <a:ext uri="{9D8B030D-6E8A-4147-A177-3AD203B41FA5}">
                      <a16:colId xmlns:a16="http://schemas.microsoft.com/office/drawing/2014/main" val="255310110"/>
                    </a:ext>
                  </a:extLst>
                </a:gridCol>
                <a:gridCol w="916392">
                  <a:extLst>
                    <a:ext uri="{9D8B030D-6E8A-4147-A177-3AD203B41FA5}">
                      <a16:colId xmlns:a16="http://schemas.microsoft.com/office/drawing/2014/main" val="1243033654"/>
                    </a:ext>
                  </a:extLst>
                </a:gridCol>
                <a:gridCol w="916392">
                  <a:extLst>
                    <a:ext uri="{9D8B030D-6E8A-4147-A177-3AD203B41FA5}">
                      <a16:colId xmlns:a16="http://schemas.microsoft.com/office/drawing/2014/main" val="1171735048"/>
                    </a:ext>
                  </a:extLst>
                </a:gridCol>
                <a:gridCol w="959348">
                  <a:extLst>
                    <a:ext uri="{9D8B030D-6E8A-4147-A177-3AD203B41FA5}">
                      <a16:colId xmlns:a16="http://schemas.microsoft.com/office/drawing/2014/main" val="2607132999"/>
                    </a:ext>
                  </a:extLst>
                </a:gridCol>
              </a:tblGrid>
              <a:tr h="280832">
                <a:tc>
                  <a:txBody>
                    <a:bodyPr/>
                    <a:lstStyle/>
                    <a:p>
                      <a:pPr algn="ctr" fontAlgn="ctr"/>
                      <a:r>
                        <a:rPr lang="en-US" sz="1100" b="1" i="0" u="none" strike="noStrike">
                          <a:solidFill>
                            <a:srgbClr val="000000"/>
                          </a:solidFill>
                          <a:effectLst/>
                          <a:latin typeface="Calibri" panose="020F0502020204030204" pitchFamily="34" charset="0"/>
                        </a:rPr>
                        <a:t>No of Days in month</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902227787"/>
                  </a:ext>
                </a:extLst>
              </a:tr>
              <a:tr h="280832">
                <a:tc>
                  <a:txBody>
                    <a:bodyPr/>
                    <a:lstStyle/>
                    <a:p>
                      <a:pPr algn="ctr" fontAlgn="ctr"/>
                      <a:r>
                        <a:rPr lang="en-US" sz="1100" b="1" i="0" u="none" strike="noStrike">
                          <a:solidFill>
                            <a:srgbClr val="000000"/>
                          </a:solidFill>
                          <a:effectLst/>
                          <a:latin typeface="Calibri" panose="020F0502020204030204" pitchFamily="34" charset="0"/>
                        </a:rPr>
                        <a:t>Year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2022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521414328"/>
                  </a:ext>
                </a:extLst>
              </a:tr>
              <a:tr h="280832">
                <a:tc>
                  <a:txBody>
                    <a:bodyPr/>
                    <a:lstStyle/>
                    <a:p>
                      <a:pPr algn="ctr" fontAlgn="ctr"/>
                      <a:r>
                        <a:rPr lang="en-US" sz="1100" b="1" i="0" u="none" strike="noStrike">
                          <a:solidFill>
                            <a:srgbClr val="000000"/>
                          </a:solidFill>
                          <a:effectLst/>
                          <a:latin typeface="Calibri" panose="020F0502020204030204" pitchFamily="34" charset="0"/>
                        </a:rPr>
                        <a:t>Month</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May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June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July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Aug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Sep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Oct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1100" b="0" i="0" u="none" strike="noStrike">
                          <a:solidFill>
                            <a:srgbClr val="000000"/>
                          </a:solidFill>
                          <a:effectLst/>
                          <a:latin typeface="Calibri" panose="020F0502020204030204" pitchFamily="34" charset="0"/>
                        </a:rPr>
                        <a:t>Nov</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769074847"/>
                  </a:ext>
                </a:extLst>
              </a:tr>
              <a:tr h="280832">
                <a:tc>
                  <a:txBody>
                    <a:bodyPr/>
                    <a:lstStyle/>
                    <a:p>
                      <a:pPr algn="ctr" fontAlgn="ctr"/>
                      <a:r>
                        <a:rPr lang="en-US" sz="1100" b="1"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11144754"/>
                  </a:ext>
                </a:extLst>
              </a:tr>
              <a:tr h="280832">
                <a:tc gridSpan="9">
                  <a:txBody>
                    <a:bodyPr/>
                    <a:lstStyle/>
                    <a:p>
                      <a:pPr algn="ctr" fontAlgn="ctr"/>
                      <a:r>
                        <a:rPr lang="en-US" sz="1100" b="1" i="0" u="none" strike="noStrike">
                          <a:solidFill>
                            <a:srgbClr val="000000"/>
                          </a:solidFill>
                          <a:effectLst/>
                          <a:latin typeface="Calibri" panose="020F0502020204030204" pitchFamily="34" charset="0"/>
                        </a:rPr>
                        <a:t>DT for 6M Avr. Availabiltiy Calculation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2374696"/>
                  </a:ext>
                </a:extLst>
              </a:tr>
              <a:tr h="280832">
                <a:tc>
                  <a:txBody>
                    <a:bodyPr/>
                    <a:lstStyle/>
                    <a:p>
                      <a:pPr algn="ctr" fontAlgn="ctr"/>
                      <a:r>
                        <a:rPr lang="en-US" sz="1100" b="1" i="0" u="none" strike="noStrike">
                          <a:solidFill>
                            <a:srgbClr val="000000"/>
                          </a:solidFill>
                          <a:effectLst/>
                          <a:latin typeface="Calibri" panose="020F0502020204030204" pitchFamily="34" charset="0"/>
                        </a:rPr>
                        <a:t>Line 2A &amp; 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gridSpan="6">
                  <a:txBody>
                    <a:bodyPr/>
                    <a:lstStyle/>
                    <a:p>
                      <a:pPr algn="ctr" fontAlgn="ctr"/>
                      <a:r>
                        <a:rPr lang="en-US" sz="1100" b="0" i="0" u="none" strike="noStrike">
                          <a:solidFill>
                            <a:srgbClr val="000000"/>
                          </a:solidFill>
                          <a:effectLst/>
                          <a:latin typeface="Calibri" panose="020F0502020204030204" pitchFamily="34" charset="0"/>
                        </a:rPr>
                        <a:t>Stablization Period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ctr" fontAlgn="ctr"/>
                      <a:r>
                        <a:rPr lang="en-US" sz="1100" b="0" i="0" u="none" strike="noStrike">
                          <a:solidFill>
                            <a:srgbClr val="000000"/>
                          </a:solidFill>
                          <a:effectLst/>
                          <a:latin typeface="Calibri" panose="020F0502020204030204" pitchFamily="34" charset="0"/>
                        </a:rPr>
                        <a:t>134,905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206,338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0162064"/>
                  </a:ext>
                </a:extLst>
              </a:tr>
              <a:tr h="280832">
                <a:tc>
                  <a:txBody>
                    <a:bodyPr/>
                    <a:lstStyle/>
                    <a:p>
                      <a:pPr algn="ctr" fontAlgn="ctr"/>
                      <a:r>
                        <a:rPr lang="en-US" sz="1100" b="1" i="0" u="none" strike="noStrike">
                          <a:solidFill>
                            <a:srgbClr val="000000"/>
                          </a:solidFill>
                          <a:effectLst/>
                          <a:latin typeface="Calibri" panose="020F0502020204030204" pitchFamily="34" charset="0"/>
                        </a:rPr>
                        <a:t>All</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6"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fontAlgn="ctr"/>
                      <a:r>
                        <a:rPr lang="en-US" sz="1100" b="0" i="0" u="none" strike="noStrike">
                          <a:solidFill>
                            <a:srgbClr val="000000"/>
                          </a:solidFill>
                          <a:effectLst/>
                          <a:latin typeface="Calibri" panose="020F0502020204030204" pitchFamily="34" charset="0"/>
                        </a:rPr>
                        <a:t>134,905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206,338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1403456"/>
                  </a:ext>
                </a:extLst>
              </a:tr>
              <a:tr h="280832">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5405689"/>
                  </a:ext>
                </a:extLst>
              </a:tr>
              <a:tr h="280832">
                <a:tc gridSpan="9">
                  <a:txBody>
                    <a:bodyPr/>
                    <a:lstStyle/>
                    <a:p>
                      <a:pPr algn="ctr" fontAlgn="ctr"/>
                      <a:r>
                        <a:rPr lang="en-US" sz="1100" b="1" i="0" u="none" strike="noStrike">
                          <a:solidFill>
                            <a:srgbClr val="000000"/>
                          </a:solidFill>
                          <a:effectLst/>
                          <a:latin typeface="Calibri" panose="020F0502020204030204" pitchFamily="34" charset="0"/>
                        </a:rPr>
                        <a:t>Total Time for 6M Avr. Availability Calculation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2694766"/>
                  </a:ext>
                </a:extLst>
              </a:tr>
              <a:tr h="280832">
                <a:tc>
                  <a:txBody>
                    <a:bodyPr/>
                    <a:lstStyle/>
                    <a:p>
                      <a:pPr algn="ctr" fontAlgn="ctr"/>
                      <a:r>
                        <a:rPr lang="en-US" sz="1100" b="1" i="0" u="none" strike="noStrike">
                          <a:solidFill>
                            <a:srgbClr val="000000"/>
                          </a:solidFill>
                          <a:effectLst/>
                          <a:latin typeface="Calibri" panose="020F0502020204030204" pitchFamily="34" charset="0"/>
                        </a:rPr>
                        <a:t>Line 2A &amp; 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gridSpan="6">
                  <a:txBody>
                    <a:bodyPr/>
                    <a:lstStyle/>
                    <a:p>
                      <a:pPr algn="ctr" fontAlgn="ctr"/>
                      <a:r>
                        <a:rPr lang="en-US" sz="1100" b="0" i="0" u="none" strike="noStrike">
                          <a:solidFill>
                            <a:srgbClr val="000000"/>
                          </a:solidFill>
                          <a:effectLst/>
                          <a:latin typeface="Calibri" panose="020F0502020204030204" pitchFamily="34" charset="0"/>
                        </a:rPr>
                        <a:t>Stablization Period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ctr" fontAlgn="ctr"/>
                      <a:r>
                        <a:rPr lang="en-US" sz="1100" b="0" i="0" u="none" strike="noStrike">
                          <a:solidFill>
                            <a:srgbClr val="000000"/>
                          </a:solidFill>
                          <a:effectLst/>
                          <a:latin typeface="Calibri" panose="020F0502020204030204" pitchFamily="34" charset="0"/>
                        </a:rPr>
                        <a:t>758,880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734,400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362510"/>
                  </a:ext>
                </a:extLst>
              </a:tr>
              <a:tr h="280832">
                <a:tc>
                  <a:txBody>
                    <a:bodyPr/>
                    <a:lstStyle/>
                    <a:p>
                      <a:pPr algn="ctr" fontAlgn="ctr"/>
                      <a:r>
                        <a:rPr lang="en-US" sz="1100" b="1" i="0" u="none" strike="noStrike">
                          <a:solidFill>
                            <a:srgbClr val="000000"/>
                          </a:solidFill>
                          <a:effectLst/>
                          <a:latin typeface="Calibri" panose="020F0502020204030204" pitchFamily="34" charset="0"/>
                        </a:rPr>
                        <a:t>All</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6"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fontAlgn="ctr"/>
                      <a:r>
                        <a:rPr lang="en-US" sz="1100" b="0" i="0" u="none" strike="noStrike">
                          <a:solidFill>
                            <a:srgbClr val="000000"/>
                          </a:solidFill>
                          <a:effectLst/>
                          <a:latin typeface="Calibri" panose="020F0502020204030204" pitchFamily="34" charset="0"/>
                        </a:rPr>
                        <a:t>758,880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734,400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087026"/>
                  </a:ext>
                </a:extLst>
              </a:tr>
              <a:tr h="280832">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en-US" sz="1100" b="0" i="0" u="none" strike="noStrike">
                        <a:solidFill>
                          <a:srgbClr val="000000"/>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0" i="0" u="none" strike="noStrike">
                          <a:solidFill>
                            <a:srgbClr val="000000"/>
                          </a:solidFill>
                          <a:effectLst/>
                          <a:latin typeface="Calibri" panose="020F0502020204030204" pitchFamily="34" charset="0"/>
                        </a:rPr>
                        <a:t> </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82873825"/>
                  </a:ext>
                </a:extLst>
              </a:tr>
              <a:tr h="280832">
                <a:tc gridSpan="9">
                  <a:txBody>
                    <a:bodyPr/>
                    <a:lstStyle/>
                    <a:p>
                      <a:pPr algn="ctr" fontAlgn="ctr"/>
                      <a:r>
                        <a:rPr lang="en-US" sz="1100" b="1" i="0" u="none" strike="noStrike">
                          <a:solidFill>
                            <a:srgbClr val="000000"/>
                          </a:solidFill>
                          <a:effectLst/>
                          <a:latin typeface="Calibri" panose="020F0502020204030204" pitchFamily="34" charset="0"/>
                        </a:rPr>
                        <a:t>6M Avr. Availability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85810987"/>
                  </a:ext>
                </a:extLst>
              </a:tr>
              <a:tr h="280832">
                <a:tc>
                  <a:txBody>
                    <a:bodyPr/>
                    <a:lstStyle/>
                    <a:p>
                      <a:pPr algn="ctr" fontAlgn="ctr"/>
                      <a:r>
                        <a:rPr lang="en-US" sz="1100" b="1" i="0" u="none" strike="noStrike">
                          <a:solidFill>
                            <a:srgbClr val="000000"/>
                          </a:solidFill>
                          <a:effectLst/>
                          <a:latin typeface="Calibri" panose="020F0502020204030204" pitchFamily="34" charset="0"/>
                        </a:rPr>
                        <a:t>Line 2A &amp; 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gridSpan="6">
                  <a:txBody>
                    <a:bodyPr/>
                    <a:lstStyle/>
                    <a:p>
                      <a:pPr algn="ctr" fontAlgn="ctr"/>
                      <a:r>
                        <a:rPr lang="en-US" sz="1100" b="0" i="0" u="none" strike="noStrike">
                          <a:solidFill>
                            <a:srgbClr val="000000"/>
                          </a:solidFill>
                          <a:effectLst/>
                          <a:latin typeface="Calibri" panose="020F0502020204030204" pitchFamily="34" charset="0"/>
                        </a:rPr>
                        <a:t>Stablization Period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ctr" fontAlgn="ctr"/>
                      <a:r>
                        <a:rPr lang="en-US" sz="1100" b="1" i="0" u="none" strike="noStrike">
                          <a:solidFill>
                            <a:srgbClr val="0000FF"/>
                          </a:solidFill>
                          <a:effectLst/>
                          <a:latin typeface="Calibri" panose="020F0502020204030204" pitchFamily="34" charset="0"/>
                        </a:rPr>
                        <a:t>97.00%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FF"/>
                          </a:solidFill>
                          <a:effectLst/>
                          <a:latin typeface="Calibri" panose="020F0502020204030204" pitchFamily="34" charset="0"/>
                        </a:rPr>
                        <a:t>92.38%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6265274"/>
                  </a:ext>
                </a:extLst>
              </a:tr>
              <a:tr h="294875">
                <a:tc>
                  <a:txBody>
                    <a:bodyPr/>
                    <a:lstStyle/>
                    <a:p>
                      <a:pPr algn="ctr" fontAlgn="ctr"/>
                      <a:r>
                        <a:rPr lang="en-US" sz="1100" b="1" i="0" u="none" strike="noStrike">
                          <a:solidFill>
                            <a:srgbClr val="000000"/>
                          </a:solidFill>
                          <a:effectLst/>
                          <a:latin typeface="Calibri" panose="020F0502020204030204" pitchFamily="34" charset="0"/>
                        </a:rPr>
                        <a:t>All</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6"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fontAlgn="ctr"/>
                      <a:r>
                        <a:rPr lang="en-US" sz="1100" b="1" i="0" u="none" strike="noStrike" dirty="0">
                          <a:solidFill>
                            <a:srgbClr val="000000"/>
                          </a:solidFill>
                          <a:effectLst/>
                          <a:latin typeface="Calibri" panose="020F0502020204030204" pitchFamily="34" charset="0"/>
                        </a:rPr>
                        <a:t>97.42%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solidFill>
                            <a:srgbClr val="000000"/>
                          </a:solidFill>
                          <a:effectLst/>
                          <a:latin typeface="Calibri" panose="020F0502020204030204" pitchFamily="34" charset="0"/>
                        </a:rPr>
                        <a:t>93.49%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92363078"/>
                  </a:ext>
                </a:extLst>
              </a:tr>
            </a:tbl>
          </a:graphicData>
        </a:graphic>
      </p:graphicFrame>
    </p:spTree>
    <p:extLst>
      <p:ext uri="{BB962C8B-B14F-4D97-AF65-F5344CB8AC3E}">
        <p14:creationId xmlns:p14="http://schemas.microsoft.com/office/powerpoint/2010/main" val="2158897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5"/>
          <p:cNvSpPr>
            <a:spLocks noGrp="1"/>
          </p:cNvSpPr>
          <p:nvPr>
            <p:ph type="ctrTitle" idx="4294967295"/>
          </p:nvPr>
        </p:nvSpPr>
        <p:spPr>
          <a:xfrm>
            <a:off x="2794000" y="4800600"/>
            <a:ext cx="8255000" cy="990600"/>
          </a:xfrm>
        </p:spPr>
        <p:txBody>
          <a:bodyPr anchor="t">
            <a:normAutofit fontScale="90000"/>
          </a:bodyPr>
          <a:lstStyle/>
          <a:p>
            <a:pPr eaLnBrk="1" hangingPunct="1"/>
            <a:r>
              <a:rPr lang="en-US" altLang="ko-KR" sz="3600" b="1" i="1" dirty="0">
                <a:solidFill>
                  <a:srgbClr val="404040"/>
                </a:solidFill>
                <a:latin typeface="Book Antiqua" pitchFamily="18" charset="0"/>
                <a:ea typeface="Gulim" pitchFamily="34" charset="-127"/>
              </a:rPr>
              <a:t>                   THANKS</a:t>
            </a: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4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br>
              <a:rPr lang="en-US" altLang="ko-KR" sz="1300" dirty="0">
                <a:solidFill>
                  <a:srgbClr val="404040"/>
                </a:solidFill>
                <a:latin typeface="Book Antiqua" pitchFamily="18" charset="0"/>
                <a:ea typeface="Gulim" pitchFamily="34" charset="-127"/>
              </a:rPr>
            </a:br>
            <a:endParaRPr lang="en-US" altLang="ko-KR" sz="1300" dirty="0">
              <a:solidFill>
                <a:srgbClr val="404040"/>
              </a:solidFill>
              <a:latin typeface="Book Antiqua" pitchFamily="18" charset="0"/>
              <a:ea typeface="Gulim" pitchFamily="34" charset="-127"/>
            </a:endParaRPr>
          </a:p>
        </p:txBody>
      </p:sp>
      <p:sp>
        <p:nvSpPr>
          <p:cNvPr id="4100" name="Rectangle 7"/>
          <p:cNvSpPr>
            <a:spLocks noChangeArrowheads="1"/>
          </p:cNvSpPr>
          <p:nvPr/>
        </p:nvSpPr>
        <p:spPr bwMode="auto">
          <a:xfrm>
            <a:off x="2133600" y="838200"/>
            <a:ext cx="8007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ko-KR" altLang="en-US">
              <a:solidFill>
                <a:prstClr val="black"/>
              </a:solidFill>
              <a:ea typeface="Gulim" pitchFamily="34" charset="-127"/>
            </a:endParaRPr>
          </a:p>
        </p:txBody>
      </p:sp>
      <p:cxnSp>
        <p:nvCxnSpPr>
          <p:cNvPr id="10" name="Straight Connector 9"/>
          <p:cNvCxnSpPr/>
          <p:nvPr/>
        </p:nvCxnSpPr>
        <p:spPr>
          <a:xfrm>
            <a:off x="1225550" y="838200"/>
            <a:ext cx="9740900" cy="1588"/>
          </a:xfrm>
          <a:prstGeom prst="line">
            <a:avLst/>
          </a:prstGeom>
        </p:spPr>
        <p:style>
          <a:lnRef idx="3">
            <a:schemeClr val="accent4"/>
          </a:lnRef>
          <a:fillRef idx="0">
            <a:schemeClr val="accent4"/>
          </a:fillRef>
          <a:effectRef idx="2">
            <a:schemeClr val="accent4"/>
          </a:effectRef>
          <a:fontRef idx="minor">
            <a:schemeClr val="tx1"/>
          </a:fontRef>
        </p:style>
      </p:cxnSp>
      <p:graphicFrame>
        <p:nvGraphicFramePr>
          <p:cNvPr id="4098" name="Object 2"/>
          <p:cNvGraphicFramePr>
            <a:graphicFrameLocks noChangeAspect="1"/>
          </p:cNvGraphicFramePr>
          <p:nvPr/>
        </p:nvGraphicFramePr>
        <p:xfrm>
          <a:off x="3702050" y="1447800"/>
          <a:ext cx="5283200" cy="2286000"/>
        </p:xfrm>
        <a:graphic>
          <a:graphicData uri="http://schemas.openxmlformats.org/presentationml/2006/ole">
            <mc:AlternateContent xmlns:mc="http://schemas.openxmlformats.org/markup-compatibility/2006">
              <mc:Choice xmlns:v="urn:schemas-microsoft-com:vml" Requires="v">
                <p:oleObj name="Clip" r:id="rId2" imgW="5349600" imgH="2911320" progId="">
                  <p:embed/>
                </p:oleObj>
              </mc:Choice>
              <mc:Fallback>
                <p:oleObj name="Clip" r:id="rId2" imgW="5349600" imgH="2911320" progId="">
                  <p:embed/>
                  <p:pic>
                    <p:nvPicPr>
                      <p:cNvPr id="40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2050" y="1447800"/>
                        <a:ext cx="5283200"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C6472763-9795-4107-AB21-508EF559BE3D}"/>
              </a:ext>
            </a:extLst>
          </p:cNvPr>
          <p:cNvSpPr>
            <a:spLocks noGrp="1"/>
          </p:cNvSpPr>
          <p:nvPr>
            <p:ph type="sldNum" sz="quarter" idx="12"/>
          </p:nvPr>
        </p:nvSpPr>
        <p:spPr/>
        <p:txBody>
          <a:bodyPr/>
          <a:lstStyle/>
          <a:p>
            <a:fld id="{DE900A00-3DA3-40D9-8627-F4EC14C25FEF}" type="slidenum">
              <a:rPr lang="en-US" smtClean="0"/>
              <a:t>15</a:t>
            </a:fld>
            <a:endParaRPr lang="en-US"/>
          </a:p>
        </p:txBody>
      </p:sp>
    </p:spTree>
    <p:extLst>
      <p:ext uri="{BB962C8B-B14F-4D97-AF65-F5344CB8AC3E}">
        <p14:creationId xmlns:p14="http://schemas.microsoft.com/office/powerpoint/2010/main" val="2915384034"/>
      </p:ext>
    </p:extLst>
  </p:cSld>
  <p:clrMapOvr>
    <a:masterClrMapping/>
  </p:clrMapOvr>
  <p:transition>
    <p:pull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212</TotalTime>
  <Words>4123</Words>
  <Application>Microsoft Office PowerPoint</Application>
  <PresentationFormat>Widescreen</PresentationFormat>
  <Paragraphs>1370</Paragraphs>
  <Slides>15</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7" baseType="lpstr">
      <vt:lpstr>맑은 고딕</vt:lpstr>
      <vt:lpstr>Algerian</vt:lpstr>
      <vt:lpstr>Andalus</vt:lpstr>
      <vt:lpstr>Arial</vt:lpstr>
      <vt:lpstr>Arial Narrow</vt:lpstr>
      <vt:lpstr>Book Antiqua</vt:lpstr>
      <vt:lpstr>Calibri</vt:lpstr>
      <vt:lpstr>Calibri Light</vt:lpstr>
      <vt:lpstr>Cambria</vt:lpstr>
      <vt:lpstr>Wingdings</vt:lpstr>
      <vt:lpstr>Office Theme</vt:lpstr>
      <vt:lpstr>Clip</vt:lpstr>
      <vt:lpstr>Project RS(3R), Kolkata Monthly (Dec-2022) FRACAS Meeting</vt:lpstr>
      <vt:lpstr>CONTENTS</vt:lpstr>
      <vt:lpstr>PowerPoint Presentation</vt:lpstr>
      <vt:lpstr>PowerPoint Presentation</vt:lpstr>
      <vt:lpstr>PowerPoint Presentation</vt:lpstr>
      <vt:lpstr>                    3) service Failure Detail and Action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MRS1 , Mumbai  Monthly (Oct -2022) FRACAS Meeting</dc:title>
  <dc:creator>Administrator</dc:creator>
  <cp:lastModifiedBy>CPD Kolkata</cp:lastModifiedBy>
  <cp:revision>51</cp:revision>
  <dcterms:created xsi:type="dcterms:W3CDTF">2022-11-27T15:07:02Z</dcterms:created>
  <dcterms:modified xsi:type="dcterms:W3CDTF">2023-01-02T13:47:10Z</dcterms:modified>
</cp:coreProperties>
</file>