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25"/>
  </p:notesMasterIdLst>
  <p:handoutMasterIdLst>
    <p:handoutMasterId r:id="rId26"/>
  </p:handoutMasterIdLst>
  <p:sldIdLst>
    <p:sldId id="818" r:id="rId2"/>
    <p:sldId id="896" r:id="rId3"/>
    <p:sldId id="839" r:id="rId4"/>
    <p:sldId id="869" r:id="rId5"/>
    <p:sldId id="821" r:id="rId6"/>
    <p:sldId id="823" r:id="rId7"/>
    <p:sldId id="891" r:id="rId8"/>
    <p:sldId id="890" r:id="rId9"/>
    <p:sldId id="892" r:id="rId10"/>
    <p:sldId id="893" r:id="rId11"/>
    <p:sldId id="895" r:id="rId12"/>
    <p:sldId id="871" r:id="rId13"/>
    <p:sldId id="874" r:id="rId14"/>
    <p:sldId id="875" r:id="rId15"/>
    <p:sldId id="879" r:id="rId16"/>
    <p:sldId id="880" r:id="rId17"/>
    <p:sldId id="882" r:id="rId18"/>
    <p:sldId id="883" r:id="rId19"/>
    <p:sldId id="885" r:id="rId20"/>
    <p:sldId id="886" r:id="rId21"/>
    <p:sldId id="887" r:id="rId22"/>
    <p:sldId id="888" r:id="rId23"/>
    <p:sldId id="889" r:id="rId24"/>
  </p:sldIdLst>
  <p:sldSz cx="9144000" cy="6858000" type="screen4x3"/>
  <p:notesSz cx="6951663" cy="10082213"/>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00CC"/>
    <a:srgbClr val="FF0000"/>
    <a:srgbClr val="3C3C3C"/>
    <a:srgbClr val="FFFF66"/>
    <a:srgbClr val="242256"/>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09" autoAdjust="0"/>
    <p:restoredTop sz="89048" autoAdjust="0"/>
  </p:normalViewPr>
  <p:slideViewPr>
    <p:cSldViewPr>
      <p:cViewPr varScale="1">
        <p:scale>
          <a:sx n="63" d="100"/>
          <a:sy n="63" d="100"/>
        </p:scale>
        <p:origin x="13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13017" cy="504456"/>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937075" y="0"/>
            <a:ext cx="3013017" cy="504456"/>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30E7923C-D76B-408A-9C79-B1A21D0687E4}" type="datetimeFigureOut">
              <a:rPr lang="en-US"/>
              <a:pPr>
                <a:defRPr/>
              </a:pPr>
              <a:t>8/3/2017</a:t>
            </a:fld>
            <a:endParaRPr lang="en-US"/>
          </a:p>
        </p:txBody>
      </p:sp>
      <p:sp>
        <p:nvSpPr>
          <p:cNvPr id="4" name="Footer Placeholder 3"/>
          <p:cNvSpPr>
            <a:spLocks noGrp="1"/>
          </p:cNvSpPr>
          <p:nvPr>
            <p:ph type="ftr" sz="quarter" idx="2"/>
          </p:nvPr>
        </p:nvSpPr>
        <p:spPr>
          <a:xfrm>
            <a:off x="2" y="9576036"/>
            <a:ext cx="3013017" cy="504456"/>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937075" y="9576036"/>
            <a:ext cx="3013017" cy="504456"/>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378FE07-330B-44D2-B0A6-21F5B3846837}" type="slidenum">
              <a:rPr lang="en-US"/>
              <a:pPr>
                <a:defRPr/>
              </a:pPr>
              <a:t>‹#›</a:t>
            </a:fld>
            <a:endParaRPr lang="en-US"/>
          </a:p>
        </p:txBody>
      </p:sp>
    </p:spTree>
    <p:extLst>
      <p:ext uri="{BB962C8B-B14F-4D97-AF65-F5344CB8AC3E}">
        <p14:creationId xmlns:p14="http://schemas.microsoft.com/office/powerpoint/2010/main" val="3911937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13017" cy="504456"/>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37075" y="0"/>
            <a:ext cx="3013017" cy="504456"/>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1E1BB0B-1B1E-44D7-AE47-04FA66E81B31}" type="datetimeFigureOut">
              <a:rPr lang="en-US"/>
              <a:pPr>
                <a:defRPr/>
              </a:pPr>
              <a:t>8/3/2017</a:t>
            </a:fld>
            <a:endParaRPr lang="en-US"/>
          </a:p>
        </p:txBody>
      </p:sp>
      <p:sp>
        <p:nvSpPr>
          <p:cNvPr id="4" name="Slide Image Placeholder 3"/>
          <p:cNvSpPr>
            <a:spLocks noGrp="1" noRot="1" noChangeAspect="1"/>
          </p:cNvSpPr>
          <p:nvPr>
            <p:ph type="sldImg" idx="2"/>
          </p:nvPr>
        </p:nvSpPr>
        <p:spPr>
          <a:xfrm>
            <a:off x="955675" y="755650"/>
            <a:ext cx="5040313" cy="378142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94225" y="4788021"/>
            <a:ext cx="5563219" cy="4538373"/>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2" y="9576036"/>
            <a:ext cx="3013017" cy="504456"/>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37075" y="9576036"/>
            <a:ext cx="3013017" cy="504456"/>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A1C5BDDF-F482-4769-BEA2-99D01C4335BE}" type="slidenum">
              <a:rPr lang="en-US"/>
              <a:pPr>
                <a:defRPr/>
              </a:pPr>
              <a:t>‹#›</a:t>
            </a:fld>
            <a:endParaRPr lang="en-US"/>
          </a:p>
        </p:txBody>
      </p:sp>
    </p:spTree>
    <p:extLst>
      <p:ext uri="{BB962C8B-B14F-4D97-AF65-F5344CB8AC3E}">
        <p14:creationId xmlns:p14="http://schemas.microsoft.com/office/powerpoint/2010/main" val="2224886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p:spPr>
      </p:sp>
      <p:sp>
        <p:nvSpPr>
          <p:cNvPr id="57347"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916407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3690C93-15F9-4ECF-956F-10BD533E640A}" type="slidenum">
              <a:rPr lang="en-US" smtClean="0"/>
              <a:pPr>
                <a:defRPr/>
              </a:pPr>
              <a:t>3</a:t>
            </a:fld>
            <a:endParaRPr lang="en-US" dirty="0"/>
          </a:p>
        </p:txBody>
      </p:sp>
    </p:spTree>
    <p:extLst>
      <p:ext uri="{BB962C8B-B14F-4D97-AF65-F5344CB8AC3E}">
        <p14:creationId xmlns:p14="http://schemas.microsoft.com/office/powerpoint/2010/main" val="3065011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2555578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2555578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1C5BDDF-F482-4769-BEA2-99D01C4335BE}" type="slidenum">
              <a:rPr lang="en-US" smtClean="0"/>
              <a:pPr>
                <a:defRPr/>
              </a:pPr>
              <a:t>6</a:t>
            </a:fld>
            <a:endParaRPr lang="en-US" dirty="0"/>
          </a:p>
        </p:txBody>
      </p:sp>
    </p:spTree>
    <p:extLst>
      <p:ext uri="{BB962C8B-B14F-4D97-AF65-F5344CB8AC3E}">
        <p14:creationId xmlns:p14="http://schemas.microsoft.com/office/powerpoint/2010/main" val="3581379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1C5BDDF-F482-4769-BEA2-99D01C4335BE}" type="slidenum">
              <a:rPr lang="en-US" smtClean="0"/>
              <a:pPr>
                <a:defRPr/>
              </a:pPr>
              <a:t>7</a:t>
            </a:fld>
            <a:endParaRPr lang="en-US" dirty="0"/>
          </a:p>
        </p:txBody>
      </p:sp>
    </p:spTree>
    <p:extLst>
      <p:ext uri="{BB962C8B-B14F-4D97-AF65-F5344CB8AC3E}">
        <p14:creationId xmlns:p14="http://schemas.microsoft.com/office/powerpoint/2010/main" val="3581379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2657325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2657325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712408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2657325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2657325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extLst>
      <p:ext uri="{BB962C8B-B14F-4D97-AF65-F5344CB8AC3E}">
        <p14:creationId xmlns:p14="http://schemas.microsoft.com/office/powerpoint/2010/main" val="3139258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extLst>
      <p:ext uri="{BB962C8B-B14F-4D97-AF65-F5344CB8AC3E}">
        <p14:creationId xmlns:p14="http://schemas.microsoft.com/office/powerpoint/2010/main" val="1666342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139258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139258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139258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139258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xfrm>
            <a:off x="954088" y="755650"/>
            <a:ext cx="5043487" cy="3781425"/>
          </a:xfrm>
          <a:noFill/>
          <a:ln>
            <a:solidFill>
              <a:srgbClr val="000000"/>
            </a:solidFill>
            <a:miter lim="800000"/>
            <a:headEnd/>
            <a:tailEnd/>
          </a:ln>
        </p:spPr>
      </p:sp>
      <p:sp>
        <p:nvSpPr>
          <p:cNvPr id="5837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139258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TextEdit="1"/>
          </p:cNvSpPr>
          <p:nvPr>
            <p:ph type="sldImg"/>
          </p:nvPr>
        </p:nvSpPr>
        <p:spPr bwMode="auto">
          <a:noFill/>
          <a:ln>
            <a:solidFill>
              <a:srgbClr val="000000"/>
            </a:solidFill>
            <a:miter lim="800000"/>
            <a:headEnd/>
            <a:tailEnd/>
          </a:ln>
        </p:spPr>
      </p:sp>
      <p:sp>
        <p:nvSpPr>
          <p:cNvPr id="6758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extLst>
      <p:ext uri="{BB962C8B-B14F-4D97-AF65-F5344CB8AC3E}">
        <p14:creationId xmlns:p14="http://schemas.microsoft.com/office/powerpoint/2010/main" val="3943036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pPr>
              <a:defRPr/>
            </a:pPr>
            <a:fld id="{95909092-CA70-4563-845B-992546FED7C1}" type="datetimeFigureOut">
              <a:rPr lang="en-US" smtClean="0"/>
              <a:pPr>
                <a:defRPr/>
              </a:pPr>
              <a:t>8/3/2017</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pPr>
              <a:defRPr/>
            </a:pPr>
            <a:endParaRPr lang="en-US"/>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pPr>
              <a:defRPr/>
            </a:pPr>
            <a:fld id="{E30474F7-A9CC-477C-96E1-A4E8126E83E2}" type="slidenum">
              <a:rPr lang="en-US" smtClean="0"/>
              <a:pPr>
                <a:defRPr/>
              </a:pPr>
              <a:t>‹#›</a:t>
            </a:fld>
            <a:endParaRPr lang="en-US"/>
          </a:p>
        </p:txBody>
      </p:sp>
    </p:spTree>
    <p:extLst>
      <p:ext uri="{BB962C8B-B14F-4D97-AF65-F5344CB8AC3E}">
        <p14:creationId xmlns:p14="http://schemas.microsoft.com/office/powerpoint/2010/main" val="34744767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68253078-062C-40D4-A9F4-B8F5571841D8}" type="datetimeFigureOut">
              <a:rPr lang="en-US" smtClean="0"/>
              <a:pPr>
                <a:defRPr/>
              </a:pPr>
              <a:t>8/3/2017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2996FDA-406B-48B9-88B8-712C266ACFB5}" type="slidenum">
              <a:rPr lang="en-US" smtClean="0"/>
              <a:pPr>
                <a:defRPr/>
              </a:pPr>
              <a:t>‹#›</a:t>
            </a:fld>
            <a:endParaRPr lang="en-US"/>
          </a:p>
        </p:txBody>
      </p:sp>
    </p:spTree>
    <p:extLst>
      <p:ext uri="{BB962C8B-B14F-4D97-AF65-F5344CB8AC3E}">
        <p14:creationId xmlns:p14="http://schemas.microsoft.com/office/powerpoint/2010/main" val="102264566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7FDA6568-DC79-4FEF-B7A1-6A2FDF7A5D69}" type="datetimeFigureOut">
              <a:rPr lang="en-US" smtClean="0"/>
              <a:pPr>
                <a:defRPr/>
              </a:pPr>
              <a:t>8/3/2017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0F50C1F-D322-4987-9C0E-DC533A0EC58E}" type="slidenum">
              <a:rPr lang="en-US" smtClean="0"/>
              <a:pPr>
                <a:defRPr/>
              </a:pPr>
              <a:t>‹#›</a:t>
            </a:fld>
            <a:endParaRPr lang="en-US"/>
          </a:p>
        </p:txBody>
      </p:sp>
    </p:spTree>
    <p:extLst>
      <p:ext uri="{BB962C8B-B14F-4D97-AF65-F5344CB8AC3E}">
        <p14:creationId xmlns:p14="http://schemas.microsoft.com/office/powerpoint/2010/main" val="22414883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26D22201-A9E6-4BD2-B9BB-062DE443B212}" type="datetimeFigureOut">
              <a:rPr lang="en-US" smtClean="0"/>
              <a:pPr>
                <a:defRPr/>
              </a:pPr>
              <a:t>8/3/2017</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357C04C-2B71-475C-894B-94DEFB771454}" type="slidenum">
              <a:rPr lang="en-US" smtClean="0"/>
              <a:pPr>
                <a:defRPr/>
              </a:pPr>
              <a:t>‹#›</a:t>
            </a:fld>
            <a:endParaRPr lang="en-US"/>
          </a:p>
        </p:txBody>
      </p:sp>
    </p:spTree>
    <p:extLst>
      <p:ext uri="{BB962C8B-B14F-4D97-AF65-F5344CB8AC3E}">
        <p14:creationId xmlns:p14="http://schemas.microsoft.com/office/powerpoint/2010/main" val="20027356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5F0411C3-EA87-4EF8-8E90-9CCDE4B14CC1}" type="datetimeFigureOut">
              <a:rPr lang="en-US" smtClean="0"/>
              <a:pPr>
                <a:defRPr/>
              </a:pPr>
              <a:t>8/3/2017</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1119691-5278-41BA-B97D-F20DFFE68A35}" type="slidenum">
              <a:rPr lang="en-US" smtClean="0"/>
              <a:pPr>
                <a:defRPr/>
              </a:pPr>
              <a:t>‹#›</a:t>
            </a:fld>
            <a:endParaRPr lang="en-US"/>
          </a:p>
        </p:txBody>
      </p:sp>
    </p:spTree>
    <p:extLst>
      <p:ext uri="{BB962C8B-B14F-4D97-AF65-F5344CB8AC3E}">
        <p14:creationId xmlns:p14="http://schemas.microsoft.com/office/powerpoint/2010/main" val="134286266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D5681192-3B76-42FE-B1E6-93461F42D9BF}" type="datetimeFigureOut">
              <a:rPr lang="en-US" smtClean="0"/>
              <a:pPr>
                <a:defRPr/>
              </a:pPr>
              <a:t>8/3/2017</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D70BB17-CEE6-4371-879A-614AC1387D4E}" type="slidenum">
              <a:rPr lang="en-US" smtClean="0"/>
              <a:pPr>
                <a:defRPr/>
              </a:pPr>
              <a:t>‹#›</a:t>
            </a:fld>
            <a:endParaRPr lang="en-US"/>
          </a:p>
        </p:txBody>
      </p:sp>
    </p:spTree>
    <p:extLst>
      <p:ext uri="{BB962C8B-B14F-4D97-AF65-F5344CB8AC3E}">
        <p14:creationId xmlns:p14="http://schemas.microsoft.com/office/powerpoint/2010/main" val="366063888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7394D4E-B7F2-4155-BB07-6B50F84BB08E}" type="datetimeFigureOut">
              <a:rPr lang="en-US" smtClean="0"/>
              <a:pPr>
                <a:defRPr/>
              </a:pPr>
              <a:t>8/3/2017</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FE18005A-5C14-4EC8-8E7A-B9C02DEBB5F2}" type="slidenum">
              <a:rPr lang="en-US" smtClean="0"/>
              <a:pPr>
                <a:defRPr/>
              </a:pPr>
              <a:t>‹#›</a:t>
            </a:fld>
            <a:endParaRPr lang="en-US"/>
          </a:p>
        </p:txBody>
      </p:sp>
    </p:spTree>
    <p:extLst>
      <p:ext uri="{BB962C8B-B14F-4D97-AF65-F5344CB8AC3E}">
        <p14:creationId xmlns:p14="http://schemas.microsoft.com/office/powerpoint/2010/main" val="72289511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smtClean="0"/>
              <a:t>Click to edit Master text styles</a:t>
            </a:r>
          </a:p>
        </p:txBody>
      </p:sp>
      <p:sp>
        <p:nvSpPr>
          <p:cNvPr id="5" name="Date Placeholder 4"/>
          <p:cNvSpPr>
            <a:spLocks noGrp="1"/>
          </p:cNvSpPr>
          <p:nvPr>
            <p:ph type="dt" sz="half" idx="10"/>
          </p:nvPr>
        </p:nvSpPr>
        <p:spPr/>
        <p:txBody>
          <a:bodyPr/>
          <a:lstStyle/>
          <a:p>
            <a:pPr>
              <a:defRPr/>
            </a:pPr>
            <a:fld id="{CF801DFA-A548-4AAC-B351-F64D25E41113}" type="datetimeFigureOut">
              <a:rPr lang="en-US" smtClean="0"/>
              <a:pPr>
                <a:defRPr/>
              </a:pPr>
              <a:t>8/3/2017</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pPr>
              <a:defRPr/>
            </a:pPr>
            <a:fld id="{A9D66399-F715-44F9-9871-C6B29A90B084}" type="slidenum">
              <a:rPr lang="en-US" smtClean="0"/>
              <a:pPr>
                <a:defRPr/>
              </a:pPr>
              <a:t>‹#›</a:t>
            </a:fld>
            <a:endParaRPr lang="en-US"/>
          </a:p>
        </p:txBody>
      </p:sp>
    </p:spTree>
    <p:extLst>
      <p:ext uri="{BB962C8B-B14F-4D97-AF65-F5344CB8AC3E}">
        <p14:creationId xmlns:p14="http://schemas.microsoft.com/office/powerpoint/2010/main" val="24123674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20000"/>
              <a:lumOff val="8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pPr>
              <a:defRPr/>
            </a:pPr>
            <a:fld id="{529051B4-AE9C-4A6D-9BE3-6EB25B1C3F7B}" type="datetimeFigureOut">
              <a:rPr lang="en-US" smtClean="0"/>
              <a:pPr>
                <a:defRPr/>
              </a:pPr>
              <a:t>8/3/2017</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pPr>
              <a:defRPr/>
            </a:pPr>
            <a:fld id="{F015D818-E0CD-4406-AE86-FF2523DCEFF9}" type="slidenum">
              <a:rPr lang="en-US" smtClean="0"/>
              <a:pPr>
                <a:defRPr/>
              </a:pPr>
              <a:t>‹#›</a:t>
            </a:fld>
            <a:endParaRPr lang="en-US"/>
          </a:p>
        </p:txBody>
      </p:sp>
    </p:spTree>
    <p:extLst>
      <p:ext uri="{BB962C8B-B14F-4D97-AF65-F5344CB8AC3E}">
        <p14:creationId xmlns:p14="http://schemas.microsoft.com/office/powerpoint/2010/main" val="3451870899"/>
      </p:ext>
    </p:extLst>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437C4FB9-695E-496F-ADE4-4FBC342C4DC9}" type="datetimeFigureOut">
              <a:rPr lang="en-US" smtClean="0"/>
              <a:pPr>
                <a:defRPr/>
              </a:pPr>
              <a:t>8/3/2017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61F3414-9AB7-4801-97DA-D09B507C9C9D}" type="slidenum">
              <a:rPr lang="en-US" smtClean="0"/>
              <a:pPr>
                <a:defRPr/>
              </a:pPr>
              <a:t>‹#›</a:t>
            </a:fld>
            <a:endParaRPr lang="en-US"/>
          </a:p>
        </p:txBody>
      </p:sp>
    </p:spTree>
    <p:extLst>
      <p:ext uri="{BB962C8B-B14F-4D97-AF65-F5344CB8AC3E}">
        <p14:creationId xmlns:p14="http://schemas.microsoft.com/office/powerpoint/2010/main" val="374580970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2F7EC2EE-1F65-4077-BA2C-F97A8E3C96F9}" type="datetimeFigureOut">
              <a:rPr lang="en-US" smtClean="0"/>
              <a:pPr>
                <a:defRPr/>
              </a:pPr>
              <a:t>8/3/2017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D288A99-2A7A-48E0-90B7-AE6A053FEA27}" type="slidenum">
              <a:rPr lang="en-US" smtClean="0"/>
              <a:pPr>
                <a:defRPr/>
              </a:pPr>
              <a:t>‹#›</a:t>
            </a:fld>
            <a:endParaRPr lang="en-US"/>
          </a:p>
        </p:txBody>
      </p:sp>
    </p:spTree>
    <p:extLst>
      <p:ext uri="{BB962C8B-B14F-4D97-AF65-F5344CB8AC3E}">
        <p14:creationId xmlns:p14="http://schemas.microsoft.com/office/powerpoint/2010/main" val="35724977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pPr>
              <a:defRPr/>
            </a:pPr>
            <a:fld id="{6FA30823-7AB5-4A12-9B6E-AF68DE95D379}" type="datetimeFigureOut">
              <a:rPr lang="en-US" smtClean="0"/>
              <a:pPr>
                <a:defRPr/>
              </a:pPr>
              <a:t>8/3/2017</a:t>
            </a:fld>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pPr>
              <a:defRPr/>
            </a:pPr>
            <a:endParaRPr lang="en-US"/>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pPr>
              <a:defRPr/>
            </a:pPr>
            <a:fld id="{7FBDEA35-4DA6-4D33-BAB8-DEBB96F867AC}" type="slidenum">
              <a:rPr lang="en-US" smtClean="0"/>
              <a:pPr>
                <a:defRPr/>
              </a:pPr>
              <a:t>‹#›</a:t>
            </a:fld>
            <a:endParaRPr lang="en-US"/>
          </a:p>
        </p:txBody>
      </p:sp>
    </p:spTree>
    <p:extLst>
      <p:ext uri="{BB962C8B-B14F-4D97-AF65-F5344CB8AC3E}">
        <p14:creationId xmlns:p14="http://schemas.microsoft.com/office/powerpoint/2010/main" val="189435267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ransition/>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304800" y="533400"/>
            <a:ext cx="8458200" cy="1143000"/>
          </a:xfrm>
          <a:solidFill>
            <a:srgbClr val="FF0000"/>
          </a:solidFill>
        </p:spPr>
        <p:txBody>
          <a:bodyPr>
            <a:normAutofit/>
          </a:bodyPr>
          <a:lstStyle/>
          <a:p>
            <a:pPr algn="ctr"/>
            <a:r>
              <a:rPr lang="en-US" sz="2800" b="1" dirty="0" smtClean="0">
                <a:solidFill>
                  <a:schemeClr val="bg1"/>
                </a:solidFill>
              </a:rPr>
              <a:t>DMRC  Contract  RS8</a:t>
            </a:r>
            <a:br>
              <a:rPr lang="en-US" sz="2800" b="1" dirty="0" smtClean="0">
                <a:solidFill>
                  <a:schemeClr val="bg1"/>
                </a:solidFill>
              </a:rPr>
            </a:br>
            <a:r>
              <a:rPr lang="en-US" sz="2200" b="1" dirty="0" smtClean="0">
                <a:solidFill>
                  <a:schemeClr val="bg1"/>
                </a:solidFill>
              </a:rPr>
              <a:t>Status update for Monthly Review /FRACAS Meeting-19.07.2017</a:t>
            </a:r>
          </a:p>
        </p:txBody>
      </p:sp>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pic>
        <p:nvPicPr>
          <p:cNvPr id="5" name="Picture 2"/>
          <p:cNvPicPr>
            <a:picLocks noChangeAspect="1" noChangeArrowheads="1"/>
          </p:cNvPicPr>
          <p:nvPr/>
        </p:nvPicPr>
        <p:blipFill>
          <a:blip r:embed="rId4" cstate="print"/>
          <a:srcRect/>
          <a:stretch>
            <a:fillRect/>
          </a:stretch>
        </p:blipFill>
        <p:spPr bwMode="auto">
          <a:xfrm>
            <a:off x="834814" y="1828800"/>
            <a:ext cx="7394786" cy="4191000"/>
          </a:xfrm>
          <a:prstGeom prst="rect">
            <a:avLst/>
          </a:prstGeom>
          <a:noFill/>
          <a:ln w="9525">
            <a:noFill/>
            <a:miter lim="800000"/>
            <a:headEnd/>
            <a:tailEnd/>
          </a:ln>
        </p:spPr>
      </p:pic>
    </p:spTree>
    <p:extLst>
      <p:ext uri="{BB962C8B-B14F-4D97-AF65-F5344CB8AC3E}">
        <p14:creationId xmlns:p14="http://schemas.microsoft.com/office/powerpoint/2010/main" val="235375363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1"/>
            <a:ext cx="7620000" cy="761996"/>
          </a:xfrm>
          <a:solidFill>
            <a:schemeClr val="accent1">
              <a:lumMod val="40000"/>
              <a:lumOff val="60000"/>
            </a:schemeClr>
          </a:solidFill>
        </p:spPr>
        <p:txBody>
          <a:bodyPr>
            <a:normAutofit/>
          </a:bodyPr>
          <a:lstStyle/>
          <a:p>
            <a:r>
              <a:rPr lang="en-US" dirty="0" smtClean="0"/>
              <a:t>                   AGENDA</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97978906"/>
              </p:ext>
            </p:extLst>
          </p:nvPr>
        </p:nvGraphicFramePr>
        <p:xfrm>
          <a:off x="762000" y="1066797"/>
          <a:ext cx="7588250" cy="5102287"/>
        </p:xfrm>
        <a:graphic>
          <a:graphicData uri="http://schemas.openxmlformats.org/drawingml/2006/table">
            <a:tbl>
              <a:tblPr>
                <a:tableStyleId>{5C22544A-7EE6-4342-B048-85BDC9FD1C3A}</a:tableStyleId>
              </a:tblPr>
              <a:tblGrid>
                <a:gridCol w="533400"/>
                <a:gridCol w="7054850"/>
              </a:tblGrid>
              <a:tr h="477982">
                <a:tc>
                  <a:txBody>
                    <a:bodyPr/>
                    <a:lstStyle/>
                    <a:p>
                      <a:pPr algn="ctr" rtl="0" fontAlgn="ctr"/>
                      <a:r>
                        <a:rPr lang="en-US" sz="1600" b="1" u="none" strike="noStrike" dirty="0" smtClean="0">
                          <a:effectLst/>
                          <a:latin typeface="Arial Narrow" panose="020B0606020202030204" pitchFamily="34" charset="0"/>
                        </a:rPr>
                        <a:t>1</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rtl="0" fontAlgn="ctr"/>
                      <a:r>
                        <a:rPr lang="en-US" sz="1600" b="1" u="none" strike="noStrike" smtClean="0">
                          <a:effectLst/>
                          <a:latin typeface="Arial" panose="020B0604020202020204" pitchFamily="34" charset="0"/>
                          <a:cs typeface="Arial" panose="020B0604020202020204" pitchFamily="34" charset="0"/>
                        </a:rPr>
                        <a:t>     </a:t>
                      </a:r>
                      <a:r>
                        <a:rPr lang="en-US" sz="1600" b="1" u="none" strike="noStrike"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Performance Review of Trains: Reliability Demonstration</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4021">
                <a:tc>
                  <a:txBody>
                    <a:bodyPr/>
                    <a:lstStyle/>
                    <a:p>
                      <a:pPr algn="ctr" fontAlgn="b"/>
                      <a:r>
                        <a:rPr lang="en-US" sz="1600" b="1" u="none" strike="noStrike" dirty="0" smtClean="0">
                          <a:effectLst/>
                          <a:latin typeface="Arial Narrow" panose="020B0606020202030204" pitchFamily="34" charset="0"/>
                        </a:rPr>
                        <a:t>1.1</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Kilometer </a:t>
                      </a:r>
                      <a:r>
                        <a:rPr lang="en-US" sz="1600" b="1" u="none" strike="noStrike" dirty="0" smtClean="0">
                          <a:effectLst/>
                          <a:latin typeface="Arial" panose="020B0604020202020204" pitchFamily="34" charset="0"/>
                          <a:cs typeface="Arial" panose="020B0604020202020204" pitchFamily="34" charset="0"/>
                        </a:rPr>
                        <a:t>mileage for June’17</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rtl="0" fontAlgn="ctr"/>
                      <a:r>
                        <a:rPr lang="en-US" sz="1600" b="1" u="none" strike="noStrike" dirty="0" smtClean="0">
                          <a:effectLst/>
                          <a:latin typeface="Arial Narrow" panose="020B0606020202030204" pitchFamily="34" charset="0"/>
                        </a:rPr>
                        <a:t>1.2</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rtl="0" fontAlgn="ctr"/>
                      <a:r>
                        <a:rPr lang="en-US" sz="1600" b="1" u="none" strike="noStrike" dirty="0" smtClean="0">
                          <a:effectLst/>
                          <a:latin typeface="Arial" panose="020B0604020202020204" pitchFamily="34" charset="0"/>
                          <a:cs typeface="Arial" panose="020B0604020202020204" pitchFamily="34" charset="0"/>
                        </a:rPr>
                        <a:t>      </a:t>
                      </a:r>
                      <a:r>
                        <a:rPr lang="en-US" sz="1600" b="1" u="none" strike="noStrike" baseline="0"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Mean </a:t>
                      </a:r>
                      <a:r>
                        <a:rPr lang="en-US" sz="1600" b="1" u="none" strike="noStrike" dirty="0" smtClean="0">
                          <a:effectLst/>
                          <a:latin typeface="Arial" panose="020B0604020202020204" pitchFamily="34" charset="0"/>
                          <a:cs typeface="Arial" panose="020B0604020202020204" pitchFamily="34" charset="0"/>
                        </a:rPr>
                        <a:t>Distance Between Failures (MDBF) Calculation</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1.3</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Case-wise </a:t>
                      </a:r>
                      <a:r>
                        <a:rPr lang="en-US" sz="1600" b="1" u="none" strike="noStrike" dirty="0" smtClean="0">
                          <a:effectLst/>
                          <a:latin typeface="Arial" panose="020B0604020202020204" pitchFamily="34" charset="0"/>
                          <a:cs typeface="Arial" panose="020B0604020202020204" pitchFamily="34" charset="0"/>
                        </a:rPr>
                        <a:t>Reliability Failures Analysis</a:t>
                      </a:r>
                      <a:endParaRPr lang="en-US" sz="1600" b="1" i="0" u="none" strike="noStrike" dirty="0" smtClean="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1.4</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600" b="1" u="none" strike="noStrike" dirty="0" smtClean="0">
                          <a:effectLst/>
                          <a:latin typeface="Arial" panose="020B0604020202020204" pitchFamily="34" charset="0"/>
                          <a:cs typeface="Arial" panose="020B0604020202020204" pitchFamily="34" charset="0"/>
                        </a:rPr>
                        <a:t>        System-wise Reliability Failures Analysis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1.5</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600" b="1" u="none" strike="noStrike" dirty="0" smtClean="0">
                          <a:effectLst/>
                          <a:latin typeface="Arial" panose="020B0604020202020204" pitchFamily="34" charset="0"/>
                          <a:cs typeface="Arial" panose="020B0604020202020204" pitchFamily="34" charset="0"/>
                        </a:rPr>
                        <a:t>        Monthly Performance of Last Six Months (System-wise)</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2</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b"/>
                      <a:r>
                        <a:rPr lang="en-US" sz="1600" b="1" u="none" strike="noStrike" dirty="0" smtClean="0">
                          <a:effectLst/>
                          <a:latin typeface="Arial" panose="020B0604020202020204" pitchFamily="34" charset="0"/>
                          <a:cs typeface="Arial" panose="020B0604020202020204" pitchFamily="34" charset="0"/>
                        </a:rPr>
                        <a:t>  Previous month’s reliability failures pertaining to MELCO sub-systems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3</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MDBCF Failure</a:t>
                      </a:r>
                      <a:endParaRPr lang="en-US" sz="1600" b="1" i="0" u="none" strike="noStrike" dirty="0" smtClean="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4</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Availability Report</a:t>
                      </a:r>
                      <a:endParaRPr lang="en-US" sz="1600" b="1" i="0" u="none" strike="noStrike" dirty="0" smtClean="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5</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Monthly Review Point</a:t>
                      </a:r>
                      <a:endParaRPr lang="en-US" sz="1600" b="1" i="0" u="none" strike="noStrike" dirty="0" smtClean="0">
                        <a:solidFill>
                          <a:srgbClr val="000000"/>
                        </a:solidFill>
                        <a:effectLst/>
                        <a:latin typeface="Arial" panose="020B0604020202020204" pitchFamily="34" charset="0"/>
                        <a:cs typeface="Arial" panose="020B0604020202020204" pitchFamily="34" charset="0"/>
                      </a:endParaRPr>
                    </a:p>
                    <a:p>
                      <a:pPr algn="just" fontAlgn="b"/>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7982">
                <a:tc>
                  <a:txBody>
                    <a:bodyPr/>
                    <a:lstStyle/>
                    <a:p>
                      <a:pPr algn="ctr" fontAlgn="b"/>
                      <a:r>
                        <a:rPr lang="en-US" sz="1600" b="1" u="none" strike="noStrike" dirty="0" smtClean="0">
                          <a:effectLst/>
                          <a:latin typeface="Arial Narrow" panose="020B0606020202030204" pitchFamily="34" charset="0"/>
                        </a:rPr>
                        <a:t>6</a:t>
                      </a:r>
                      <a:endParaRPr lang="en-US" sz="1600" b="1"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600" b="1" u="none" strike="noStrike" dirty="0" smtClean="0">
                          <a:effectLst/>
                          <a:latin typeface="Arial" panose="020B0604020202020204" pitchFamily="34" charset="0"/>
                          <a:cs typeface="Arial" panose="020B0604020202020204" pitchFamily="34" charset="0"/>
                        </a:rPr>
                        <a:t>       </a:t>
                      </a:r>
                      <a:r>
                        <a:rPr lang="en-US" sz="1600" b="1" u="none" strike="noStrike" dirty="0" smtClean="0">
                          <a:effectLst/>
                          <a:latin typeface="Arial" panose="020B0604020202020204" pitchFamily="34" charset="0"/>
                          <a:cs typeface="Arial" panose="020B0604020202020204" pitchFamily="34" charset="0"/>
                        </a:rPr>
                        <a:t> Summary </a:t>
                      </a:r>
                      <a:r>
                        <a:rPr lang="en-US" sz="1600" b="1" u="none" strike="noStrike" dirty="0" smtClean="0">
                          <a:effectLst/>
                          <a:latin typeface="Arial" panose="020B0604020202020204" pitchFamily="34" charset="0"/>
                          <a:cs typeface="Arial" panose="020B0604020202020204" pitchFamily="34" charset="0"/>
                        </a:rPr>
                        <a:t>of status of RS8 EIRs</a:t>
                      </a:r>
                      <a:endParaRPr lang="en-US" sz="1600" b="1" i="0" u="none" strike="noStrike" dirty="0" smtClean="0">
                        <a:solidFill>
                          <a:srgbClr val="000000"/>
                        </a:solidFill>
                        <a:effectLst/>
                        <a:latin typeface="Arial" panose="020B0604020202020204" pitchFamily="34" charset="0"/>
                        <a:cs typeface="Arial" panose="020B0604020202020204" pitchFamily="34" charset="0"/>
                      </a:endParaRPr>
                    </a:p>
                    <a:p>
                      <a:pPr algn="just" fontAlgn="b"/>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27882757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97251304"/>
              </p:ext>
            </p:extLst>
          </p:nvPr>
        </p:nvGraphicFramePr>
        <p:xfrm>
          <a:off x="152400" y="533399"/>
          <a:ext cx="8610600" cy="762002"/>
        </p:xfrm>
        <a:graphic>
          <a:graphicData uri="http://schemas.openxmlformats.org/drawingml/2006/table">
            <a:tbl>
              <a:tblPr firstRow="1" bandRow="1">
                <a:tableStyleId>{5C22544A-7EE6-4342-B048-85BDC9FD1C3A}</a:tableStyleId>
              </a:tblPr>
              <a:tblGrid>
                <a:gridCol w="685800"/>
                <a:gridCol w="7924800"/>
              </a:tblGrid>
              <a:tr h="38100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1.</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kern="1200" baseline="0" dirty="0" smtClean="0">
                          <a:solidFill>
                            <a:schemeClr val="lt1"/>
                          </a:solidFill>
                          <a:latin typeface="Verdana" pitchFamily="34" charset="0"/>
                          <a:ea typeface="Verdana" pitchFamily="34" charset="0"/>
                          <a:cs typeface="Verdana" pitchFamily="34" charset="0"/>
                        </a:rPr>
                        <a:t>Performance Review of Trains: Reliability </a:t>
                      </a:r>
                      <a:r>
                        <a:rPr kumimoji="0" lang="en-US" sz="1600" b="1" kern="1200" baseline="0" dirty="0" smtClean="0">
                          <a:solidFill>
                            <a:schemeClr val="lt1"/>
                          </a:solidFill>
                          <a:latin typeface="Verdana" pitchFamily="34" charset="0"/>
                          <a:ea typeface="Verdana" pitchFamily="34" charset="0"/>
                          <a:cs typeface="Verdana" pitchFamily="34" charset="0"/>
                        </a:rPr>
                        <a:t>Demonstration</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38100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1.1</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Kilometer mileage for June’17</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graphicFrame>
        <p:nvGraphicFramePr>
          <p:cNvPr id="3" name="Table 2"/>
          <p:cNvGraphicFramePr>
            <a:graphicFrameLocks noGrp="1"/>
          </p:cNvGraphicFramePr>
          <p:nvPr>
            <p:extLst>
              <p:ext uri="{D42A27DB-BD31-4B8C-83A1-F6EECF244321}">
                <p14:modId xmlns:p14="http://schemas.microsoft.com/office/powerpoint/2010/main" val="2664684262"/>
              </p:ext>
            </p:extLst>
          </p:nvPr>
        </p:nvGraphicFramePr>
        <p:xfrm>
          <a:off x="152400" y="1600200"/>
          <a:ext cx="8610600" cy="4923065"/>
        </p:xfrm>
        <a:graphic>
          <a:graphicData uri="http://schemas.openxmlformats.org/drawingml/2006/table">
            <a:tbl>
              <a:tblPr>
                <a:tableStyleId>{5C22544A-7EE6-4342-B048-85BDC9FD1C3A}</a:tableStyleId>
              </a:tblPr>
              <a:tblGrid>
                <a:gridCol w="771099"/>
                <a:gridCol w="1438701"/>
                <a:gridCol w="2057400"/>
                <a:gridCol w="1949782"/>
                <a:gridCol w="2393618"/>
              </a:tblGrid>
              <a:tr h="533400">
                <a:tc>
                  <a:txBody>
                    <a:bodyPr/>
                    <a:lstStyle/>
                    <a:p>
                      <a:pPr algn="ctr" rtl="0" fontAlgn="t"/>
                      <a:r>
                        <a:rPr lang="en-US" b="1" dirty="0"/>
                        <a:t>SN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b="1" dirty="0"/>
                        <a:t>Train Set No.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b="1" dirty="0"/>
                        <a:t>KM as on </a:t>
                      </a:r>
                      <a:r>
                        <a:rPr lang="en-US" b="1" dirty="0" smtClean="0"/>
                        <a:t>01.06.2017</a:t>
                      </a:r>
                      <a:endParaRPr lang="en-US" b="1"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b="1" dirty="0"/>
                        <a:t>KM as on </a:t>
                      </a:r>
                      <a:r>
                        <a:rPr lang="en-US" b="1" dirty="0" smtClean="0"/>
                        <a:t>30.06.2017</a:t>
                      </a:r>
                      <a:endParaRPr lang="en-US" b="1"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b="1" dirty="0"/>
                        <a:t>KM Achieved in the month of </a:t>
                      </a:r>
                      <a:r>
                        <a:rPr lang="en-US" b="1" dirty="0" smtClean="0"/>
                        <a:t>June’17 </a:t>
                      </a:r>
                      <a:endParaRPr lang="en-US" b="1"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TS#01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93712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93712</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0</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TS#02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95264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99955</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4691</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TS#03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89863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94050</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4187</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9738">
                <a:tc>
                  <a:txBody>
                    <a:bodyPr/>
                    <a:lstStyle/>
                    <a:p>
                      <a:pPr algn="ctr" rtl="0" fontAlgn="t"/>
                      <a:r>
                        <a:rPr lang="en-US"/>
                        <a:t>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TS#04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103880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108199</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4319</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TS#05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94024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98202</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4178</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TS#06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103055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107284</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4229</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96763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100849</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4086</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TS#08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95964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98874</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2910</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TS#09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a:t>97001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101942</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4941</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4100">
                <a:tc>
                  <a:txBody>
                    <a:bodyPr/>
                    <a:lstStyle/>
                    <a:p>
                      <a:pPr algn="ctr" rtl="0" fontAlgn="t"/>
                      <a:r>
                        <a:rPr lang="en-US"/>
                        <a:t>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a:t>TS#10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IN" dirty="0"/>
                        <a:t>94843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smtClean="0"/>
                        <a:t>99477</a:t>
                      </a:r>
                      <a:endParaRPr lang="en-IN"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dirty="0" smtClean="0"/>
                        <a:t>4637</a:t>
                      </a:r>
                      <a:endParaRPr lang="en-US"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8262">
                <a:tc gridSpan="3">
                  <a:txBody>
                    <a:bodyPr/>
                    <a:lstStyle/>
                    <a:p>
                      <a:pPr algn="ctr" rtl="0" fontAlgn="t"/>
                      <a:r>
                        <a:rPr lang="en-US" b="1" dirty="0"/>
                        <a:t>TOTAL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rtl="0" fontAlgn="t"/>
                      <a:r>
                        <a:rPr lang="en-US" b="1" dirty="0" smtClean="0"/>
                        <a:t>1002544</a:t>
                      </a:r>
                      <a:endParaRPr lang="en-US" b="1"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b="1" dirty="0" smtClean="0"/>
                        <a:t>38175</a:t>
                      </a:r>
                      <a:endParaRPr lang="en-US" b="1" dirty="0"/>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23071674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95250"/>
            <a:ext cx="1143000" cy="381000"/>
          </a:xfrm>
          <a:prstGeom prst="rect">
            <a:avLst/>
          </a:prstGeom>
          <a:noFill/>
          <a:ln w="9525">
            <a:noFill/>
            <a:miter lim="800000"/>
            <a:headEnd/>
            <a:tailEnd/>
          </a:ln>
        </p:spPr>
      </p:pic>
      <p:sp>
        <p:nvSpPr>
          <p:cNvPr id="5" name="TextBox 4"/>
          <p:cNvSpPr txBox="1"/>
          <p:nvPr/>
        </p:nvSpPr>
        <p:spPr>
          <a:xfrm>
            <a:off x="3733800" y="4953000"/>
            <a:ext cx="184731" cy="369332"/>
          </a:xfrm>
          <a:prstGeom prst="rect">
            <a:avLst/>
          </a:prstGeom>
          <a:noFill/>
        </p:spPr>
        <p:txBody>
          <a:bodyPr wrap="none" rtlCol="0">
            <a:spAutoFit/>
          </a:bodyPr>
          <a:lstStyle/>
          <a:p>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589092038"/>
              </p:ext>
            </p:extLst>
          </p:nvPr>
        </p:nvGraphicFramePr>
        <p:xfrm>
          <a:off x="152400" y="466572"/>
          <a:ext cx="8839201" cy="6323264"/>
        </p:xfrm>
        <a:graphic>
          <a:graphicData uri="http://schemas.openxmlformats.org/drawingml/2006/table">
            <a:tbl>
              <a:tblPr firstRow="1" bandRow="1">
                <a:tableStyleId>{5C22544A-7EE6-4342-B048-85BDC9FD1C3A}</a:tableStyleId>
              </a:tblPr>
              <a:tblGrid>
                <a:gridCol w="453158"/>
                <a:gridCol w="385185"/>
                <a:gridCol w="1160086"/>
                <a:gridCol w="1383527"/>
                <a:gridCol w="1537252"/>
                <a:gridCol w="2843917"/>
                <a:gridCol w="1076076"/>
              </a:tblGrid>
              <a:tr h="3366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1.2</a:t>
                      </a:r>
                      <a:endParaRPr kumimoji="0" lang="en-US" sz="1600" b="1" kern="1200" baseline="0" dirty="0">
                        <a:solidFill>
                          <a:schemeClr val="lt1"/>
                        </a:solidFill>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a:solidFill>
                            <a:schemeClr val="lt1"/>
                          </a:solidFill>
                          <a:latin typeface="Verdana" pitchFamily="34" charset="0"/>
                          <a:ea typeface="Verdana" pitchFamily="34" charset="0"/>
                          <a:cs typeface="Verdana" pitchFamily="34" charset="0"/>
                        </a:rPr>
                        <a:t>Mean Distance Between Failures (MDBF) Calculation</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44137">
                <a:tc gridSpan="7">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altLang="ko-KR" sz="1400" b="1" u="none" strike="noStrike" kern="1200" baseline="0" dirty="0" smtClean="0">
                          <a:solidFill>
                            <a:schemeClr val="dk1"/>
                          </a:solidFill>
                          <a:effectLst/>
                          <a:latin typeface="Verdana" pitchFamily="34" charset="0"/>
                          <a:ea typeface="Verdana" pitchFamily="34" charset="0"/>
                          <a:cs typeface="Verdana" pitchFamily="34" charset="0"/>
                        </a:rPr>
                        <a:t>MDBF </a:t>
                      </a:r>
                      <a:r>
                        <a:rPr kumimoji="0" lang="en-US" altLang="ko-KR" sz="1400" b="1" u="none" strike="noStrike" kern="1200" baseline="0" dirty="0">
                          <a:solidFill>
                            <a:schemeClr val="dk1"/>
                          </a:solidFill>
                          <a:effectLst/>
                          <a:latin typeface="Verdana" pitchFamily="34" charset="0"/>
                          <a:ea typeface="Verdana" pitchFamily="34" charset="0"/>
                          <a:cs typeface="Verdana" pitchFamily="34" charset="0"/>
                        </a:rPr>
                        <a:t>Calculation for complete reliability demonstration period (</a:t>
                      </a:r>
                      <a:r>
                        <a:rPr kumimoji="0" lang="en-US" altLang="ko-KR" sz="1400" b="1" u="none" strike="noStrike" kern="1200" baseline="0" dirty="0" smtClean="0">
                          <a:solidFill>
                            <a:schemeClr val="dk1"/>
                          </a:solidFill>
                          <a:effectLst/>
                          <a:latin typeface="Verdana" pitchFamily="34" charset="0"/>
                          <a:ea typeface="Verdana" pitchFamily="34" charset="0"/>
                          <a:cs typeface="Verdana" pitchFamily="34" charset="0"/>
                        </a:rPr>
                        <a:t>Oct’15-June’17):</a:t>
                      </a:r>
                      <a:endParaRPr kumimoji="0" lang="en-US" altLang="ko-KR" sz="1400" b="1" u="none" strike="noStrike" kern="1200" baseline="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8040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Month</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Running Mileage</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No. </a:t>
                      </a:r>
                      <a:r>
                        <a:rPr kumimoji="0" lang="en-US" sz="1100" b="1" u="none" strike="noStrike" kern="1200" dirty="0">
                          <a:solidFill>
                            <a:schemeClr val="dk1"/>
                          </a:solidFill>
                          <a:effectLst/>
                          <a:latin typeface="Verdana" pitchFamily="34" charset="0"/>
                          <a:ea typeface="Verdana" pitchFamily="34" charset="0"/>
                          <a:cs typeface="Verdana" pitchFamily="34" charset="0"/>
                        </a:rPr>
                        <a:t>of Reliability Failures</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Train-set</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Type</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of failure</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MDBF</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Oct’15</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38458</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Nil</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985">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Nov’15</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38345</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2</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 TS10,</a:t>
                      </a:r>
                    </a:p>
                    <a:p>
                      <a:pPr marL="228600" marR="0" lvl="0" indent="-22860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2). TS08</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a:t>
                      </a:r>
                      <a:r>
                        <a:rPr kumimoji="0" lang="en-US" sz="1100" b="1" u="none" strike="noStrike" kern="1200" dirty="0" smtClean="0">
                          <a:solidFill>
                            <a:schemeClr val="dk1"/>
                          </a:solidFill>
                          <a:effectLst/>
                          <a:latin typeface="Verdana" pitchFamily="34" charset="0"/>
                          <a:ea typeface="Verdana" pitchFamily="34" charset="0"/>
                          <a:cs typeface="Verdana" pitchFamily="34" charset="0"/>
                        </a:rPr>
                        <a:t>SIV ACC Unit</a:t>
                      </a:r>
                    </a:p>
                    <a:p>
                      <a:pPr marL="228600" marR="0" lvl="0" indent="-22860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2). VCB Magnetic Valve</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19172.5</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985">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Dec’15</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39473</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2</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TS10</a:t>
                      </a:r>
                    </a:p>
                    <a:p>
                      <a:pPr marL="228600" marR="0" lvl="0" indent="-22860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2). TS02</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a:t>
                      </a:r>
                      <a:r>
                        <a:rPr kumimoji="0" lang="en-US" sz="1100" b="1" u="none" strike="noStrike" kern="1200" dirty="0" err="1" smtClean="0">
                          <a:solidFill>
                            <a:schemeClr val="dk1"/>
                          </a:solidFill>
                          <a:effectLst/>
                          <a:latin typeface="Verdana" pitchFamily="34" charset="0"/>
                          <a:ea typeface="Verdana" pitchFamily="34" charset="0"/>
                          <a:cs typeface="Verdana" pitchFamily="34" charset="0"/>
                        </a:rPr>
                        <a:t>Panto</a:t>
                      </a:r>
                      <a:r>
                        <a:rPr kumimoji="0" lang="en-US" sz="1100" b="1" u="none" strike="noStrike" kern="1200" dirty="0" smtClean="0">
                          <a:solidFill>
                            <a:schemeClr val="dk1"/>
                          </a:solidFill>
                          <a:effectLst/>
                          <a:latin typeface="Verdana" pitchFamily="34" charset="0"/>
                          <a:ea typeface="Verdana" pitchFamily="34" charset="0"/>
                          <a:cs typeface="Verdana" pitchFamily="34" charset="0"/>
                        </a:rPr>
                        <a:t> pneumatic fitting leakage</a:t>
                      </a:r>
                    </a:p>
                    <a:p>
                      <a:pPr marL="228600" marR="0" lvl="0" indent="-22860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2).</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a:t>
                      </a:r>
                      <a:r>
                        <a:rPr kumimoji="0" lang="en-US" sz="1100" b="1" u="none" strike="noStrike" kern="1200" dirty="0" smtClean="0">
                          <a:solidFill>
                            <a:schemeClr val="dk1"/>
                          </a:solidFill>
                          <a:effectLst/>
                          <a:latin typeface="Verdana" pitchFamily="34" charset="0"/>
                          <a:ea typeface="Verdana" pitchFamily="34" charset="0"/>
                          <a:cs typeface="Verdana" pitchFamily="34" charset="0"/>
                        </a:rPr>
                        <a:t>PT Fuse</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19736.5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1278">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Jan’16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39219</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Nil</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8494">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Feb’16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36636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Nil</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05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Mar’16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39282</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2</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TS01 &amp; TS07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Surge Capacitor</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19641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502">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April’16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37801</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BECU </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37801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1739">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May’16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39104</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TS02</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BECU</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39104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June’16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37885</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TS09</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DCU Connector</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37885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3985">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July’16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39210</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2</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 TS02</a:t>
                      </a:r>
                    </a:p>
                    <a:p>
                      <a:pPr marL="228600" marR="0" lvl="0" indent="-22860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2). TS01</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a:t>
                      </a:r>
                      <a:r>
                        <a:rPr kumimoji="0" lang="en-US" sz="1100" b="1" u="none" strike="noStrike" kern="1200" dirty="0" smtClean="0">
                          <a:solidFill>
                            <a:schemeClr val="dk1"/>
                          </a:solidFill>
                          <a:effectLst/>
                          <a:latin typeface="Verdana" pitchFamily="34" charset="0"/>
                          <a:ea typeface="Verdana" pitchFamily="34" charset="0"/>
                          <a:cs typeface="Verdana" pitchFamily="34" charset="0"/>
                        </a:rPr>
                        <a:t>Surge Capacitor</a:t>
                      </a:r>
                    </a:p>
                    <a:p>
                      <a:pPr marL="228600" marR="0" lvl="0" indent="-22860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2).</a:t>
                      </a:r>
                      <a:r>
                        <a:rPr kumimoji="0" lang="en-US" sz="1100" b="1" u="none" strike="noStrike" kern="1200" baseline="0" dirty="0" smtClean="0">
                          <a:solidFill>
                            <a:schemeClr val="dk1"/>
                          </a:solidFill>
                          <a:effectLst/>
                          <a:latin typeface="Verdana" pitchFamily="34" charset="0"/>
                          <a:ea typeface="Verdana" pitchFamily="34" charset="0"/>
                          <a:cs typeface="Verdana" pitchFamily="34" charset="0"/>
                        </a:rPr>
                        <a:t> VCB</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19605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4100">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Aug’16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38900</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Nil</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Sep’16</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37760</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a:t>
                      </a: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TS10</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HVAC</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37760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502">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Oct’16</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40757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502">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Nov’16</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37875</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2502">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Dec’16</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39396</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Pass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Jan’17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38609</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TS03</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Surge Capacitor</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38609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Feb’17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35214</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TS08, TS03 &amp; TS09</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Surge Capacitor</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a:solidFill>
                            <a:schemeClr val="dk1"/>
                          </a:solidFill>
                          <a:effectLst/>
                          <a:latin typeface="Verdana" pitchFamily="34" charset="0"/>
                          <a:ea typeface="Verdana" pitchFamily="34" charset="0"/>
                          <a:cs typeface="Verdana" pitchFamily="34" charset="0"/>
                        </a:rPr>
                        <a:t>11738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Mar’17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38466</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TS01</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Surge Capacitor</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38466</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6621">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April’17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38274</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Pass</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1348">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May’17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39100</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 TS09</a:t>
                      </a:r>
                    </a:p>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2). TS08</a:t>
                      </a:r>
                    </a:p>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 TS01</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 CMC Contactor</a:t>
                      </a:r>
                    </a:p>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2). VCB</a:t>
                      </a:r>
                    </a:p>
                    <a:p>
                      <a:pPr marL="0" marR="0" lvl="0" indent="0" algn="just"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 Battery</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13033.3</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2633">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June’17</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38175</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5838" marR="5838" marT="58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100" b="1" u="none" strike="noStrike" kern="1200" dirty="0" smtClean="0">
                          <a:solidFill>
                            <a:schemeClr val="dk1"/>
                          </a:solidFill>
                          <a:effectLst/>
                          <a:latin typeface="Verdana" pitchFamily="34" charset="0"/>
                          <a:ea typeface="Verdana" pitchFamily="34" charset="0"/>
                          <a:cs typeface="Verdana" pitchFamily="34" charset="0"/>
                        </a:rPr>
                        <a:t>Pass</a:t>
                      </a:r>
                      <a:endParaRPr kumimoji="0" lang="en-US" sz="11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73291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6"/>
                                        </p:tgtEl>
                                        <p:attrNameLst>
                                          <p:attrName>style.color</p:attrName>
                                        </p:attrNameLst>
                                      </p:cBhvr>
                                      <p:to>
                                        <a:schemeClr val="bg1"/>
                                      </p:to>
                                    </p:animClr>
                                    <p:animClr clrSpc="rgb" dir="cw">
                                      <p:cBhvr>
                                        <p:cTn id="7" dur="250" autoRev="1" fill="remove"/>
                                        <p:tgtEl>
                                          <p:spTgt spid="6"/>
                                        </p:tgtEl>
                                        <p:attrNameLst>
                                          <p:attrName>fillcolor</p:attrName>
                                        </p:attrNameLst>
                                      </p:cBhvr>
                                      <p:to>
                                        <a:schemeClr val="bg1"/>
                                      </p:to>
                                    </p:animClr>
                                    <p:set>
                                      <p:cBhvr>
                                        <p:cTn id="8" dur="250" autoRev="1" fill="remove"/>
                                        <p:tgtEl>
                                          <p:spTgt spid="6"/>
                                        </p:tgtEl>
                                        <p:attrNameLst>
                                          <p:attrName>fill.type</p:attrName>
                                        </p:attrNameLst>
                                      </p:cBhvr>
                                      <p:to>
                                        <p:strVal val="solid"/>
                                      </p:to>
                                    </p:set>
                                    <p:set>
                                      <p:cBhvr>
                                        <p:cTn id="9"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95250"/>
            <a:ext cx="1143000" cy="381000"/>
          </a:xfrm>
          <a:prstGeom prst="rect">
            <a:avLst/>
          </a:prstGeom>
          <a:noFill/>
          <a:ln w="9525">
            <a:noFill/>
            <a:miter lim="800000"/>
            <a:headEnd/>
            <a:tailEnd/>
          </a:ln>
        </p:spPr>
      </p:pic>
      <p:sp>
        <p:nvSpPr>
          <p:cNvPr id="5" name="TextBox 4"/>
          <p:cNvSpPr txBox="1"/>
          <p:nvPr/>
        </p:nvSpPr>
        <p:spPr>
          <a:xfrm>
            <a:off x="3733800" y="4953000"/>
            <a:ext cx="184731" cy="369332"/>
          </a:xfrm>
          <a:prstGeom prst="rect">
            <a:avLst/>
          </a:prstGeom>
          <a:noFill/>
        </p:spPr>
        <p:txBody>
          <a:bodyPr wrap="none" rtlCol="0">
            <a:spAutoFit/>
          </a:bodyPr>
          <a:lstStyle/>
          <a:p>
            <a:endParaRPr lang="en-US" dirty="0">
              <a:latin typeface="Verdana" pitchFamily="34" charset="0"/>
              <a:ea typeface="Verdana" pitchFamily="34" charset="0"/>
              <a:cs typeface="Verdana"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929060973"/>
              </p:ext>
            </p:extLst>
          </p:nvPr>
        </p:nvGraphicFramePr>
        <p:xfrm>
          <a:off x="228600" y="762001"/>
          <a:ext cx="8839200" cy="533400"/>
        </p:xfrm>
        <a:graphic>
          <a:graphicData uri="http://schemas.openxmlformats.org/drawingml/2006/table">
            <a:tbl>
              <a:tblPr firstRow="1" bandRow="1">
                <a:tableStyleId>{5C22544A-7EE6-4342-B048-85BDC9FD1C3A}</a:tableStyleId>
              </a:tblPr>
              <a:tblGrid>
                <a:gridCol w="533400"/>
                <a:gridCol w="8305800"/>
              </a:tblGrid>
              <a:tr h="533400">
                <a:tc>
                  <a:txBody>
                    <a:bodyPr/>
                    <a:lstStyle/>
                    <a:p>
                      <a:pPr algn="ctr" rtl="0" fontAlgn="ctr"/>
                      <a:r>
                        <a:rPr lang="en-US" sz="1600" b="1" i="0" u="none" strike="noStrike" dirty="0" smtClean="0">
                          <a:solidFill>
                            <a:srgbClr val="FFFFFF"/>
                          </a:solidFill>
                          <a:effectLst/>
                          <a:latin typeface="Verdana" panose="020B0604030504040204" pitchFamily="34" charset="0"/>
                        </a:rPr>
                        <a:t>1.3</a:t>
                      </a:r>
                      <a:endParaRPr lang="en-US" sz="1600" b="1" i="0" u="none" strike="noStrike" dirty="0">
                        <a:solidFill>
                          <a:srgbClr val="FFFFFF"/>
                        </a:solidFill>
                        <a:effectLst/>
                        <a:latin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Case-wise Reliability Failures Analysis</a:t>
                      </a:r>
                      <a:endParaRPr kumimoji="0" lang="en-US" sz="1600" b="1" kern="1200" baseline="0" dirty="0">
                        <a:solidFill>
                          <a:schemeClr val="lt1"/>
                        </a:solidFill>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3468915"/>
              </p:ext>
            </p:extLst>
          </p:nvPr>
        </p:nvGraphicFramePr>
        <p:xfrm>
          <a:off x="228594" y="1295401"/>
          <a:ext cx="8839206" cy="4659472"/>
        </p:xfrm>
        <a:graphic>
          <a:graphicData uri="http://schemas.openxmlformats.org/drawingml/2006/table">
            <a:tbl>
              <a:tblPr>
                <a:effectLst/>
                <a:tableStyleId>{5C22544A-7EE6-4342-B048-85BDC9FD1C3A}</a:tableStyleId>
              </a:tblPr>
              <a:tblGrid>
                <a:gridCol w="548514"/>
                <a:gridCol w="1146071"/>
                <a:gridCol w="338917"/>
                <a:gridCol w="271133"/>
                <a:gridCol w="338917"/>
                <a:gridCol w="271133"/>
                <a:gridCol w="338917"/>
                <a:gridCol w="266896"/>
                <a:gridCol w="326570"/>
                <a:gridCol w="335092"/>
                <a:gridCol w="324795"/>
                <a:gridCol w="324795"/>
                <a:gridCol w="349856"/>
                <a:gridCol w="304800"/>
                <a:gridCol w="304800"/>
                <a:gridCol w="304800"/>
                <a:gridCol w="304800"/>
                <a:gridCol w="304800"/>
                <a:gridCol w="304800"/>
                <a:gridCol w="381000"/>
                <a:gridCol w="381000"/>
                <a:gridCol w="304800"/>
                <a:gridCol w="304800"/>
                <a:gridCol w="457200"/>
              </a:tblGrid>
              <a:tr h="391514">
                <a:tc row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SN</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CASES</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200" b="1" u="none" strike="noStrike" kern="1200" dirty="0" smtClean="0">
                          <a:solidFill>
                            <a:schemeClr val="dk1"/>
                          </a:solidFill>
                          <a:effectLst/>
                          <a:latin typeface="Verdana" pitchFamily="34" charset="0"/>
                          <a:ea typeface="Verdana" pitchFamily="34" charset="0"/>
                          <a:cs typeface="Verdana" pitchFamily="34" charset="0"/>
                        </a:rPr>
                        <a:t>2015</a:t>
                      </a:r>
                      <a:endParaRPr kumimoji="0" lang="en-US" sz="12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1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200" b="1" u="none" strike="noStrike" kern="1200" dirty="0" smtClean="0">
                          <a:solidFill>
                            <a:schemeClr val="dk1"/>
                          </a:solidFill>
                          <a:effectLst/>
                          <a:latin typeface="Verdana" pitchFamily="34" charset="0"/>
                          <a:ea typeface="Verdana" pitchFamily="34" charset="0"/>
                          <a:cs typeface="Verdana" pitchFamily="34" charset="0"/>
                        </a:rPr>
                        <a:t>2016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1"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6">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200" b="1" u="none" strike="noStrike" kern="1200" dirty="0" smtClean="0">
                          <a:solidFill>
                            <a:schemeClr val="dk1"/>
                          </a:solidFill>
                          <a:effectLst/>
                          <a:latin typeface="Verdana" pitchFamily="34" charset="0"/>
                          <a:ea typeface="Verdana" pitchFamily="34" charset="0"/>
                          <a:cs typeface="Verdana" pitchFamily="34" charset="0"/>
                        </a:rPr>
                        <a:t>2017</a:t>
                      </a:r>
                      <a:endParaRPr kumimoji="0" lang="en-US" sz="12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1"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200" b="1" u="none" strike="noStrike" kern="1200" dirty="0">
                        <a:solidFill>
                          <a:schemeClr val="dk1"/>
                        </a:solidFill>
                        <a:effectLst/>
                        <a:latin typeface="Bodoni MT" panose="02070603080606020203" pitchFamily="18" charset="0"/>
                        <a:ea typeface="Verdana" panose="020B0604030504040204" pitchFamily="34" charset="0"/>
                        <a:cs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2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2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2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2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524032">
                <a:tc v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100" b="1" u="none" strike="noStrike" kern="1200" dirty="0">
                        <a:solidFill>
                          <a:schemeClr val="dk1"/>
                        </a:solidFill>
                        <a:effectLst/>
                        <a:latin typeface="Verdana" panose="020B0604030504040204" pitchFamily="34" charset="0"/>
                        <a:ea typeface="Verdana" panose="020B0604030504040204" pitchFamily="34" charset="0"/>
                        <a:cs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               Oct</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              Nov</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                Dec</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          Jan</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smtClean="0">
                        <a:solidFill>
                          <a:schemeClr val="dk1"/>
                        </a:solidFill>
                        <a:effectLst/>
                        <a:latin typeface="Verdana" pitchFamily="34" charset="0"/>
                        <a:ea typeface="Verdana" pitchFamily="34" charset="0"/>
                        <a:cs typeface="Verdana" pitchFamily="34" charset="0"/>
                      </a:endParaRPr>
                    </a:p>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Feb</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smtClean="0">
                        <a:solidFill>
                          <a:schemeClr val="dk1"/>
                        </a:solidFill>
                        <a:effectLst/>
                        <a:latin typeface="Verdana" pitchFamily="34" charset="0"/>
                        <a:ea typeface="Verdana" pitchFamily="34" charset="0"/>
                        <a:cs typeface="Verdana" pitchFamily="34" charset="0"/>
                      </a:endParaRPr>
                    </a:p>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Mar</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smtClean="0">
                        <a:solidFill>
                          <a:schemeClr val="dk1"/>
                        </a:solidFill>
                        <a:effectLst/>
                        <a:latin typeface="Verdana" pitchFamily="34" charset="0"/>
                        <a:ea typeface="Verdana" pitchFamily="34" charset="0"/>
                        <a:cs typeface="Verdana" pitchFamily="34" charset="0"/>
                      </a:endParaRPr>
                    </a:p>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April</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smtClean="0">
                        <a:solidFill>
                          <a:schemeClr val="dk1"/>
                        </a:solidFill>
                        <a:effectLst/>
                        <a:latin typeface="Verdana" pitchFamily="34" charset="0"/>
                        <a:ea typeface="Verdana" pitchFamily="34" charset="0"/>
                        <a:cs typeface="Verdana" pitchFamily="34" charset="0"/>
                      </a:endParaRPr>
                    </a:p>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May</a:t>
                      </a: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smtClean="0">
                        <a:solidFill>
                          <a:schemeClr val="dk1"/>
                        </a:solidFill>
                        <a:effectLst/>
                        <a:latin typeface="Verdana" pitchFamily="34" charset="0"/>
                        <a:ea typeface="Verdana" pitchFamily="34" charset="0"/>
                        <a:cs typeface="Verdana" pitchFamily="34" charset="0"/>
                      </a:endParaRPr>
                    </a:p>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smtClean="0">
                          <a:solidFill>
                            <a:schemeClr val="dk1"/>
                          </a:solidFill>
                          <a:effectLst/>
                          <a:latin typeface="Verdana" pitchFamily="34" charset="0"/>
                          <a:ea typeface="Verdana" pitchFamily="34" charset="0"/>
                          <a:cs typeface="Verdana" pitchFamily="34" charset="0"/>
                        </a:rPr>
                        <a:t>June</a:t>
                      </a:r>
                      <a:endParaRPr kumimoji="0" lang="en-US" sz="1000" b="0" u="none" strike="noStrike" kern="1200" dirty="0" smtClean="0">
                        <a:solidFill>
                          <a:schemeClr val="dk1"/>
                        </a:solidFill>
                        <a:effectLst/>
                        <a:latin typeface="Verdana" pitchFamily="34" charset="0"/>
                        <a:ea typeface="Verdana" pitchFamily="34" charset="0"/>
                        <a:cs typeface="Verdana" pitchFamily="34" charset="0"/>
                      </a:endParaRPr>
                    </a:p>
                    <a:p>
                      <a:pPr marL="0" marR="0" lvl="0" indent="0" algn="ctr" defTabSz="914400" rtl="0" eaLnBrk="1" fontAlgn="t" latinLnBrk="0" hangingPunct="1">
                        <a:lnSpc>
                          <a:spcPct val="115000"/>
                        </a:lnSpc>
                        <a:spcBef>
                          <a:spcPts val="0"/>
                        </a:spcBef>
                        <a:spcAft>
                          <a:spcPts val="0"/>
                        </a:spcAft>
                        <a:buClrTx/>
                        <a:buSzTx/>
                        <a:buFontTx/>
                        <a:buNone/>
                        <a:tabLst/>
                      </a:pP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July</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Aug</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Sep</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Oct</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Nov</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Dec</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Jan</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Feb</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Mar</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April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May</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Jun</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Total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732840">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Withdrawal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2</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2</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3</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3</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16</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732840">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Delay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2</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732840">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De-boarding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081536">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4</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Pre- departure </a:t>
                      </a:r>
                    </a:p>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(Train detained in depot or siding after fitness)</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0</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2</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452597">
                <a:tc gridSpan="2">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a:solidFill>
                            <a:schemeClr val="dk1"/>
                          </a:solidFill>
                          <a:effectLst/>
                          <a:latin typeface="Verdana" pitchFamily="34" charset="0"/>
                          <a:ea typeface="Verdana" pitchFamily="34" charset="0"/>
                          <a:cs typeface="Verdana" pitchFamily="34" charset="0"/>
                        </a:rPr>
                        <a:t>Total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NIL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a:solidFill>
                            <a:schemeClr val="dk1"/>
                          </a:solidFill>
                          <a:effectLst/>
                          <a:latin typeface="Verdana" pitchFamily="34" charset="0"/>
                          <a:ea typeface="Verdana" pitchFamily="34" charset="0"/>
                          <a:cs typeface="Verdana"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2</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2</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3</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1</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3</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0" u="none" strike="noStrike" kern="1200" dirty="0" smtClean="0">
                          <a:solidFill>
                            <a:schemeClr val="dk1"/>
                          </a:solidFill>
                          <a:effectLst/>
                          <a:latin typeface="Verdana" pitchFamily="34" charset="0"/>
                          <a:ea typeface="Verdana" pitchFamily="34" charset="0"/>
                          <a:cs typeface="Verdana" pitchFamily="34" charset="0"/>
                        </a:rPr>
                        <a:t>NIL</a:t>
                      </a:r>
                      <a:endParaRPr kumimoji="0"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t" latinLnBrk="0" hangingPunct="1">
                        <a:lnSpc>
                          <a:spcPct val="115000"/>
                        </a:lnSpc>
                        <a:spcBef>
                          <a:spcPts val="0"/>
                        </a:spcBef>
                        <a:spcAft>
                          <a:spcPts val="0"/>
                        </a:spcAft>
                        <a:buClrTx/>
                        <a:buSzTx/>
                        <a:buFontTx/>
                        <a:buNone/>
                        <a:tabLst/>
                      </a:pPr>
                      <a:r>
                        <a:rPr kumimoji="0" lang="en-US" sz="1000" b="1" u="none" strike="noStrike" kern="1200" dirty="0" smtClean="0">
                          <a:solidFill>
                            <a:schemeClr val="dk1"/>
                          </a:solidFill>
                          <a:effectLst/>
                          <a:latin typeface="Verdana" pitchFamily="34" charset="0"/>
                          <a:ea typeface="Verdana" pitchFamily="34" charset="0"/>
                          <a:cs typeface="Verdana" pitchFamily="34" charset="0"/>
                        </a:rPr>
                        <a:t>20</a:t>
                      </a:r>
                      <a:endParaRPr kumimoji="0"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p14="http://schemas.microsoft.com/office/powerpoint/2010/main" val="3073291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6"/>
                                        </p:tgtEl>
                                        <p:attrNameLst>
                                          <p:attrName>style.color</p:attrName>
                                        </p:attrNameLst>
                                      </p:cBhvr>
                                      <p:to>
                                        <a:schemeClr val="bg1"/>
                                      </p:to>
                                    </p:animClr>
                                    <p:animClr clrSpc="rgb" dir="cw">
                                      <p:cBhvr>
                                        <p:cTn id="7" dur="250" autoRev="1" fill="remove"/>
                                        <p:tgtEl>
                                          <p:spTgt spid="6"/>
                                        </p:tgtEl>
                                        <p:attrNameLst>
                                          <p:attrName>fillcolor</p:attrName>
                                        </p:attrNameLst>
                                      </p:cBhvr>
                                      <p:to>
                                        <a:schemeClr val="bg1"/>
                                      </p:to>
                                    </p:animClr>
                                    <p:set>
                                      <p:cBhvr>
                                        <p:cTn id="8" dur="250" autoRev="1" fill="remove"/>
                                        <p:tgtEl>
                                          <p:spTgt spid="6"/>
                                        </p:tgtEl>
                                        <p:attrNameLst>
                                          <p:attrName>fill.type</p:attrName>
                                        </p:attrNameLst>
                                      </p:cBhvr>
                                      <p:to>
                                        <p:strVal val="solid"/>
                                      </p:to>
                                    </p:set>
                                    <p:set>
                                      <p:cBhvr>
                                        <p:cTn id="9"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531660723"/>
              </p:ext>
            </p:extLst>
          </p:nvPr>
        </p:nvGraphicFramePr>
        <p:xfrm>
          <a:off x="76201" y="457200"/>
          <a:ext cx="8915399" cy="335306"/>
        </p:xfrm>
        <a:graphic>
          <a:graphicData uri="http://schemas.openxmlformats.org/drawingml/2006/table">
            <a:tbl>
              <a:tblPr firstRow="1" bandRow="1">
                <a:tableStyleId>{5C22544A-7EE6-4342-B048-85BDC9FD1C3A}</a:tableStyleId>
              </a:tblPr>
              <a:tblGrid>
                <a:gridCol w="892239"/>
                <a:gridCol w="8023160"/>
              </a:tblGrid>
              <a:tr h="2286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1.4</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System-wise Reliability Failures Analysis</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solidFill>
                      <a:schemeClr val="accent1"/>
                    </a:solidFill>
                  </a:tcPr>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graphicFrame>
        <p:nvGraphicFramePr>
          <p:cNvPr id="7" name="Table 6"/>
          <p:cNvGraphicFramePr>
            <a:graphicFrameLocks noGrp="1"/>
          </p:cNvGraphicFramePr>
          <p:nvPr>
            <p:extLst>
              <p:ext uri="{D42A27DB-BD31-4B8C-83A1-F6EECF244321}">
                <p14:modId xmlns:p14="http://schemas.microsoft.com/office/powerpoint/2010/main" val="1947069453"/>
              </p:ext>
            </p:extLst>
          </p:nvPr>
        </p:nvGraphicFramePr>
        <p:xfrm>
          <a:off x="76200" y="990600"/>
          <a:ext cx="8915400" cy="5548559"/>
        </p:xfrm>
        <a:graphic>
          <a:graphicData uri="http://schemas.openxmlformats.org/drawingml/2006/table">
            <a:tbl>
              <a:tblPr>
                <a:tableStyleId>{5C22544A-7EE6-4342-B048-85BDC9FD1C3A}</a:tableStyleId>
              </a:tblPr>
              <a:tblGrid>
                <a:gridCol w="1662846"/>
                <a:gridCol w="286179"/>
                <a:gridCol w="289191"/>
                <a:gridCol w="289191"/>
                <a:gridCol w="289191"/>
                <a:gridCol w="289191"/>
                <a:gridCol w="397727"/>
                <a:gridCol w="326000"/>
                <a:gridCol w="326000"/>
                <a:gridCol w="323929"/>
                <a:gridCol w="368126"/>
                <a:gridCol w="346898"/>
                <a:gridCol w="289081"/>
                <a:gridCol w="289081"/>
                <a:gridCol w="346898"/>
                <a:gridCol w="317990"/>
                <a:gridCol w="317990"/>
                <a:gridCol w="317990"/>
                <a:gridCol w="317990"/>
                <a:gridCol w="413647"/>
                <a:gridCol w="335125"/>
                <a:gridCol w="335125"/>
                <a:gridCol w="440014"/>
              </a:tblGrid>
              <a:tr h="314610">
                <a:tc rowSpan="2">
                  <a:txBody>
                    <a:bodyPr/>
                    <a:lstStyle/>
                    <a:p>
                      <a:pPr marL="0" algn="ctr" defTabSz="914400" rtl="0" eaLnBrk="1" fontAlgn="t" latinLnBrk="0" hangingPunct="1">
                        <a:lnSpc>
                          <a:spcPct val="100000"/>
                        </a:lnSpc>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p>
                      <a:pPr marL="0" algn="ctr" defTabSz="914400" rtl="0" eaLnBrk="1" fontAlgn="t" latinLnBrk="0" hangingPunct="1">
                        <a:lnSpc>
                          <a:spcPct val="100000"/>
                        </a:lnSpc>
                      </a:pPr>
                      <a:r>
                        <a:rPr lang="en-US" sz="1000" b="1" u="none" strike="noStrike" kern="1200" baseline="0" dirty="0" smtClean="0">
                          <a:solidFill>
                            <a:schemeClr val="dk1"/>
                          </a:solidFill>
                          <a:effectLst/>
                          <a:latin typeface="Verdana" pitchFamily="34" charset="0"/>
                          <a:ea typeface="Verdana" pitchFamily="34" charset="0"/>
                          <a:cs typeface="Verdana" pitchFamily="34" charset="0"/>
                        </a:rPr>
                        <a:t>SYSTEM</a:t>
                      </a:r>
                    </a:p>
                    <a:p>
                      <a:pPr marL="0" algn="ctr" defTabSz="914400" rtl="0" eaLnBrk="1" fontAlgn="t" latinLnBrk="0" hangingPunct="1">
                        <a:lnSpc>
                          <a:spcPct val="100000"/>
                        </a:lnSpc>
                      </a:pPr>
                      <a:endParaRPr lang="en-US" sz="1000" b="1"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algn="ctr" defTabSz="914400" rtl="0" eaLnBrk="1" fontAlgn="t" latinLnBrk="0" hangingPunct="1">
                        <a:lnSpc>
                          <a:spcPct val="100000"/>
                        </a:lnSpc>
                      </a:pPr>
                      <a:r>
                        <a:rPr lang="en-US" sz="1000" b="1" u="none" strike="noStrike" kern="1200" baseline="0" dirty="0" smtClean="0">
                          <a:solidFill>
                            <a:schemeClr val="dk1"/>
                          </a:solidFill>
                          <a:effectLst/>
                          <a:latin typeface="Verdana" pitchFamily="34" charset="0"/>
                          <a:ea typeface="Verdana" pitchFamily="34" charset="0"/>
                          <a:cs typeface="Verdana" pitchFamily="34" charset="0"/>
                        </a:rPr>
                        <a:t>2015</a:t>
                      </a:r>
                      <a:endParaRPr lang="en-US" sz="1000" b="1"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12">
                  <a:txBody>
                    <a:bodyPr/>
                    <a:lstStyle/>
                    <a:p>
                      <a:pPr marL="0" algn="ctr" defTabSz="914400" rtl="0" eaLnBrk="1" fontAlgn="t" latinLnBrk="0" hangingPunct="1">
                        <a:lnSpc>
                          <a:spcPct val="100000"/>
                        </a:lnSpc>
                      </a:pPr>
                      <a:r>
                        <a:rPr lang="en-US" sz="1000" b="1" u="none" strike="noStrike" kern="1200" baseline="0" dirty="0" smtClean="0">
                          <a:solidFill>
                            <a:schemeClr val="dk1"/>
                          </a:solidFill>
                          <a:effectLst/>
                          <a:latin typeface="Verdana" pitchFamily="34" charset="0"/>
                          <a:ea typeface="Verdana" pitchFamily="34" charset="0"/>
                          <a:cs typeface="Verdana" pitchFamily="34" charset="0"/>
                        </a:rPr>
                        <a:t>2016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algn="ctr" defTabSz="914400" rtl="0" eaLnBrk="1" fontAlgn="t" latinLnBrk="0" hangingPunct="1">
                        <a:lnSpc>
                          <a:spcPct val="100000"/>
                        </a:lnSpc>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000" b="1" u="none" strike="noStrike" kern="1200" baseline="0" dirty="0" smtClean="0">
                          <a:solidFill>
                            <a:schemeClr val="dk1"/>
                          </a:solidFill>
                          <a:effectLst/>
                          <a:latin typeface="Verdana" pitchFamily="34" charset="0"/>
                          <a:ea typeface="Verdana" pitchFamily="34" charset="0"/>
                          <a:cs typeface="Verdana" pitchFamily="34" charset="0"/>
                        </a:rPr>
                        <a:t>2017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300" b="1" u="none" strike="noStrike" kern="1200" baseline="0" dirty="0" smtClean="0">
                        <a:solidFill>
                          <a:schemeClr val="dk1"/>
                        </a:solidFill>
                        <a:effectLst/>
                        <a:latin typeface="Bodoni MT" panose="02070603080606020203" pitchFamily="18"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endParaRPr lang="en-IN"/>
                    </a:p>
                  </a:txBody>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18790">
                <a:tc vMerge="1">
                  <a:txBody>
                    <a:bodyPr/>
                    <a:lstStyle/>
                    <a:p>
                      <a:pPr marL="0" algn="ctr" defTabSz="914400" rtl="0" eaLnBrk="1" fontAlgn="t" latinLnBrk="0" hangingPunct="1">
                        <a:lnSpc>
                          <a:spcPct val="100000"/>
                        </a:lnSpc>
                      </a:pPr>
                      <a:endParaRPr lang="en-US" sz="14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Oct</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Nov</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Dec</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Jan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Feb</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Mar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Apr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May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June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July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Aug       </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Sep</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Oct</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Nov</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Dec</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Jan</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Feb</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Mar</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Apr</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May</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June</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Total</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435247">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VEHICLE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435250">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STRUCTURE &amp; INTERIOR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63194">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BOGIE &amp; </a:t>
                      </a:r>
                      <a:r>
                        <a:rPr lang="en-US" sz="1000" b="1" u="none" strike="noStrike" kern="1200" dirty="0" smtClean="0">
                          <a:solidFill>
                            <a:schemeClr val="dk1"/>
                          </a:solidFill>
                          <a:effectLst/>
                          <a:latin typeface="Verdana" pitchFamily="34" charset="0"/>
                          <a:ea typeface="Verdana" pitchFamily="34" charset="0"/>
                          <a:cs typeface="Verdana" pitchFamily="34" charset="0"/>
                        </a:rPr>
                        <a:t>SUSPENSION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92599">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GANGWAYS &amp; </a:t>
                      </a:r>
                      <a:r>
                        <a:rPr lang="en-US" sz="1000" b="1" u="none" strike="noStrike" kern="1200" dirty="0" smtClean="0">
                          <a:solidFill>
                            <a:schemeClr val="dk1"/>
                          </a:solidFill>
                          <a:effectLst/>
                          <a:latin typeface="Verdana" pitchFamily="34" charset="0"/>
                          <a:ea typeface="Verdana" pitchFamily="34" charset="0"/>
                          <a:cs typeface="Verdana" pitchFamily="34" charset="0"/>
                        </a:rPr>
                        <a:t>COUPLERS</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6772">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TRACTION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6</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6772">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BRAKE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35762">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AUXILIARY ELECTICAL</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9</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6772">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DOOR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435247">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HVAC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444833">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PNEUMETIC &amp; AIR </a:t>
                      </a:r>
                      <a:r>
                        <a:rPr lang="en-US" sz="1000" b="1" u="none" strike="noStrike" kern="1200" dirty="0" smtClean="0">
                          <a:solidFill>
                            <a:schemeClr val="dk1"/>
                          </a:solidFill>
                          <a:effectLst/>
                          <a:latin typeface="Verdana" pitchFamily="34" charset="0"/>
                          <a:ea typeface="Verdana" pitchFamily="34" charset="0"/>
                          <a:cs typeface="Verdana" pitchFamily="34" charset="0"/>
                        </a:rPr>
                        <a:t>DIS. SYSTEM</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6772">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TMS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92395">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COMMUNICATION </a:t>
                      </a:r>
                      <a:r>
                        <a:rPr lang="en-US" sz="1000" b="1" u="none" strike="noStrike" kern="1200" dirty="0" smtClean="0">
                          <a:solidFill>
                            <a:schemeClr val="dk1"/>
                          </a:solidFill>
                          <a:effectLst/>
                          <a:latin typeface="Verdana" pitchFamily="34" charset="0"/>
                          <a:ea typeface="Verdana" pitchFamily="34" charset="0"/>
                          <a:cs typeface="Verdana" pitchFamily="34" charset="0"/>
                        </a:rPr>
                        <a:t>SYSTEM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6772">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a:solidFill>
                            <a:schemeClr val="dk1"/>
                          </a:solidFill>
                          <a:effectLst/>
                          <a:latin typeface="Verdana" pitchFamily="34" charset="0"/>
                          <a:ea typeface="Verdana" pitchFamily="34" charset="0"/>
                          <a:cs typeface="Verdana"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6772">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Total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20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p14="http://schemas.microsoft.com/office/powerpoint/2010/main" val="72321424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531660723"/>
              </p:ext>
            </p:extLst>
          </p:nvPr>
        </p:nvGraphicFramePr>
        <p:xfrm>
          <a:off x="76201" y="457200"/>
          <a:ext cx="8762999" cy="335306"/>
        </p:xfrm>
        <a:graphic>
          <a:graphicData uri="http://schemas.openxmlformats.org/drawingml/2006/table">
            <a:tbl>
              <a:tblPr firstRow="1" bandRow="1">
                <a:tableStyleId>{5C22544A-7EE6-4342-B048-85BDC9FD1C3A}</a:tableStyleId>
              </a:tblPr>
              <a:tblGrid>
                <a:gridCol w="884613"/>
                <a:gridCol w="7878386"/>
              </a:tblGrid>
              <a:tr h="2286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1.5</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Monthly Performance of Last Six Months (System-wise)</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solidFill>
                      <a:schemeClr val="accent1"/>
                    </a:solidFill>
                  </a:tcPr>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graphicFrame>
        <p:nvGraphicFramePr>
          <p:cNvPr id="7" name="Table 6"/>
          <p:cNvGraphicFramePr>
            <a:graphicFrameLocks noGrp="1"/>
          </p:cNvGraphicFramePr>
          <p:nvPr>
            <p:extLst>
              <p:ext uri="{D42A27DB-BD31-4B8C-83A1-F6EECF244321}">
                <p14:modId xmlns:p14="http://schemas.microsoft.com/office/powerpoint/2010/main" val="1947069453"/>
              </p:ext>
            </p:extLst>
          </p:nvPr>
        </p:nvGraphicFramePr>
        <p:xfrm>
          <a:off x="76200" y="914399"/>
          <a:ext cx="8763000" cy="4706045"/>
        </p:xfrm>
        <a:graphic>
          <a:graphicData uri="http://schemas.openxmlformats.org/drawingml/2006/table">
            <a:tbl>
              <a:tblPr>
                <a:tableStyleId>{5C22544A-7EE6-4342-B048-85BDC9FD1C3A}</a:tableStyleId>
              </a:tblPr>
              <a:tblGrid>
                <a:gridCol w="3226975"/>
                <a:gridCol w="375206"/>
                <a:gridCol w="277091"/>
                <a:gridCol w="346364"/>
                <a:gridCol w="415636"/>
                <a:gridCol w="415636"/>
                <a:gridCol w="429492"/>
                <a:gridCol w="1828800"/>
                <a:gridCol w="1447800"/>
              </a:tblGrid>
              <a:tr h="259238">
                <a:tc rowSpan="2">
                  <a:txBody>
                    <a:bodyPr/>
                    <a:lstStyle/>
                    <a:p>
                      <a:pPr marL="0" algn="ctr" defTabSz="914400" rtl="0" eaLnBrk="1" fontAlgn="t" latinLnBrk="0" hangingPunct="1">
                        <a:lnSpc>
                          <a:spcPct val="100000"/>
                        </a:lnSpc>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p>
                      <a:pPr marL="0" algn="ctr" defTabSz="914400" rtl="0" eaLnBrk="1" fontAlgn="t" latinLnBrk="0" hangingPunct="1">
                        <a:lnSpc>
                          <a:spcPct val="100000"/>
                        </a:lnSpc>
                      </a:pPr>
                      <a:r>
                        <a:rPr lang="en-US" sz="1000" b="1" u="none" strike="noStrike" kern="1200" baseline="0" dirty="0" smtClean="0">
                          <a:solidFill>
                            <a:schemeClr val="dk1"/>
                          </a:solidFill>
                          <a:effectLst/>
                          <a:latin typeface="Verdana" pitchFamily="34" charset="0"/>
                          <a:ea typeface="Verdana" pitchFamily="34" charset="0"/>
                          <a:cs typeface="Verdana" pitchFamily="34" charset="0"/>
                        </a:rPr>
                        <a:t>SYSTEM</a:t>
                      </a:r>
                    </a:p>
                    <a:p>
                      <a:pPr marL="0" algn="ctr" defTabSz="914400" rtl="0" eaLnBrk="1" fontAlgn="t" latinLnBrk="0" hangingPunct="1">
                        <a:lnSpc>
                          <a:spcPct val="100000"/>
                        </a:lnSpc>
                      </a:pPr>
                      <a:endParaRPr lang="en-US" sz="1000" b="1"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8">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000" b="1" u="none" strike="noStrike" kern="1200" baseline="0" dirty="0" smtClean="0">
                          <a:solidFill>
                            <a:schemeClr val="dk1"/>
                          </a:solidFill>
                          <a:effectLst/>
                          <a:latin typeface="Verdana" pitchFamily="34" charset="0"/>
                          <a:ea typeface="Verdana" pitchFamily="34" charset="0"/>
                          <a:cs typeface="Verdana" pitchFamily="34" charset="0"/>
                        </a:rPr>
                        <a:t>2017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300" b="1" u="none" strike="noStrike" kern="1200" baseline="0" dirty="0" smtClean="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300" b="1" u="none" strike="noStrike" kern="1200" baseline="0" dirty="0" smtClean="0">
                        <a:solidFill>
                          <a:schemeClr val="dk1"/>
                        </a:solidFill>
                        <a:effectLst/>
                        <a:latin typeface="Bodoni MT" panose="02070603080606020203" pitchFamily="18"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endParaRPr lang="en-IN"/>
                    </a:p>
                  </a:txBody>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000" b="1" u="none" strike="noStrike" kern="1200" baseline="0" dirty="0" smtClean="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180283">
                <a:tc vMerge="1">
                  <a:txBody>
                    <a:bodyPr/>
                    <a:lstStyle/>
                    <a:p>
                      <a:pPr marL="0" algn="ctr" defTabSz="914400" rtl="0" eaLnBrk="1" fontAlgn="t" latinLnBrk="0" hangingPunct="1">
                        <a:lnSpc>
                          <a:spcPct val="100000"/>
                        </a:lnSpc>
                      </a:pPr>
                      <a:endParaRPr lang="en-US" sz="1400" b="1" u="none" strike="noStrike" kern="1200" baseline="0" dirty="0">
                        <a:solidFill>
                          <a:schemeClr val="dk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Jan</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Feb</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Mar</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Apr</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May</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June</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Total nos. of failures in last six months</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lnSpc>
                          <a:spcPct val="100000"/>
                        </a:lnSpc>
                      </a:pPr>
                      <a:r>
                        <a:rPr lang="en-US" sz="1000" b="0" u="none" strike="noStrike" kern="1200" baseline="0" dirty="0" smtClean="0">
                          <a:solidFill>
                            <a:schemeClr val="dk1"/>
                          </a:solidFill>
                          <a:effectLst/>
                          <a:latin typeface="Verdana" pitchFamily="34" charset="0"/>
                          <a:ea typeface="Verdana" pitchFamily="34" charset="0"/>
                          <a:cs typeface="Verdana" pitchFamily="34" charset="0"/>
                        </a:rPr>
                        <a:t>Total nos. of Failures in last three months</a:t>
                      </a:r>
                      <a:endParaRPr lang="en-US" sz="1000" b="0" u="none" strike="noStrike" kern="1200" baseline="0" dirty="0">
                        <a:solidFill>
                          <a:schemeClr val="dk1"/>
                        </a:solidFill>
                        <a:effectLst/>
                        <a:latin typeface="Verdana" pitchFamily="34" charset="0"/>
                        <a:ea typeface="Verdana" pitchFamily="34" charset="0"/>
                        <a:cs typeface="Verdana"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58642">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VEHICLE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58645">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STRUCTURE &amp; INTERIOR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99271">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BOGIE &amp; </a:t>
                      </a:r>
                      <a:r>
                        <a:rPr lang="en-US" sz="1000" b="1" u="none" strike="noStrike" kern="1200" dirty="0" smtClean="0">
                          <a:solidFill>
                            <a:schemeClr val="dk1"/>
                          </a:solidFill>
                          <a:effectLst/>
                          <a:latin typeface="Verdana" pitchFamily="34" charset="0"/>
                          <a:ea typeface="Verdana" pitchFamily="34" charset="0"/>
                          <a:cs typeface="Verdana" pitchFamily="34" charset="0"/>
                        </a:rPr>
                        <a:t>SUSPENSION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23501">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GANGWAYS &amp; </a:t>
                      </a:r>
                      <a:r>
                        <a:rPr lang="en-US" sz="1000" b="1" u="none" strike="noStrike" kern="1200" dirty="0" smtClean="0">
                          <a:solidFill>
                            <a:schemeClr val="dk1"/>
                          </a:solidFill>
                          <a:effectLst/>
                          <a:latin typeface="Verdana" pitchFamily="34" charset="0"/>
                          <a:ea typeface="Verdana" pitchFamily="34" charset="0"/>
                          <a:cs typeface="Verdana" pitchFamily="34" charset="0"/>
                        </a:rPr>
                        <a:t>COUPLERS</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44540">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TRACTION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44540">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BRAKE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76667">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AUXILIARY ELECTICAL</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6*</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44540">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DOOR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58642">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HVAC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66541">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PNEUMETIC &amp; AIR </a:t>
                      </a:r>
                      <a:r>
                        <a:rPr lang="en-US" sz="1000" b="1" u="none" strike="noStrike" kern="1200" dirty="0" smtClean="0">
                          <a:solidFill>
                            <a:schemeClr val="dk1"/>
                          </a:solidFill>
                          <a:effectLst/>
                          <a:latin typeface="Verdana" pitchFamily="34" charset="0"/>
                          <a:ea typeface="Verdana" pitchFamily="34" charset="0"/>
                          <a:cs typeface="Verdana" pitchFamily="34" charset="0"/>
                        </a:rPr>
                        <a:t>DIS. SYSTEM</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44540">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TMS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23333">
                <a:tc>
                  <a:txBody>
                    <a:bodyPr/>
                    <a:lstStyle/>
                    <a:p>
                      <a:pPr marL="0" algn="ctr" defTabSz="914400" rtl="0" eaLnBrk="1" fontAlgn="t" latinLnBrk="0" hangingPunct="1"/>
                      <a:r>
                        <a:rPr lang="en-US" sz="1000" b="1" u="none" strike="noStrike" kern="1200" dirty="0">
                          <a:solidFill>
                            <a:schemeClr val="dk1"/>
                          </a:solidFill>
                          <a:effectLst/>
                          <a:latin typeface="Verdana" pitchFamily="34" charset="0"/>
                          <a:ea typeface="Verdana" pitchFamily="34" charset="0"/>
                          <a:cs typeface="Verdana" pitchFamily="34" charset="0"/>
                        </a:rPr>
                        <a:t>COMMUNICATION </a:t>
                      </a:r>
                      <a:r>
                        <a:rPr lang="en-US" sz="1000" b="1" u="none" strike="noStrike" kern="1200" dirty="0" smtClean="0">
                          <a:solidFill>
                            <a:schemeClr val="dk1"/>
                          </a:solidFill>
                          <a:effectLst/>
                          <a:latin typeface="Verdana" pitchFamily="34" charset="0"/>
                          <a:ea typeface="Verdana" pitchFamily="34" charset="0"/>
                          <a:cs typeface="Verdana" pitchFamily="34" charset="0"/>
                        </a:rPr>
                        <a:t>SYSTEM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44540">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244540">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Total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1</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0" u="none" strike="noStrike" kern="1200" dirty="0" smtClean="0">
                          <a:solidFill>
                            <a:schemeClr val="dk1"/>
                          </a:solidFill>
                          <a:effectLst/>
                          <a:latin typeface="Verdana" pitchFamily="34" charset="0"/>
                          <a:ea typeface="Verdana" pitchFamily="34" charset="0"/>
                          <a:cs typeface="Verdana" pitchFamily="34" charset="0"/>
                        </a:rPr>
                        <a:t>0</a:t>
                      </a:r>
                      <a:endParaRPr lang="en-US" sz="1000" b="0"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08</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t" latinLnBrk="0" hangingPunct="1"/>
                      <a:r>
                        <a:rPr lang="en-US" sz="1000" b="1" u="none" strike="noStrike" kern="1200" dirty="0" smtClean="0">
                          <a:solidFill>
                            <a:schemeClr val="dk1"/>
                          </a:solidFill>
                          <a:effectLst/>
                          <a:latin typeface="Verdana" pitchFamily="34" charset="0"/>
                          <a:ea typeface="Verdana" pitchFamily="34" charset="0"/>
                          <a:cs typeface="Verdana" pitchFamily="34" charset="0"/>
                        </a:rPr>
                        <a:t>03</a:t>
                      </a:r>
                      <a:endParaRPr lang="en-US" sz="1000" b="1" u="none" strike="noStrike" kern="1200" dirty="0">
                        <a:solidFill>
                          <a:schemeClr val="dk1"/>
                        </a:solidFill>
                        <a:effectLst/>
                        <a:latin typeface="Verdana" pitchFamily="34" charset="0"/>
                        <a:ea typeface="Verdana" pitchFamily="34" charset="0"/>
                        <a:cs typeface="Verdana"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Tree>
    <p:extLst>
      <p:ext uri="{BB962C8B-B14F-4D97-AF65-F5344CB8AC3E}">
        <p14:creationId xmlns:p14="http://schemas.microsoft.com/office/powerpoint/2010/main" val="723214245"/>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85871163"/>
              </p:ext>
            </p:extLst>
          </p:nvPr>
        </p:nvGraphicFramePr>
        <p:xfrm>
          <a:off x="76199" y="457200"/>
          <a:ext cx="8978901" cy="6065598"/>
        </p:xfrm>
        <a:graphic>
          <a:graphicData uri="http://schemas.openxmlformats.org/drawingml/2006/table">
            <a:tbl>
              <a:tblPr firstRow="1" bandRow="1">
                <a:tableStyleId>{5C22544A-7EE6-4342-B048-85BDC9FD1C3A}</a:tableStyleId>
              </a:tblPr>
              <a:tblGrid>
                <a:gridCol w="609601"/>
                <a:gridCol w="2438400"/>
                <a:gridCol w="4800600"/>
                <a:gridCol w="1130300"/>
              </a:tblGrid>
              <a:tr h="457200">
                <a:tc>
                  <a:txBody>
                    <a:bodyPr/>
                    <a:lstStyle/>
                    <a:p>
                      <a:pPr algn="ctr"/>
                      <a:r>
                        <a:rPr lang="en-US" sz="1600" dirty="0" smtClean="0">
                          <a:latin typeface="Verdana" pitchFamily="34" charset="0"/>
                          <a:ea typeface="Verdana" pitchFamily="34" charset="0"/>
                          <a:cs typeface="Verdana" pitchFamily="34" charset="0"/>
                        </a:rPr>
                        <a:t>2.</a:t>
                      </a:r>
                      <a:endParaRPr lang="en-US" sz="1600" dirty="0">
                        <a:latin typeface="Verdana" pitchFamily="34" charset="0"/>
                        <a:ea typeface="Verdana" pitchFamily="34" charset="0"/>
                        <a:cs typeface="Verdana" pitchFamily="34" charset="0"/>
                      </a:endParaRPr>
                    </a:p>
                  </a:txBody>
                  <a:tcPr marT="45733" marB="45733"/>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kern="1200" baseline="0" dirty="0" smtClean="0">
                          <a:solidFill>
                            <a:schemeClr val="lt1"/>
                          </a:solidFill>
                          <a:latin typeface="Verdana" pitchFamily="34" charset="0"/>
                          <a:ea typeface="Verdana" pitchFamily="34" charset="0"/>
                          <a:cs typeface="Verdana" pitchFamily="34" charset="0"/>
                        </a:rPr>
                        <a:t>Previous month’s reliability failures pertaining to MELCO sub-systems.</a:t>
                      </a:r>
                    </a:p>
                  </a:txBody>
                  <a:tcPr marT="45733" marB="45733"/>
                </a:tc>
                <a:tc hMerge="1">
                  <a:txBody>
                    <a:bodyPr/>
                    <a:lstStyle/>
                    <a:p>
                      <a:endParaRPr lang="en-US"/>
                    </a:p>
                  </a:txBody>
                  <a:tcPr/>
                </a:tc>
                <a:tc hMerge="1">
                  <a:txBody>
                    <a:bodyPr/>
                    <a:lstStyle/>
                    <a:p>
                      <a:pPr algn="ctr"/>
                      <a:endParaRPr lang="en-US" sz="1600" dirty="0" smtClean="0">
                        <a:latin typeface="Verdana" pitchFamily="34" charset="0"/>
                        <a:ea typeface="Verdana" pitchFamily="34" charset="0"/>
                        <a:cs typeface="Verdana" pitchFamily="34" charset="0"/>
                      </a:endParaRPr>
                    </a:p>
                  </a:txBody>
                  <a:tcPr marT="45733" marB="45733"/>
                </a:tc>
              </a:tr>
              <a:tr h="0">
                <a:tc>
                  <a:txBody>
                    <a:bodyPr/>
                    <a:lstStyle/>
                    <a:p>
                      <a:pPr algn="ctr"/>
                      <a:r>
                        <a:rPr lang="en-US" sz="1200" b="1" dirty="0" smtClean="0">
                          <a:latin typeface="Verdana" pitchFamily="34" charset="0"/>
                          <a:ea typeface="Verdana" pitchFamily="34" charset="0"/>
                          <a:cs typeface="Verdana" pitchFamily="34" charset="0"/>
                        </a:rPr>
                        <a:t>SN</a:t>
                      </a:r>
                      <a:endParaRPr lang="en-US" sz="1200" b="1" dirty="0">
                        <a:latin typeface="Verdana" pitchFamily="34" charset="0"/>
                        <a:ea typeface="Verdana" pitchFamily="34" charset="0"/>
                        <a:cs typeface="Verdana" pitchFamily="34" charset="0"/>
                      </a:endParaRPr>
                    </a:p>
                  </a:txBody>
                  <a:tcPr marT="45733" marB="45733"/>
                </a:tc>
                <a:tc>
                  <a:txBody>
                    <a:bodyPr/>
                    <a:lstStyle/>
                    <a:p>
                      <a:pPr algn="ctr"/>
                      <a:r>
                        <a:rPr lang="en-US" sz="1200" b="1" baseline="0" smtClean="0">
                          <a:latin typeface="Verdana" pitchFamily="34" charset="0"/>
                          <a:ea typeface="Verdana" pitchFamily="34" charset="0"/>
                          <a:cs typeface="Verdana" pitchFamily="34" charset="0"/>
                        </a:rPr>
                        <a:t>Description</a:t>
                      </a:r>
                      <a:endParaRPr lang="en-US" sz="1200" b="1" dirty="0">
                        <a:latin typeface="Verdana" pitchFamily="34" charset="0"/>
                        <a:ea typeface="Verdana" pitchFamily="34" charset="0"/>
                        <a:cs typeface="Verdana" pitchFamily="34" charset="0"/>
                      </a:endParaRPr>
                    </a:p>
                  </a:txBody>
                  <a:tcPr marT="45733" marB="45733"/>
                </a:tc>
                <a:tc>
                  <a:txBody>
                    <a:bodyPr/>
                    <a:lstStyle/>
                    <a:p>
                      <a:pPr algn="ctr"/>
                      <a:r>
                        <a:rPr lang="en-US" sz="1200" b="1" dirty="0" smtClean="0">
                          <a:latin typeface="Verdana" pitchFamily="34" charset="0"/>
                          <a:ea typeface="Verdana" pitchFamily="34" charset="0"/>
                          <a:cs typeface="Verdana" pitchFamily="34" charset="0"/>
                        </a:rPr>
                        <a:t>Status/Action Plan</a:t>
                      </a:r>
                    </a:p>
                  </a:txBody>
                  <a:tcPr marT="45733" marB="45733"/>
                </a:tc>
                <a:tc>
                  <a:txBody>
                    <a:bodyPr/>
                    <a:lstStyle/>
                    <a:p>
                      <a:pPr algn="ctr"/>
                      <a:r>
                        <a:rPr lang="en-US" sz="1200" b="1" dirty="0" smtClean="0">
                          <a:latin typeface="Verdana" pitchFamily="34" charset="0"/>
                          <a:ea typeface="Verdana" pitchFamily="34" charset="0"/>
                          <a:cs typeface="Verdana" pitchFamily="34" charset="0"/>
                        </a:rPr>
                        <a:t>Target</a:t>
                      </a:r>
                    </a:p>
                  </a:txBody>
                  <a:tcPr marT="45733" marB="45733"/>
                </a:tc>
              </a:tr>
              <a:tr h="228600">
                <a:tc>
                  <a:txBody>
                    <a:bodyPr/>
                    <a:lstStyle/>
                    <a:p>
                      <a:pPr algn="ctr"/>
                      <a:r>
                        <a:rPr lang="en-US" sz="1300" b="1" dirty="0" err="1" smtClean="0">
                          <a:latin typeface="Verdana" pitchFamily="34" charset="0"/>
                          <a:ea typeface="Verdana" pitchFamily="34" charset="0"/>
                          <a:cs typeface="Verdana" pitchFamily="34" charset="0"/>
                        </a:rPr>
                        <a:t>i</a:t>
                      </a:r>
                      <a:r>
                        <a:rPr lang="en-US" sz="1300" b="1" dirty="0" smtClean="0">
                          <a:latin typeface="Verdana" pitchFamily="34" charset="0"/>
                          <a:ea typeface="Verdana" pitchFamily="34" charset="0"/>
                          <a:cs typeface="Verdana" pitchFamily="34" charset="0"/>
                        </a:rPr>
                        <a:t>.</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SIV ground fault, SIV major fault on TIMS (08 reliability failures).</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During investigations, the ACC surge capacitor was found in burnt condition and replaced with a healthy spare. The defective items have been sent to MELCO Japan for further investigation.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baseline="0" dirty="0" smtClean="0">
                          <a:solidFill>
                            <a:schemeClr val="dk1"/>
                          </a:solidFill>
                          <a:latin typeface="Verdana" pitchFamily="34" charset="0"/>
                          <a:ea typeface="Verdana" pitchFamily="34" charset="0"/>
                          <a:cs typeface="Verdana" pitchFamily="34" charset="0"/>
                        </a:rPr>
                        <a:t>Fleet replacement of all SIV surge capacitors has been completed in all ten train-sets by 18</a:t>
                      </a:r>
                      <a:r>
                        <a:rPr lang="en-US" sz="1300" kern="1200" baseline="30000" dirty="0" smtClean="0">
                          <a:solidFill>
                            <a:schemeClr val="dk1"/>
                          </a:solidFill>
                          <a:latin typeface="Verdana" pitchFamily="34" charset="0"/>
                          <a:ea typeface="Verdana" pitchFamily="34" charset="0"/>
                          <a:cs typeface="Verdana" pitchFamily="34" charset="0"/>
                        </a:rPr>
                        <a:t>th</a:t>
                      </a:r>
                      <a:r>
                        <a:rPr lang="en-US" sz="1300" kern="1200" baseline="0" dirty="0" smtClean="0">
                          <a:solidFill>
                            <a:schemeClr val="dk1"/>
                          </a:solidFill>
                          <a:latin typeface="Verdana" pitchFamily="34" charset="0"/>
                          <a:ea typeface="Verdana" pitchFamily="34" charset="0"/>
                          <a:cs typeface="Verdana" pitchFamily="34" charset="0"/>
                        </a:rPr>
                        <a:t> April’17.</a:t>
                      </a:r>
                      <a:endParaRPr lang="en-US" sz="1300" kern="1200" dirty="0" smtClean="0">
                        <a:solidFill>
                          <a:schemeClr val="dk1"/>
                        </a:solidFill>
                        <a:latin typeface="Verdana" pitchFamily="34" charset="0"/>
                        <a:ea typeface="Verdana" pitchFamily="34" charset="0"/>
                        <a:cs typeface="Verdana" pitchFamily="34" charset="0"/>
                      </a:endParaRPr>
                    </a:p>
                    <a:p>
                      <a:pPr algn="just"/>
                      <a:r>
                        <a:rPr lang="en-US" sz="1300" kern="1200" baseline="0" dirty="0" smtClean="0">
                          <a:solidFill>
                            <a:schemeClr val="dk1"/>
                          </a:solidFill>
                          <a:latin typeface="Verdana" pitchFamily="34" charset="0"/>
                          <a:ea typeface="Verdana" pitchFamily="34" charset="0"/>
                          <a:cs typeface="Verdana" pitchFamily="34" charset="0"/>
                        </a:rPr>
                        <a:t>Further, as advised by MELCO design team, on 24th April’17, M/s. MEI  depot team measured the current &amp; voltage readings before &amp; after SIVK with test software </a:t>
                      </a:r>
                      <a:r>
                        <a:rPr lang="en-US" sz="1300" kern="1200" baseline="0" dirty="0" err="1" smtClean="0">
                          <a:solidFill>
                            <a:schemeClr val="dk1"/>
                          </a:solidFill>
                          <a:latin typeface="Verdana" pitchFamily="34" charset="0"/>
                          <a:ea typeface="Verdana" pitchFamily="34" charset="0"/>
                          <a:cs typeface="Verdana" pitchFamily="34" charset="0"/>
                        </a:rPr>
                        <a:t>ver</a:t>
                      </a:r>
                      <a:r>
                        <a:rPr lang="en-US" sz="1300" kern="1200" baseline="0" dirty="0" smtClean="0">
                          <a:solidFill>
                            <a:schemeClr val="dk1"/>
                          </a:solidFill>
                          <a:latin typeface="Verdana" pitchFamily="34" charset="0"/>
                          <a:ea typeface="Verdana" pitchFamily="34" charset="0"/>
                          <a:cs typeface="Verdana" pitchFamily="34" charset="0"/>
                        </a:rPr>
                        <a:t> AJ04 (with SIVK 500ms delay) &amp;  AJ05 (with SIVK 1000ms delay).</a:t>
                      </a:r>
                      <a:endParaRPr kumimoji="0" lang="en-US" sz="1400" b="0" i="0" u="none" strike="noStrike" kern="1200" baseline="0" dirty="0" smtClean="0">
                        <a:solidFill>
                          <a:srgbClr val="000000"/>
                        </a:solidFill>
                        <a:latin typeface="Verdana"/>
                        <a:ea typeface="+mn-ea"/>
                        <a:cs typeface="+mn-cs"/>
                      </a:endParaRPr>
                    </a:p>
                    <a:p>
                      <a:pPr algn="just"/>
                      <a:r>
                        <a:rPr lang="en-US" sz="1300" kern="1200" baseline="0" dirty="0" smtClean="0">
                          <a:solidFill>
                            <a:schemeClr val="dk1"/>
                          </a:solidFill>
                          <a:latin typeface="Verdana" pitchFamily="34" charset="0"/>
                          <a:ea typeface="Verdana" pitchFamily="34" charset="0"/>
                          <a:cs typeface="Verdana" pitchFamily="34" charset="0"/>
                        </a:rPr>
                        <a:t>Further, on 1st July’17, the SIV software </a:t>
                      </a:r>
                      <a:r>
                        <a:rPr lang="en-US" sz="1300" kern="1200" baseline="0" dirty="0" err="1" smtClean="0">
                          <a:solidFill>
                            <a:schemeClr val="dk1"/>
                          </a:solidFill>
                          <a:latin typeface="Verdana" pitchFamily="34" charset="0"/>
                          <a:ea typeface="Verdana" pitchFamily="34" charset="0"/>
                          <a:cs typeface="Verdana" pitchFamily="34" charset="0"/>
                        </a:rPr>
                        <a:t>ver</a:t>
                      </a:r>
                      <a:r>
                        <a:rPr lang="en-US" sz="1300" kern="1200" baseline="0" dirty="0" smtClean="0">
                          <a:solidFill>
                            <a:schemeClr val="dk1"/>
                          </a:solidFill>
                          <a:latin typeface="Verdana" pitchFamily="34" charset="0"/>
                          <a:ea typeface="Verdana" pitchFamily="34" charset="0"/>
                          <a:cs typeface="Verdana" pitchFamily="34" charset="0"/>
                        </a:rPr>
                        <a:t> (AJ04), check sum(0343-636A) was uploaded in TS#08/DT1 and performed two round trips non-revenue trials at mainline and SIV operation was found normal during the trials. Therefore, it has been advised to keep TS#08/DT1-SIV under monitoring for one month (till 2nd Aug’17). Based on monitoring results, the SIV software </a:t>
                      </a:r>
                      <a:r>
                        <a:rPr lang="en-US" sz="1300" kern="1200" baseline="0" dirty="0" err="1" smtClean="0">
                          <a:solidFill>
                            <a:schemeClr val="dk1"/>
                          </a:solidFill>
                          <a:latin typeface="Verdana" pitchFamily="34" charset="0"/>
                          <a:ea typeface="Verdana" pitchFamily="34" charset="0"/>
                          <a:cs typeface="Verdana" pitchFamily="34" charset="0"/>
                        </a:rPr>
                        <a:t>ver</a:t>
                      </a:r>
                      <a:r>
                        <a:rPr lang="en-US" sz="1300" kern="1200" baseline="0" dirty="0" smtClean="0">
                          <a:solidFill>
                            <a:schemeClr val="dk1"/>
                          </a:solidFill>
                          <a:latin typeface="Verdana" pitchFamily="34" charset="0"/>
                          <a:ea typeface="Verdana" pitchFamily="34" charset="0"/>
                          <a:cs typeface="Verdana" pitchFamily="34" charset="0"/>
                        </a:rPr>
                        <a:t> (AJ04), check sum(0343-636A) will be proposed to be uploaded in all SIVs.</a:t>
                      </a:r>
                    </a:p>
                    <a:p>
                      <a:pPr algn="just"/>
                      <a:endParaRPr lang="en-US" sz="1300" kern="1200" baseline="0" dirty="0" smtClean="0">
                        <a:solidFill>
                          <a:schemeClr val="dk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Aug’17</a:t>
                      </a:r>
                    </a:p>
                  </a:txBody>
                  <a:tcPr marT="45733" marB="45733"/>
                </a:tc>
              </a:tr>
              <a:tr h="2286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b="1" kern="1200" dirty="0" smtClean="0">
                          <a:solidFill>
                            <a:schemeClr val="dk1"/>
                          </a:solidFill>
                          <a:latin typeface="Verdana" pitchFamily="34" charset="0"/>
                          <a:ea typeface="Verdana" pitchFamily="34" charset="0"/>
                          <a:cs typeface="Verdana" pitchFamily="34" charset="0"/>
                        </a:rPr>
                        <a:t>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VCB Failures (03 reliability failures)</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During investigations, the VCBs found malfunctioning.</a:t>
                      </a:r>
                      <a:r>
                        <a:rPr lang="en-US" sz="1300" kern="1200" baseline="0" dirty="0" smtClean="0">
                          <a:solidFill>
                            <a:schemeClr val="dk1"/>
                          </a:solidFill>
                          <a:latin typeface="Verdana" pitchFamily="34" charset="0"/>
                          <a:ea typeface="Verdana" pitchFamily="34" charset="0"/>
                          <a:cs typeface="Verdana" pitchFamily="34" charset="0"/>
                        </a:rPr>
                        <a:t> The fleet replacement of VCBs has been completed in all ten train-sets by 16</a:t>
                      </a:r>
                      <a:r>
                        <a:rPr lang="en-US" sz="1300" kern="1200" baseline="30000" dirty="0" smtClean="0">
                          <a:solidFill>
                            <a:schemeClr val="dk1"/>
                          </a:solidFill>
                          <a:latin typeface="Verdana" pitchFamily="34" charset="0"/>
                          <a:ea typeface="Verdana" pitchFamily="34" charset="0"/>
                          <a:cs typeface="Verdana" pitchFamily="34" charset="0"/>
                        </a:rPr>
                        <a:t>th</a:t>
                      </a:r>
                      <a:r>
                        <a:rPr lang="en-US" sz="1300" kern="1200" baseline="0" dirty="0" smtClean="0">
                          <a:solidFill>
                            <a:schemeClr val="dk1"/>
                          </a:solidFill>
                          <a:latin typeface="Verdana" pitchFamily="34" charset="0"/>
                          <a:ea typeface="Verdana" pitchFamily="34" charset="0"/>
                          <a:cs typeface="Verdana" pitchFamily="34" charset="0"/>
                        </a:rPr>
                        <a:t> June’2017. The application of Raychem tape &amp; insulation paint will be expedited by end of July’17. </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Aug’17</a:t>
                      </a:r>
                    </a:p>
                  </a:txBody>
                  <a:tcPr marT="45733" marB="45733"/>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65599002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767833997"/>
              </p:ext>
            </p:extLst>
          </p:nvPr>
        </p:nvGraphicFramePr>
        <p:xfrm>
          <a:off x="152400" y="304798"/>
          <a:ext cx="8819628" cy="6445243"/>
        </p:xfrm>
        <a:graphic>
          <a:graphicData uri="http://schemas.openxmlformats.org/drawingml/2006/table">
            <a:tbl>
              <a:tblPr>
                <a:tableStyleId>{5C22544A-7EE6-4342-B048-85BDC9FD1C3A}</a:tableStyleId>
              </a:tblPr>
              <a:tblGrid>
                <a:gridCol w="884747"/>
                <a:gridCol w="1559743"/>
                <a:gridCol w="1234787"/>
                <a:gridCol w="562268"/>
                <a:gridCol w="452020"/>
                <a:gridCol w="518169"/>
                <a:gridCol w="507146"/>
                <a:gridCol w="782767"/>
                <a:gridCol w="639443"/>
                <a:gridCol w="529194"/>
                <a:gridCol w="620150"/>
                <a:gridCol w="529194"/>
              </a:tblGrid>
              <a:tr h="237431">
                <a:tc gridSpan="12">
                  <a:txBody>
                    <a:bodyPr/>
                    <a:lstStyle/>
                    <a:p>
                      <a:pPr algn="ctr" fontAlgn="b"/>
                      <a:r>
                        <a:rPr lang="en-US" sz="1800" b="1" u="none" strike="noStrike" dirty="0" smtClean="0">
                          <a:effectLst/>
                        </a:rPr>
                        <a:t>3.  Between </a:t>
                      </a:r>
                      <a:r>
                        <a:rPr lang="en-US" sz="1800" b="1" u="none" strike="noStrike" dirty="0">
                          <a:effectLst/>
                        </a:rPr>
                        <a:t>5 Months To 12 Months Mean Distance Between Component Failure Report</a:t>
                      </a:r>
                      <a:endParaRPr lang="en-US" sz="1800" b="1" i="0" u="none" strike="noStrike" dirty="0">
                        <a:solidFill>
                          <a:srgbClr val="0000FF"/>
                        </a:solidFill>
                        <a:effectLst/>
                        <a:latin typeface="Verdana" panose="020B0604030504040204" pitchFamily="34" charset="0"/>
                      </a:endParaRPr>
                    </a:p>
                  </a:txBody>
                  <a:tcPr marL="7553" marR="7553" marT="7553" marB="0" anchor="b">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30957">
                <a:tc>
                  <a:txBody>
                    <a:bodyPr/>
                    <a:lstStyle/>
                    <a:p>
                      <a:pPr algn="ctr" fontAlgn="b"/>
                      <a:r>
                        <a:rPr lang="en-US" sz="800" b="1" u="none" strike="noStrike" dirty="0">
                          <a:effectLst/>
                        </a:rPr>
                        <a:t>No</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System Equipment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Equipment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S.F Count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N.S.F Count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Chargeability BEML</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Chargeability DMRC</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MDBCF(KM) (Target)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Failure Rate (Target)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MDBCF (KM) </a:t>
                      </a:r>
                      <a:r>
                        <a:rPr lang="en-US" sz="800" b="1" u="none" strike="noStrike" dirty="0" err="1">
                          <a:effectLst/>
                        </a:rPr>
                        <a:t>Achived</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Failure Rate (</a:t>
                      </a:r>
                      <a:r>
                        <a:rPr lang="en-US" sz="800" b="1" u="none" strike="noStrike" dirty="0" err="1">
                          <a:effectLst/>
                        </a:rPr>
                        <a:t>Achived</a:t>
                      </a:r>
                      <a:r>
                        <a:rPr lang="en-US" sz="800" b="1" u="none" strike="noStrike" dirty="0">
                          <a:effectLst/>
                        </a:rPr>
                        <a:t>)</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err="1">
                          <a:effectLst/>
                        </a:rPr>
                        <a:t>Assesments</a:t>
                      </a:r>
                      <a:endParaRPr lang="en-US" sz="800" b="1" i="0" u="none" strike="noStrike" dirty="0">
                        <a:solidFill>
                          <a:srgbClr val="FFFFFF"/>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Brake System</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Air Suspension Equipment</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460000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2.17391E-06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0211">
                <a:tc>
                  <a:txBody>
                    <a:bodyPr/>
                    <a:lstStyle/>
                    <a:p>
                      <a:pPr algn="ctr" fontAlgn="b"/>
                      <a:r>
                        <a:rPr lang="en-US" sz="800" b="1" u="none" strike="noStrike">
                          <a:effectLst/>
                        </a:rPr>
                        <a:t>2</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Gangways and Couplers</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Automatic Coupling Equipment</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4600000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2.17391E-07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9465">
                <a:tc>
                  <a:txBody>
                    <a:bodyPr/>
                    <a:lstStyle/>
                    <a:p>
                      <a:pPr algn="ctr" fontAlgn="b"/>
                      <a:r>
                        <a:rPr lang="en-US" sz="800" b="1" u="none" strike="noStrike">
                          <a:effectLst/>
                        </a:rPr>
                        <a:t>3</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Auxiliary Electrical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Battery (KRM250X)</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10000000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0.0000001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4</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Auxiliary Electrical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Battery Charger Box</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896000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1.11607E-06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0211">
                <a:tc>
                  <a:txBody>
                    <a:bodyPr/>
                    <a:lstStyle/>
                    <a:p>
                      <a:pPr algn="ctr" fontAlgn="b"/>
                      <a:r>
                        <a:rPr lang="en-US" sz="800" b="1" u="none" strike="noStrike">
                          <a:effectLst/>
                        </a:rPr>
                        <a:t>5</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Communication Equipment</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Communication Equipment</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830000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1.20482E-06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Con/Inv Box</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410000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2.43902E-06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Auxiliary Electrical System</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Converter Power Unit</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896000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1.11607E-06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8</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Door System</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Door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590000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1.69492E-06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9</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Bogie and Suspensions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Drive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4400000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2.27273E-07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HVAC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HVAC System</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410000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2.43902E-06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0211">
                <a:tc>
                  <a:txBody>
                    <a:bodyPr/>
                    <a:lstStyle/>
                    <a:p>
                      <a:pPr algn="ctr" fontAlgn="b"/>
                      <a:r>
                        <a:rPr lang="en-US" sz="800" b="1" u="none" strike="noStrike">
                          <a:effectLst/>
                        </a:rPr>
                        <a:t>11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Structure and Vehicle Interior Fittings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LED Lighting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8000000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0.000000125</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12</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Neutral Section Detector</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26000000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3.84615E-08</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13</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Bogie and Suspensions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Primary Suspension</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6500000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1.53846E-07</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14</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Bogie and Suspensions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Secondary Suspension</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6500000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1.53846E-07</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15</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Gangways and Couplers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Semi permanent coupler</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7000000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1.42857E-07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Train Management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TIMS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1192000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8.38926E-07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a:effectLst/>
                        </a:rPr>
                        <a:t>17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Motor</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2656000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3.76506E-07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7195">
                <a:tc>
                  <a:txBody>
                    <a:bodyPr/>
                    <a:lstStyle/>
                    <a:p>
                      <a:pPr algn="ctr" fontAlgn="b"/>
                      <a:r>
                        <a:rPr lang="en-US" sz="800" b="1" u="none" strike="noStrike" dirty="0">
                          <a:effectLst/>
                        </a:rPr>
                        <a:t>18</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Traction System</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Main Transformer</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9173000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1.09016E-07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310286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3.22283E-06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77195">
                <a:tc>
                  <a:txBody>
                    <a:bodyPr/>
                    <a:lstStyle/>
                    <a:p>
                      <a:pPr algn="ctr" fontAlgn="b"/>
                      <a:r>
                        <a:rPr lang="en-US" sz="800" b="1" u="none" strike="noStrike">
                          <a:effectLst/>
                        </a:rPr>
                        <a:t>19</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Traction System</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Pantograph</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7900000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1.26582E-07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310286</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3.22283E-06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77195">
                <a:tc>
                  <a:txBody>
                    <a:bodyPr/>
                    <a:lstStyle/>
                    <a:p>
                      <a:pPr algn="ctr" fontAlgn="b"/>
                      <a:r>
                        <a:rPr lang="en-US" sz="800" b="1" u="none" strike="noStrike">
                          <a:effectLst/>
                        </a:rPr>
                        <a:t>20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VCB</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2</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2</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1404000</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7.12251E-07</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155143</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6.44567E-06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77195">
                <a:tc>
                  <a:txBody>
                    <a:bodyPr/>
                    <a:lstStyle/>
                    <a:p>
                      <a:pPr algn="ctr" fontAlgn="b"/>
                      <a:r>
                        <a:rPr lang="en-US" sz="800" b="1" u="none" strike="noStrike">
                          <a:effectLst/>
                        </a:rPr>
                        <a:t>21</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gridSpan="2">
                  <a:txBody>
                    <a:bodyPr/>
                    <a:lstStyle/>
                    <a:p>
                      <a:pPr algn="ctr" fontAlgn="b"/>
                      <a:r>
                        <a:rPr lang="en-US" sz="800" b="1" u="none" strike="noStrike">
                          <a:effectLst/>
                        </a:rPr>
                        <a:t>                                Others</a:t>
                      </a:r>
                      <a:endParaRPr lang="en-US" sz="800" b="1" i="0" u="none" strike="noStrike">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endParaRPr lang="en-US"/>
                    </a:p>
                  </a:txBody>
                  <a:tcPr/>
                </a:tc>
                <a:tc>
                  <a:txBody>
                    <a:bodyPr/>
                    <a:lstStyle/>
                    <a:p>
                      <a:pPr algn="ctr" fontAlgn="b"/>
                      <a:r>
                        <a:rPr lang="en-US" sz="800" b="1" u="none" strike="noStrike" dirty="0">
                          <a:effectLst/>
                        </a:rPr>
                        <a:t>4</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4</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663814</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1.6983334</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390862</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1.53429E-06</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7553" marR="7553" marT="75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spTree>
    <p:extLst>
      <p:ext uri="{BB962C8B-B14F-4D97-AF65-F5344CB8AC3E}">
        <p14:creationId xmlns:p14="http://schemas.microsoft.com/office/powerpoint/2010/main" val="137367253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 y="152401"/>
            <a:ext cx="8915401" cy="369332"/>
          </a:xfrm>
          <a:prstGeom prst="rect">
            <a:avLst/>
          </a:prstGeom>
          <a:solidFill>
            <a:schemeClr val="accent6">
              <a:lumMod val="20000"/>
              <a:lumOff val="80000"/>
            </a:schemeClr>
          </a:solidFill>
        </p:spPr>
        <p:txBody>
          <a:bodyPr wrap="square">
            <a:spAutoFit/>
          </a:bodyPr>
          <a:lstStyle/>
          <a:p>
            <a:r>
              <a:rPr lang="en-US" b="1" dirty="0">
                <a:latin typeface="Verdana" panose="020B0604030504040204" pitchFamily="34" charset="0"/>
              </a:rPr>
              <a:t>After 12 Months Mean Distance Between Component Failure Report</a:t>
            </a:r>
            <a:r>
              <a:rPr lang="en-US" dirty="0"/>
              <a:t> </a:t>
            </a:r>
          </a:p>
        </p:txBody>
      </p:sp>
      <p:graphicFrame>
        <p:nvGraphicFramePr>
          <p:cNvPr id="6" name="Table 5"/>
          <p:cNvGraphicFramePr>
            <a:graphicFrameLocks noGrp="1"/>
          </p:cNvGraphicFramePr>
          <p:nvPr>
            <p:extLst>
              <p:ext uri="{D42A27DB-BD31-4B8C-83A1-F6EECF244321}">
                <p14:modId xmlns:p14="http://schemas.microsoft.com/office/powerpoint/2010/main" val="1482810643"/>
              </p:ext>
            </p:extLst>
          </p:nvPr>
        </p:nvGraphicFramePr>
        <p:xfrm>
          <a:off x="76200" y="521740"/>
          <a:ext cx="8915401" cy="6200104"/>
        </p:xfrm>
        <a:graphic>
          <a:graphicData uri="http://schemas.openxmlformats.org/drawingml/2006/table">
            <a:tbl>
              <a:tblPr>
                <a:tableStyleId>{5C22544A-7EE6-4342-B048-85BDC9FD1C3A}</a:tableStyleId>
              </a:tblPr>
              <a:tblGrid>
                <a:gridCol w="650271"/>
                <a:gridCol w="1160765"/>
                <a:gridCol w="785997"/>
                <a:gridCol w="796126"/>
                <a:gridCol w="601653"/>
                <a:gridCol w="680658"/>
                <a:gridCol w="388947"/>
                <a:gridCol w="1085812"/>
                <a:gridCol w="869054"/>
                <a:gridCol w="980472"/>
                <a:gridCol w="526699"/>
                <a:gridCol w="388947"/>
              </a:tblGrid>
              <a:tr h="670579">
                <a:tc>
                  <a:txBody>
                    <a:bodyPr/>
                    <a:lstStyle/>
                    <a:p>
                      <a:pPr algn="ctr" fontAlgn="b"/>
                      <a:r>
                        <a:rPr lang="en-US" sz="800" b="1" u="none" strike="noStrike" dirty="0">
                          <a:effectLst/>
                        </a:rPr>
                        <a:t>No</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System Equipment</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Equipment</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S.F Count</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N.S.F Count</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Chargeability BEML</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Chargeability DMRC</a:t>
                      </a:r>
                      <a:endParaRPr lang="en-US" sz="800" b="1" i="0" u="none" strike="noStrike">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MDBCF(KM) (Target)</a:t>
                      </a:r>
                      <a:endParaRPr lang="en-US" sz="800" b="1" i="0" u="none" strike="noStrike">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Failure Rate (Target)</a:t>
                      </a:r>
                      <a:endParaRPr lang="en-US" sz="800" b="1" i="0" u="none" strike="noStrike">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MDBCF (KM) Achived</a:t>
                      </a:r>
                      <a:endParaRPr lang="en-US" sz="800" b="1" i="0" u="none" strike="noStrike">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Failure Rate (</a:t>
                      </a:r>
                      <a:r>
                        <a:rPr lang="en-US" sz="800" b="1" u="none" strike="noStrike" dirty="0" err="1">
                          <a:effectLst/>
                        </a:rPr>
                        <a:t>Achived</a:t>
                      </a:r>
                      <a:r>
                        <a:rPr lang="en-US" sz="800" b="1" u="none" strike="noStrike" dirty="0">
                          <a:effectLst/>
                        </a:rPr>
                        <a:t>)</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err="1">
                          <a:effectLst/>
                        </a:rPr>
                        <a:t>Assesments</a:t>
                      </a:r>
                      <a:endParaRPr lang="en-US" sz="800" b="1" i="0" u="none" strike="noStrike" dirty="0">
                        <a:solidFill>
                          <a:srgbClr val="FFFFFF"/>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dirty="0">
                          <a:effectLst/>
                        </a:rPr>
                        <a:t>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Brake System</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Air Suspension Equipment</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620000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1.6129E-06</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5012">
                <a:tc>
                  <a:txBody>
                    <a:bodyPr/>
                    <a:lstStyle/>
                    <a:p>
                      <a:pPr algn="ctr" fontAlgn="b"/>
                      <a:r>
                        <a:rPr lang="en-US" sz="800" b="1" u="none" strike="noStrike">
                          <a:effectLst/>
                        </a:rPr>
                        <a:t>2</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Gangways and Couplers</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Automatic Coupling Equipment</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8000000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0.000000125</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3</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Auxiliary Electrical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Battery Charger Box</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1195000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8.3682E-07</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4</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Communication Equipment</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Communication Equipment</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5</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Con/Inv Box</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547000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1.82815E-06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Auxiliary Electrical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Converter Power Unit</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1195000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8.3682E-07</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7</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Door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Door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780000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1.28205E-06</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8</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Bogie and Suspensions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Drive System</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6000000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1.66667E-07</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9</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Structure and Vehicle Interior Fittings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LED Lighting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10000000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0.0000001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Main Transformer</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12230000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8.17661E-08</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Neutral Section Detector</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5000000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0.0000002</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12</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Pantograph</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10000000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0.0000001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13</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Bogie and Suspensions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Primary Suspension</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10000000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0.0000001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14</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Bogie and Suspensions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Secondary Suspension</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10000000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0.0000001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PASS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15</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Gangways and Couplers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Semi permanent coupler</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16000000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6.25E-08</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Train Management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TIMS</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1589000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6.29327E-07</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a:effectLst/>
                        </a:rPr>
                        <a:t>17</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Traction Motor</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3542000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2.82326E-07</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800" b="1" u="none" strike="noStrike" dirty="0">
                          <a:effectLst/>
                        </a:rPr>
                        <a:t>PASS</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913">
                <a:tc>
                  <a:txBody>
                    <a:bodyPr/>
                    <a:lstStyle/>
                    <a:p>
                      <a:pPr algn="ctr" fontAlgn="b"/>
                      <a:r>
                        <a:rPr lang="en-US" sz="800" b="1" u="none" strike="noStrike" dirty="0">
                          <a:effectLst/>
                        </a:rPr>
                        <a:t>18</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Auxiliary Electrical System</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Battery (KRM250X)</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10000000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0.0000001</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405183</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2.46802E-06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57913">
                <a:tc>
                  <a:txBody>
                    <a:bodyPr/>
                    <a:lstStyle/>
                    <a:p>
                      <a:pPr algn="ctr" fontAlgn="b"/>
                      <a:r>
                        <a:rPr lang="en-US" sz="800" b="1" u="none" strike="noStrike">
                          <a:effectLst/>
                        </a:rPr>
                        <a:t>19</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HVAC System</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HVAC System</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540000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1.85185E-06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405183</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2.46802E-06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57913">
                <a:tc>
                  <a:txBody>
                    <a:bodyPr/>
                    <a:lstStyle/>
                    <a:p>
                      <a:pPr algn="ctr" fontAlgn="b"/>
                      <a:r>
                        <a:rPr lang="en-US" sz="800" b="1" u="none" strike="noStrike">
                          <a:effectLst/>
                        </a:rPr>
                        <a:t>20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Traction System</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VCB</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2</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2</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1872000</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5.34188E-07</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202591.5</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4.93604E-06</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257913">
                <a:tc>
                  <a:txBody>
                    <a:bodyPr/>
                    <a:lstStyle/>
                    <a:p>
                      <a:pPr algn="ctr" fontAlgn="b"/>
                      <a:r>
                        <a:rPr lang="en-US" sz="800" b="1" u="none" strike="noStrike" dirty="0">
                          <a:effectLst/>
                        </a:rPr>
                        <a:t>21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gridSpan="2">
                  <a:txBody>
                    <a:bodyPr/>
                    <a:lstStyle/>
                    <a:p>
                      <a:pPr algn="ctr" fontAlgn="b"/>
                      <a:r>
                        <a:rPr lang="en-US" sz="800" b="1" u="none" strike="noStrike" dirty="0">
                          <a:effectLst/>
                        </a:rPr>
                        <a:t>                                   Others</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endParaRPr lang="en-US"/>
                    </a:p>
                  </a:txBody>
                  <a:tcPr/>
                </a:tc>
                <a:tc>
                  <a:txBody>
                    <a:bodyPr/>
                    <a:lstStyle/>
                    <a:p>
                      <a:pPr algn="ctr" fontAlgn="b"/>
                      <a:r>
                        <a:rPr lang="en-US" sz="800" b="1" u="none" strike="noStrike" dirty="0">
                          <a:effectLst/>
                        </a:rPr>
                        <a:t>8</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8</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a:effectLst/>
                        </a:rPr>
                        <a:t>0</a:t>
                      </a:r>
                      <a:endParaRPr lang="en-US" sz="800" b="1" i="0" u="none" strike="noStrike">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683941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0.00000151</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651767</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1.53429E-06</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800" b="1" u="none" strike="noStrike" dirty="0">
                          <a:effectLst/>
                        </a:rPr>
                        <a:t>FAIL</a:t>
                      </a:r>
                      <a:endParaRPr lang="en-US" sz="800" b="1" i="0" u="none" strike="noStrike" dirty="0">
                        <a:solidFill>
                          <a:srgbClr val="000000"/>
                        </a:solidFill>
                        <a:effectLst/>
                        <a:latin typeface="Verdana" panose="020B0604030504040204" pitchFamily="34" charset="0"/>
                      </a:endParaRPr>
                    </a:p>
                  </a:txBody>
                  <a:tcPr marL="5505" marR="5505" marT="55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spTree>
    <p:extLst>
      <p:ext uri="{BB962C8B-B14F-4D97-AF65-F5344CB8AC3E}">
        <p14:creationId xmlns:p14="http://schemas.microsoft.com/office/powerpoint/2010/main" val="2195890898"/>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830357538"/>
              </p:ext>
            </p:extLst>
          </p:nvPr>
        </p:nvGraphicFramePr>
        <p:xfrm>
          <a:off x="152399" y="152399"/>
          <a:ext cx="8839200" cy="6476997"/>
        </p:xfrm>
        <a:graphic>
          <a:graphicData uri="http://schemas.openxmlformats.org/drawingml/2006/table">
            <a:tbl>
              <a:tblPr>
                <a:tableStyleId>{5C22544A-7EE6-4342-B048-85BDC9FD1C3A}</a:tableStyleId>
              </a:tblPr>
              <a:tblGrid>
                <a:gridCol w="1066801"/>
                <a:gridCol w="1295400"/>
                <a:gridCol w="1524000"/>
                <a:gridCol w="1371600"/>
                <a:gridCol w="1295400"/>
                <a:gridCol w="2285999"/>
              </a:tblGrid>
              <a:tr h="674050">
                <a:tc gridSpan="6">
                  <a:txBody>
                    <a:bodyPr/>
                    <a:lstStyle/>
                    <a:p>
                      <a:pPr algn="ctr" fontAlgn="b"/>
                      <a:r>
                        <a:rPr lang="en-US" sz="1800" b="1" u="none" strike="noStrike" dirty="0" smtClean="0">
                          <a:effectLst/>
                        </a:rPr>
                        <a:t>4.                      Availability Report From June’15 to June’17</a:t>
                      </a:r>
                      <a:endParaRPr lang="en-US" sz="1800" b="1" i="0" u="none" strike="noStrike" dirty="0">
                        <a:solidFill>
                          <a:srgbClr val="0000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05537">
                <a:tc>
                  <a:txBody>
                    <a:bodyPr/>
                    <a:lstStyle/>
                    <a:p>
                      <a:pPr algn="ctr" fontAlgn="b"/>
                      <a:r>
                        <a:rPr lang="en-US" sz="1200" b="1" u="none" strike="noStrike" dirty="0">
                          <a:effectLst/>
                        </a:rPr>
                        <a:t>Trainset No.</a:t>
                      </a:r>
                      <a:endParaRPr lang="en-US" sz="1200" b="1" i="0" u="none" strike="noStrike" dirty="0">
                        <a:solidFill>
                          <a:srgbClr val="FFFF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CM Down Time</a:t>
                      </a:r>
                      <a:endParaRPr lang="en-US" sz="1200" b="1" i="0" u="none" strike="noStrike" dirty="0">
                        <a:solidFill>
                          <a:srgbClr val="FFFF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Total Time</a:t>
                      </a:r>
                      <a:endParaRPr lang="en-US" sz="1200" b="1" i="0" u="none" strike="noStrike" dirty="0">
                        <a:solidFill>
                          <a:srgbClr val="FFFF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Target (%)</a:t>
                      </a:r>
                      <a:endParaRPr lang="en-US" sz="1200" b="1" i="0" u="none" strike="noStrike" dirty="0">
                        <a:solidFill>
                          <a:srgbClr val="FFFF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Result With CM(%) </a:t>
                      </a:r>
                      <a:endParaRPr lang="en-US" sz="1200" b="1" i="0" u="none" strike="noStrike">
                        <a:solidFill>
                          <a:srgbClr val="FFFF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Result with CM Assessment</a:t>
                      </a:r>
                      <a:endParaRPr lang="en-US" sz="1200" b="1" i="0" u="none" strike="noStrike">
                        <a:solidFill>
                          <a:srgbClr val="FFFFFF"/>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dirty="0">
                          <a:effectLst/>
                        </a:rPr>
                        <a:t>TS101</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34 Day 09:55</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789 Day 00:00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95.638</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solidFill>
                            <a:srgbClr val="FF0000"/>
                          </a:solidFill>
                          <a:effectLst/>
                        </a:rPr>
                        <a:t>FAIL</a:t>
                      </a:r>
                      <a:endParaRPr lang="en-US" sz="1200" b="1" i="0" u="none" strike="noStrike" dirty="0">
                        <a:solidFill>
                          <a:srgbClr val="FF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TS102</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21 Day 23:04</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789 Day 00:00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97.217</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TS103</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26 Day 16:16</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789 Day 00:00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96.619</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TS104</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22 Day 06:10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789 Day 00:00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97.179</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TS105</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14 Day 03:58</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789 Day 00:00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96.50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98.205</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TS106</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13 Day 10:55</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789 Day 00:00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96.50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98.295</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TS107</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18 Day 01:52</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789 Day 00:00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97.709</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TS108</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16 Day 08:46</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789 Day 00:00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97.926</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TS109</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23 Day 20:07</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789 Day 00:00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96.50</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96.979</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529741">
                <a:tc>
                  <a:txBody>
                    <a:bodyPr/>
                    <a:lstStyle/>
                    <a:p>
                      <a:pPr algn="ctr" fontAlgn="b"/>
                      <a:r>
                        <a:rPr lang="en-US" sz="1200" b="1" u="none" strike="noStrike">
                          <a:effectLst/>
                        </a:rPr>
                        <a:t>TS110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19 Day 08:40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789 Day 00:00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a:effectLst/>
                        </a:rPr>
                        <a:t>96.50</a:t>
                      </a:r>
                      <a:endParaRPr lang="en-US" sz="1200" b="1" i="0" u="none" strike="noStrike">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97.546</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1" u="none" strike="noStrike" dirty="0">
                          <a:effectLst/>
                        </a:rPr>
                        <a:t>PASS</a:t>
                      </a:r>
                      <a:endParaRPr lang="en-US" sz="1200" b="1" i="0" u="none" strike="noStrike" dirty="0">
                        <a:solidFill>
                          <a:srgbClr val="000000"/>
                        </a:solidFill>
                        <a:effectLst/>
                        <a:latin typeface="Verdana" panose="020B0604030504040204" pitchFamily="34" charset="0"/>
                      </a:endParaRPr>
                    </a:p>
                  </a:txBody>
                  <a:tcPr marL="5960" marR="5960" marT="59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bl>
          </a:graphicData>
        </a:graphic>
      </p:graphicFrame>
    </p:spTree>
    <p:extLst>
      <p:ext uri="{BB962C8B-B14F-4D97-AF65-F5344CB8AC3E}">
        <p14:creationId xmlns:p14="http://schemas.microsoft.com/office/powerpoint/2010/main" val="211055789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96594905"/>
              </p:ext>
            </p:extLst>
          </p:nvPr>
        </p:nvGraphicFramePr>
        <p:xfrm>
          <a:off x="76199" y="838200"/>
          <a:ext cx="8991601" cy="5839623"/>
        </p:xfrm>
        <a:graphic>
          <a:graphicData uri="http://schemas.openxmlformats.org/drawingml/2006/table">
            <a:tbl>
              <a:tblPr firstRow="1" bandRow="1">
                <a:tableStyleId>{5C22544A-7EE6-4342-B048-85BDC9FD1C3A}</a:tableStyleId>
              </a:tblPr>
              <a:tblGrid>
                <a:gridCol w="533401"/>
                <a:gridCol w="1295400"/>
                <a:gridCol w="1371600"/>
                <a:gridCol w="4953000"/>
                <a:gridCol w="838200"/>
              </a:tblGrid>
              <a:tr h="228600">
                <a:tc>
                  <a:txBody>
                    <a:bodyPr/>
                    <a:lstStyle/>
                    <a:p>
                      <a:pPr algn="ctr"/>
                      <a:r>
                        <a:rPr lang="en-US" sz="1400" dirty="0" smtClean="0">
                          <a:latin typeface="Verdana" pitchFamily="34" charset="0"/>
                          <a:ea typeface="Verdana" pitchFamily="34" charset="0"/>
                          <a:cs typeface="Verdana" pitchFamily="34" charset="0"/>
                        </a:rPr>
                        <a:t>SN</a:t>
                      </a:r>
                      <a:endParaRPr lang="en-US" sz="1400" dirty="0">
                        <a:latin typeface="Verdana" pitchFamily="34" charset="0"/>
                        <a:ea typeface="Verdana" pitchFamily="34" charset="0"/>
                        <a:cs typeface="Verdana" pitchFamily="34" charset="0"/>
                      </a:endParaRPr>
                    </a:p>
                  </a:txBody>
                  <a:tcPr marT="45733" marB="45733"/>
                </a:tc>
                <a:tc gridSpan="2">
                  <a:txBody>
                    <a:bodyPr/>
                    <a:lstStyle/>
                    <a:p>
                      <a:pPr algn="ctr"/>
                      <a:r>
                        <a:rPr lang="en-US" sz="1400" baseline="0" dirty="0" smtClean="0">
                          <a:latin typeface="Verdana" pitchFamily="34" charset="0"/>
                          <a:ea typeface="Verdana" pitchFamily="34" charset="0"/>
                          <a:cs typeface="Verdana" pitchFamily="34" charset="0"/>
                        </a:rPr>
                        <a:t>Description</a:t>
                      </a:r>
                      <a:endParaRPr lang="en-US" sz="1400" dirty="0">
                        <a:latin typeface="Verdana" pitchFamily="34" charset="0"/>
                        <a:ea typeface="Verdana" pitchFamily="34" charset="0"/>
                        <a:cs typeface="Verdana" pitchFamily="34" charset="0"/>
                      </a:endParaRPr>
                    </a:p>
                  </a:txBody>
                  <a:tcPr marT="45733" marB="45733"/>
                </a:tc>
                <a:tc hMerge="1">
                  <a:txBody>
                    <a:bodyPr/>
                    <a:lstStyle/>
                    <a:p>
                      <a:endParaRPr lang="en-US"/>
                    </a:p>
                  </a:txBody>
                  <a:tcPr/>
                </a:tc>
                <a:tc>
                  <a:txBody>
                    <a:bodyPr/>
                    <a:lstStyle/>
                    <a:p>
                      <a:pPr algn="ctr"/>
                      <a:r>
                        <a:rPr lang="en-US" sz="1400" dirty="0" smtClean="0">
                          <a:latin typeface="Verdana" pitchFamily="34" charset="0"/>
                          <a:ea typeface="Verdana" pitchFamily="34" charset="0"/>
                          <a:cs typeface="Verdana" pitchFamily="34" charset="0"/>
                        </a:rPr>
                        <a:t>Status</a:t>
                      </a:r>
                    </a:p>
                  </a:txBody>
                  <a:tcPr marT="45733" marB="45733"/>
                </a:tc>
                <a:tc>
                  <a:txBody>
                    <a:bodyPr/>
                    <a:lstStyle/>
                    <a:p>
                      <a:pPr algn="ctr"/>
                      <a:r>
                        <a:rPr lang="en-US" sz="1400" dirty="0" smtClean="0">
                          <a:latin typeface="Verdana" pitchFamily="34" charset="0"/>
                          <a:ea typeface="Verdana" pitchFamily="34" charset="0"/>
                          <a:cs typeface="Verdana" pitchFamily="34" charset="0"/>
                        </a:rPr>
                        <a:t>Target</a:t>
                      </a:r>
                    </a:p>
                  </a:txBody>
                  <a:tcPr marT="45733" marB="45733"/>
                </a:tc>
              </a:tr>
              <a:tr h="372023">
                <a:tc>
                  <a:txBody>
                    <a:bodyPr/>
                    <a:lstStyle/>
                    <a:p>
                      <a:pPr algn="ctr"/>
                      <a:r>
                        <a:rPr lang="en-US" sz="1300" b="1" dirty="0" smtClean="0">
                          <a:latin typeface="Verdana" pitchFamily="34" charset="0"/>
                          <a:ea typeface="Verdana" pitchFamily="34" charset="0"/>
                          <a:cs typeface="Verdana" pitchFamily="34" charset="0"/>
                        </a:rPr>
                        <a:t>3.</a:t>
                      </a:r>
                    </a:p>
                  </a:txBody>
                  <a:tcPr marT="45733" marB="45733"/>
                </a:tc>
                <a:tc gridSpan="4">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dk1"/>
                          </a:solidFill>
                          <a:latin typeface="Verdana" pitchFamily="34" charset="0"/>
                          <a:ea typeface="Verdana" pitchFamily="34" charset="0"/>
                          <a:cs typeface="Verdana" pitchFamily="34" charset="0"/>
                        </a:rPr>
                        <a:t>Testing &amp; commissioning</a:t>
                      </a:r>
                    </a:p>
                  </a:txBody>
                  <a:tcPr marT="45733" marB="45733"/>
                </a:tc>
                <a:tc hMerge="1">
                  <a:txBody>
                    <a:bodyPr/>
                    <a:lstStyle/>
                    <a:p>
                      <a:endParaRPr lang="en-US"/>
                    </a:p>
                  </a:txBody>
                  <a:tcPr/>
                </a:tc>
                <a:tc hMerge="1">
                  <a:txBody>
                    <a:bodyPr/>
                    <a:lstStyle/>
                    <a:p>
                      <a:endParaRPr lang="en-US"/>
                    </a:p>
                  </a:txBody>
                  <a:tcPr/>
                </a:tc>
                <a:tc hMerge="1">
                  <a:txBody>
                    <a:bodyPr/>
                    <a:lstStyle/>
                    <a:p>
                      <a:endParaRPr lang="en-US"/>
                    </a:p>
                  </a:txBody>
                  <a:tcPr/>
                </a:tc>
              </a:tr>
              <a:tr h="618551">
                <a:tc>
                  <a:txBody>
                    <a:bodyPr/>
                    <a:lstStyle/>
                    <a:p>
                      <a:pPr algn="ctr"/>
                      <a:r>
                        <a:rPr lang="en-US" sz="1300" b="1" dirty="0" smtClean="0">
                          <a:latin typeface="Verdana" pitchFamily="34" charset="0"/>
                          <a:ea typeface="Verdana" pitchFamily="34" charset="0"/>
                          <a:cs typeface="Verdana" pitchFamily="34" charset="0"/>
                        </a:rPr>
                        <a:t>3.1</a:t>
                      </a:r>
                    </a:p>
                  </a:txBody>
                  <a:tcPr marT="45733" marB="45733"/>
                </a:tc>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Implementation of HVAC blower modification in line with RS3.</a:t>
                      </a:r>
                    </a:p>
                  </a:txBody>
                  <a:tcPr marT="45733" marB="45733"/>
                </a:tc>
                <a:tc hMerge="1">
                  <a:txBody>
                    <a:bodyPr/>
                    <a:lstStyle/>
                    <a:p>
                      <a:endParaRPr lang="en-US"/>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The existing 38 blade MS blowers of all Saloon HVACs of one train-set (TS02) have been replaced with 42 blade SS blowers on 11</a:t>
                      </a:r>
                      <a:r>
                        <a:rPr kumimoji="0" lang="en-US" sz="1300" kern="1200" baseline="30000" dirty="0" smtClean="0">
                          <a:solidFill>
                            <a:schemeClr val="dk1"/>
                          </a:solidFill>
                          <a:latin typeface="Verdana" pitchFamily="34" charset="0"/>
                          <a:ea typeface="Verdana" pitchFamily="34" charset="0"/>
                          <a:cs typeface="Verdana" pitchFamily="34" charset="0"/>
                        </a:rPr>
                        <a:t>th</a:t>
                      </a:r>
                      <a:r>
                        <a:rPr kumimoji="0" lang="en-US" sz="1300" kern="1200" baseline="0" dirty="0" smtClean="0">
                          <a:solidFill>
                            <a:schemeClr val="dk1"/>
                          </a:solidFill>
                          <a:latin typeface="Verdana" pitchFamily="34" charset="0"/>
                          <a:ea typeface="Verdana" pitchFamily="34" charset="0"/>
                          <a:cs typeface="Verdana" pitchFamily="34" charset="0"/>
                        </a:rPr>
                        <a:t> July’17. The activity will be completed in remaining train-sets by Oct’17.</a:t>
                      </a:r>
                    </a:p>
                  </a:txBody>
                  <a:tcPr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Sep’17</a:t>
                      </a:r>
                      <a:endParaRPr kumimoji="0" lang="en-US" sz="1300" kern="1200" baseline="0" dirty="0">
                        <a:solidFill>
                          <a:schemeClr val="dk1"/>
                        </a:solidFill>
                        <a:latin typeface="Verdana" pitchFamily="34" charset="0"/>
                        <a:ea typeface="Verdana" pitchFamily="34" charset="0"/>
                        <a:cs typeface="Verdana" pitchFamily="34" charset="0"/>
                      </a:endParaRPr>
                    </a:p>
                  </a:txBody>
                  <a:tcPr marT="45733" marB="45733"/>
                </a:tc>
              </a:tr>
              <a:tr h="462988">
                <a:tc>
                  <a:txBody>
                    <a:bodyPr/>
                    <a:lstStyle/>
                    <a:p>
                      <a:pPr algn="ctr"/>
                      <a:r>
                        <a:rPr lang="en-US" sz="1300" b="1" dirty="0" smtClean="0">
                          <a:latin typeface="Verdana" pitchFamily="34" charset="0"/>
                          <a:ea typeface="Verdana" pitchFamily="34" charset="0"/>
                          <a:cs typeface="Verdana" pitchFamily="34" charset="0"/>
                        </a:rPr>
                        <a:t>3.2</a:t>
                      </a:r>
                    </a:p>
                  </a:txBody>
                  <a:tcPr marT="45733" marB="45733"/>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Wi-Fi Commissioning.</a:t>
                      </a:r>
                    </a:p>
                  </a:txBody>
                  <a:tcPr marT="45733" marB="45733"/>
                </a:tc>
                <a:tc hMerge="1">
                  <a:txBody>
                    <a:bodyPr/>
                    <a:lstStyle/>
                    <a:p>
                      <a:endParaRPr lang="en-US"/>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PO has been placed on M/s. MEI. The commissioning work would start at depot by Dec’17.</a:t>
                      </a:r>
                    </a:p>
                  </a:txBody>
                  <a:tcPr marL="114300" marR="11430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Dec’17</a:t>
                      </a:r>
                    </a:p>
                  </a:txBody>
                  <a:tcPr marT="45733" marB="45733"/>
                </a:tc>
              </a:tr>
              <a:tr h="462988">
                <a:tc>
                  <a:txBody>
                    <a:bodyPr/>
                    <a:lstStyle/>
                    <a:p>
                      <a:pPr algn="ctr"/>
                      <a:r>
                        <a:rPr lang="en-US" sz="1300" b="1" dirty="0" smtClean="0">
                          <a:latin typeface="Verdana" pitchFamily="34" charset="0"/>
                          <a:ea typeface="Verdana" pitchFamily="34" charset="0"/>
                          <a:cs typeface="Verdana" pitchFamily="34" charset="0"/>
                        </a:rPr>
                        <a:t>4.</a:t>
                      </a:r>
                    </a:p>
                  </a:txBody>
                  <a:tcPr marT="45733" marB="45733"/>
                </a:tc>
                <a:tc gridSpan="4">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Action plan for closing remaining point of factory pending issues-Part A</a:t>
                      </a:r>
                    </a:p>
                  </a:txBody>
                  <a:tcPr marT="45733" marB="45733"/>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kern="1200" baseline="0" dirty="0">
                        <a:solidFill>
                          <a:schemeClr val="dk1"/>
                        </a:solidFill>
                        <a:latin typeface="Verdana" pitchFamily="34" charset="0"/>
                        <a:ea typeface="Verdana" pitchFamily="34" charset="0"/>
                        <a:cs typeface="Verdana" pitchFamily="34" charset="0"/>
                      </a:endParaRPr>
                    </a:p>
                  </a:txBody>
                  <a:tcPr marT="45733" marB="45733"/>
                </a:tc>
              </a:tr>
              <a:tr h="462988">
                <a:tc>
                  <a:txBody>
                    <a:bodyPr/>
                    <a:lstStyle/>
                    <a:p>
                      <a:pPr algn="ctr"/>
                      <a:r>
                        <a:rPr lang="en-US" sz="1300" b="1" dirty="0" smtClean="0">
                          <a:latin typeface="Verdana" pitchFamily="34" charset="0"/>
                          <a:ea typeface="Verdana" pitchFamily="34" charset="0"/>
                          <a:cs typeface="Verdana" pitchFamily="34" charset="0"/>
                        </a:rPr>
                        <a:t>4.1</a:t>
                      </a:r>
                    </a:p>
                  </a:txBody>
                  <a:tcPr marT="45733" marB="45733"/>
                </a:tc>
                <a:tc gridSpan="2">
                  <a:txBody>
                    <a:bodyPr/>
                    <a:lstStyle/>
                    <a:p>
                      <a:pPr algn="just"/>
                      <a:r>
                        <a:rPr kumimoji="0" lang="en-US" sz="1300" b="0" kern="1200" baseline="0" dirty="0" smtClean="0">
                          <a:solidFill>
                            <a:schemeClr val="tx1"/>
                          </a:solidFill>
                          <a:latin typeface="Verdana" pitchFamily="34" charset="0"/>
                          <a:ea typeface="Verdana" pitchFamily="34" charset="0"/>
                          <a:cs typeface="Verdana" pitchFamily="34" charset="0"/>
                        </a:rPr>
                        <a:t>Replacement of Wheel set No. 00016 in TS01/DT2/Bogie No. T002.</a:t>
                      </a:r>
                    </a:p>
                  </a:txBody>
                  <a:tcPr marT="45733" marB="45733"/>
                </a:tc>
                <a:tc hMerge="1">
                  <a:txBody>
                    <a:bodyPr/>
                    <a:lstStyle/>
                    <a:p>
                      <a:endParaRPr lang="en-US"/>
                    </a:p>
                  </a:txBody>
                  <a:tcPr/>
                </a:tc>
                <a:tc>
                  <a:txBody>
                    <a:bodyPr/>
                    <a:lstStyle/>
                    <a:p>
                      <a:pPr algn="just"/>
                      <a:r>
                        <a:rPr kumimoji="0" lang="en-US" sz="1300" b="0" kern="1200" baseline="0" dirty="0" smtClean="0">
                          <a:solidFill>
                            <a:schemeClr val="tx1"/>
                          </a:solidFill>
                          <a:latin typeface="Verdana" pitchFamily="34" charset="0"/>
                          <a:ea typeface="Verdana" pitchFamily="34" charset="0"/>
                          <a:cs typeface="Verdana" pitchFamily="34" charset="0"/>
                        </a:rPr>
                        <a:t>The PO has been placed. The spare wheel set would be supplied by Sept’17.</a:t>
                      </a:r>
                    </a:p>
                  </a:txBody>
                  <a:tcPr marL="114300" marR="114300" marT="0" marB="0"/>
                </a:tc>
                <a:tc>
                  <a:txBody>
                    <a:bodyPr/>
                    <a:lstStyle/>
                    <a:p>
                      <a:pPr marL="0" algn="ctr" rtl="0" eaLnBrk="1" latinLnBrk="0" hangingPunct="1"/>
                      <a:r>
                        <a:rPr kumimoji="0" lang="en-US" sz="1300" b="0" kern="1200" baseline="0" dirty="0" smtClean="0">
                          <a:solidFill>
                            <a:schemeClr val="tx1"/>
                          </a:solidFill>
                          <a:latin typeface="Verdana" pitchFamily="34" charset="0"/>
                          <a:ea typeface="Verdana" pitchFamily="34" charset="0"/>
                          <a:cs typeface="Verdana" pitchFamily="34" charset="0"/>
                        </a:rPr>
                        <a:t>Sept’17</a:t>
                      </a:r>
                    </a:p>
                  </a:txBody>
                  <a:tcPr marT="45733" marB="45733"/>
                </a:tc>
              </a:tr>
              <a:tr h="216445">
                <a:tc>
                  <a:txBody>
                    <a:bodyPr/>
                    <a:lstStyle/>
                    <a:p>
                      <a:pPr algn="ctr"/>
                      <a:r>
                        <a:rPr lang="en-US" sz="1300" b="1" dirty="0" smtClean="0">
                          <a:latin typeface="Verdana" pitchFamily="34" charset="0"/>
                          <a:ea typeface="Verdana" pitchFamily="34" charset="0"/>
                          <a:cs typeface="Verdana" pitchFamily="34" charset="0"/>
                        </a:rPr>
                        <a:t>5.</a:t>
                      </a:r>
                    </a:p>
                  </a:txBody>
                  <a:tcPr marT="45733" marB="45733"/>
                </a:tc>
                <a:tc gridSpan="4">
                  <a:txBody>
                    <a:bodyPr/>
                    <a:lstStyle/>
                    <a:p>
                      <a:pPr marL="0" algn="just" defTabSz="914400" rtl="0" eaLnBrk="1" latinLnBrk="0" hangingPunct="1"/>
                      <a:r>
                        <a:rPr kumimoji="0" lang="en-US" sz="1300" b="1" kern="1200" baseline="0" dirty="0" smtClean="0">
                          <a:solidFill>
                            <a:schemeClr val="tx1"/>
                          </a:solidFill>
                          <a:latin typeface="Verdana" pitchFamily="34" charset="0"/>
                          <a:ea typeface="Verdana" pitchFamily="34" charset="0"/>
                          <a:cs typeface="Verdana" pitchFamily="34" charset="0"/>
                        </a:rPr>
                        <a:t>Spares</a:t>
                      </a:r>
                    </a:p>
                  </a:txBody>
                  <a:tcPr marT="45733" marB="45733"/>
                </a:tc>
                <a:tc hMerge="1">
                  <a:txBody>
                    <a:bodyPr/>
                    <a:lstStyle/>
                    <a:p>
                      <a:endParaRPr lang="en-US"/>
                    </a:p>
                  </a:txBody>
                  <a:tcPr/>
                </a:tc>
                <a:tc hMerge="1">
                  <a:txBody>
                    <a:bodyPr/>
                    <a:lstStyle/>
                    <a:p>
                      <a:endParaRPr lang="en-US"/>
                    </a:p>
                  </a:txBody>
                  <a:tcPr/>
                </a:tc>
                <a:tc hMerge="1">
                  <a:txBody>
                    <a:bodyPr/>
                    <a:lstStyle/>
                    <a:p>
                      <a:pPr marL="0" algn="ctr" defTabSz="914400" rtl="0" eaLnBrk="1" latinLnBrk="0" hangingPunct="1"/>
                      <a:endParaRPr kumimoji="0" lang="en-US" sz="1300" b="0" kern="1200" baseline="0" dirty="0">
                        <a:solidFill>
                          <a:schemeClr val="tx1"/>
                        </a:solidFill>
                        <a:latin typeface="Verdana" pitchFamily="34" charset="0"/>
                        <a:ea typeface="Verdana" pitchFamily="34" charset="0"/>
                        <a:cs typeface="Verdana" pitchFamily="34" charset="0"/>
                      </a:endParaRPr>
                    </a:p>
                  </a:txBody>
                  <a:tcPr marT="45733" marB="45733"/>
                </a:tc>
              </a:tr>
              <a:tr h="462988">
                <a:tc>
                  <a:txBody>
                    <a:bodyPr/>
                    <a:lstStyle/>
                    <a:p>
                      <a:pPr algn="ctr"/>
                      <a:r>
                        <a:rPr lang="en-US" sz="1300" b="1" dirty="0" smtClean="0">
                          <a:latin typeface="Verdana" pitchFamily="34" charset="0"/>
                          <a:ea typeface="Verdana" pitchFamily="34" charset="0"/>
                          <a:cs typeface="Verdana" pitchFamily="34" charset="0"/>
                        </a:rPr>
                        <a:t>5.1</a:t>
                      </a:r>
                    </a:p>
                  </a:txBody>
                  <a:tcPr marT="45733" marB="45733"/>
                </a:tc>
                <a:tc>
                  <a:txBody>
                    <a:bodyPr/>
                    <a:lstStyle/>
                    <a:p>
                      <a:pPr marL="0" algn="just" defTabSz="914400" rtl="0" eaLnBrk="1" latinLnBrk="0" hangingPunct="1"/>
                      <a:r>
                        <a:rPr kumimoji="0" lang="en-US" sz="1300" b="0" kern="1200" baseline="0" dirty="0" smtClean="0">
                          <a:solidFill>
                            <a:schemeClr val="tx1"/>
                          </a:solidFill>
                          <a:latin typeface="Verdana" pitchFamily="34" charset="0"/>
                          <a:ea typeface="Verdana" pitchFamily="34" charset="0"/>
                          <a:cs typeface="Verdana" pitchFamily="34" charset="0"/>
                        </a:rPr>
                        <a:t>DLP Spares</a:t>
                      </a:r>
                    </a:p>
                  </a:txBody>
                  <a:tcPr marT="45733" marB="45733"/>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All required DLP spares have been positioned at depot. The majority of shortfall quantity of used items are being recouped regularly. The status/schedule of recoupment of items pertaining to MELCO is as under: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err="1" smtClean="0">
                          <a:solidFill>
                            <a:schemeClr val="tx1"/>
                          </a:solidFill>
                          <a:latin typeface="Verdana" pitchFamily="34" charset="0"/>
                          <a:ea typeface="Verdana" pitchFamily="34" charset="0"/>
                          <a:cs typeface="Verdana" pitchFamily="34" charset="0"/>
                        </a:rPr>
                        <a:t>i</a:t>
                      </a:r>
                      <a:r>
                        <a:rPr kumimoji="0" lang="en-US" sz="1300" kern="1200" baseline="0" dirty="0" smtClean="0">
                          <a:solidFill>
                            <a:schemeClr val="tx1"/>
                          </a:solidFill>
                          <a:latin typeface="Verdana" pitchFamily="34" charset="0"/>
                          <a:ea typeface="Verdana" pitchFamily="34" charset="0"/>
                          <a:cs typeface="Verdana" pitchFamily="34" charset="0"/>
                        </a:rPr>
                        <a:t>). SIV MCBRX Card: The delivery date will be informed by July’2017.</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ii). SIV ACC Unit (JMRC Loan): The delivery date will be informed by July’2017.</a:t>
                      </a:r>
                      <a:endParaRPr kumimoji="0" lang="en-IN" sz="1300" kern="1200" baseline="0" dirty="0" smtClean="0">
                        <a:solidFill>
                          <a:schemeClr val="tx1"/>
                        </a:solidFill>
                        <a:latin typeface="Verdana" pitchFamily="34" charset="0"/>
                        <a:ea typeface="Verdana" pitchFamily="34" charset="0"/>
                        <a:cs typeface="Verdana" pitchFamily="34" charset="0"/>
                      </a:endParaRPr>
                    </a:p>
                  </a:txBody>
                  <a:tcPr marL="114300" marR="114300" marT="0" marB="0"/>
                </a:tc>
                <a:tc hMerge="1">
                  <a:txBody>
                    <a:bodyPr/>
                    <a:lstStyle/>
                    <a:p>
                      <a:endParaRPr lang="en-US"/>
                    </a:p>
                  </a:txBody>
                  <a:tcPr/>
                </a:tc>
                <a:tc>
                  <a:txBody>
                    <a:bodyPr/>
                    <a:lstStyle/>
                    <a:p>
                      <a:pPr marL="0" algn="ctr" defTabSz="914400" rtl="0" eaLnBrk="1" latinLnBrk="0" hangingPunct="1"/>
                      <a:endParaRPr kumimoji="0" lang="en-US" sz="1300" b="0" kern="1200" baseline="0" dirty="0">
                        <a:solidFill>
                          <a:schemeClr val="tx1"/>
                        </a:solidFill>
                        <a:latin typeface="Verdana" pitchFamily="34" charset="0"/>
                        <a:ea typeface="Verdana" pitchFamily="34" charset="0"/>
                        <a:cs typeface="Verdana" pitchFamily="34" charset="0"/>
                      </a:endParaRPr>
                    </a:p>
                  </a:txBody>
                  <a:tcPr marT="45733" marB="45733"/>
                </a:tc>
              </a:tr>
              <a:tr h="462988">
                <a:tc>
                  <a:txBody>
                    <a:bodyPr/>
                    <a:lstStyle/>
                    <a:p>
                      <a:pPr algn="ctr"/>
                      <a:r>
                        <a:rPr lang="en-US" sz="1300" b="1" dirty="0" smtClean="0">
                          <a:latin typeface="Verdana" pitchFamily="34" charset="0"/>
                          <a:ea typeface="Verdana" pitchFamily="34" charset="0"/>
                          <a:cs typeface="Verdana" pitchFamily="34" charset="0"/>
                        </a:rPr>
                        <a:t>5.2</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Consumable Spares</a:t>
                      </a:r>
                    </a:p>
                  </a:txBody>
                  <a:tcPr marT="45733" marB="45733"/>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The consumable spares required for performing A,B1,B2,B4 &amp; B8 maintenance checks have been handed over to JMRC Custody Stores. The shortfall quantity of all used items is being recouped as per JMRC requirement. Regarding consumable spares required for C-1 check, majority of items have been handed over to JMRC.</a:t>
                      </a:r>
                    </a:p>
                  </a:txBody>
                  <a:tcPr marL="114300" marR="114300" marT="0" marB="0"/>
                </a:tc>
                <a:tc hMerge="1">
                  <a:txBody>
                    <a:bodyPr/>
                    <a:lstStyle/>
                    <a:p>
                      <a:endParaRPr lang="en-US"/>
                    </a:p>
                  </a:txBody>
                  <a:tcPr/>
                </a:tc>
                <a:tc>
                  <a:txBody>
                    <a:bodyPr/>
                    <a:lstStyle/>
                    <a:p>
                      <a:pPr marL="0" algn="ctr" defTabSz="914400" rtl="0" eaLnBrk="1" latinLnBrk="0" hangingPunct="1"/>
                      <a:endParaRPr kumimoji="0" lang="en-US" sz="1300" b="0" kern="1200" baseline="0" dirty="0">
                        <a:solidFill>
                          <a:schemeClr val="tx1"/>
                        </a:solidFill>
                        <a:latin typeface="Verdana" pitchFamily="34" charset="0"/>
                        <a:ea typeface="Verdana" pitchFamily="34" charset="0"/>
                        <a:cs typeface="Verdana" pitchFamily="34" charset="0"/>
                      </a:endParaRPr>
                    </a:p>
                  </a:txBody>
                  <a:tcPr marT="45733" marB="45733"/>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76200"/>
            <a:ext cx="1143000" cy="381000"/>
          </a:xfrm>
          <a:prstGeom prst="rect">
            <a:avLst/>
          </a:prstGeom>
          <a:noFill/>
          <a:ln w="9525">
            <a:noFill/>
            <a:miter lim="800000"/>
            <a:headEnd/>
            <a:tailEnd/>
          </a:ln>
        </p:spPr>
      </p:pic>
      <p:graphicFrame>
        <p:nvGraphicFramePr>
          <p:cNvPr id="4" name="Table 3"/>
          <p:cNvGraphicFramePr>
            <a:graphicFrameLocks noGrp="1"/>
          </p:cNvGraphicFramePr>
          <p:nvPr>
            <p:extLst>
              <p:ext uri="{D42A27DB-BD31-4B8C-83A1-F6EECF244321}">
                <p14:modId xmlns:p14="http://schemas.microsoft.com/office/powerpoint/2010/main" val="742160210"/>
              </p:ext>
            </p:extLst>
          </p:nvPr>
        </p:nvGraphicFramePr>
        <p:xfrm>
          <a:off x="76200" y="457200"/>
          <a:ext cx="8991600" cy="335306"/>
        </p:xfrm>
        <a:graphic>
          <a:graphicData uri="http://schemas.openxmlformats.org/drawingml/2006/table">
            <a:tbl>
              <a:tblPr firstRow="1" bandRow="1">
                <a:tableStyleId>{5C22544A-7EE6-4342-B048-85BDC9FD1C3A}</a:tableStyleId>
              </a:tblPr>
              <a:tblGrid>
                <a:gridCol w="8991600"/>
              </a:tblGrid>
              <a:tr h="30479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smtClean="0">
                          <a:latin typeface="Verdana" pitchFamily="34" charset="0"/>
                          <a:ea typeface="Verdana" pitchFamily="34" charset="0"/>
                          <a:cs typeface="Verdana" pitchFamily="34" charset="0"/>
                        </a:rPr>
                        <a:t>5. Monthly Review Points</a:t>
                      </a:r>
                      <a:endParaRPr kumimoji="0" lang="en-US" sz="1600" b="1" kern="1200" baseline="0" dirty="0">
                        <a:solidFill>
                          <a:schemeClr val="lt1"/>
                        </a:solidFill>
                        <a:latin typeface="Verdana" pitchFamily="34" charset="0"/>
                        <a:ea typeface="Verdana" pitchFamily="34" charset="0"/>
                        <a:cs typeface="Verdana" pitchFamily="34"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bl>
          </a:graphicData>
        </a:graphic>
      </p:graphicFrame>
    </p:spTree>
    <p:extLst>
      <p:ext uri="{BB962C8B-B14F-4D97-AF65-F5344CB8AC3E}">
        <p14:creationId xmlns:p14="http://schemas.microsoft.com/office/powerpoint/2010/main" val="223163630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76200" y="457200"/>
          <a:ext cx="8991600" cy="6309464"/>
        </p:xfrm>
        <a:graphic>
          <a:graphicData uri="http://schemas.openxmlformats.org/drawingml/2006/table">
            <a:tbl>
              <a:tblPr firstRow="1" bandRow="1">
                <a:tableStyleId>{5C22544A-7EE6-4342-B048-85BDC9FD1C3A}</a:tableStyleId>
              </a:tblPr>
              <a:tblGrid>
                <a:gridCol w="533400"/>
                <a:gridCol w="1676400"/>
                <a:gridCol w="5562600"/>
                <a:gridCol w="1219200"/>
              </a:tblGrid>
              <a:tr h="381000">
                <a:tc>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r>
              <a:tr h="198172">
                <a:tc rowSpan="4">
                  <a:txBody>
                    <a:bodyPr/>
                    <a:lstStyle/>
                    <a:p>
                      <a:pPr algn="ctr"/>
                      <a:r>
                        <a:rPr lang="en-US" sz="1400" b="1" dirty="0" smtClean="0">
                          <a:latin typeface="Verdana" pitchFamily="34" charset="0"/>
                          <a:ea typeface="Verdana" pitchFamily="34" charset="0"/>
                          <a:cs typeface="Verdana" pitchFamily="34" charset="0"/>
                        </a:rPr>
                        <a:t>6.</a:t>
                      </a:r>
                    </a:p>
                  </a:txBody>
                  <a:tcPr marT="45733" marB="45733"/>
                </a:tc>
                <a:tc gridSpan="3">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1" kern="1200" dirty="0" smtClean="0">
                          <a:solidFill>
                            <a:schemeClr val="dk1"/>
                          </a:solidFill>
                          <a:latin typeface="Verdana" pitchFamily="34" charset="0"/>
                          <a:ea typeface="Verdana" pitchFamily="34" charset="0"/>
                          <a:cs typeface="Verdana" pitchFamily="34" charset="0"/>
                        </a:rPr>
                        <a:t>Training to JMRC Staffs: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The training to JMRC staff on PA/PIS, Pantograph, Secondary suspension, CI/SIV/TIMS, CCTV, HVAC, Battery and Bogie systems have already been completed. The status of training on remaining systems are as below:</a:t>
                      </a:r>
                    </a:p>
                  </a:txBody>
                  <a:tcPr marT="45733" marB="45733"/>
                </a:tc>
                <a:tc hMerge="1">
                  <a:txBody>
                    <a:bodyPr/>
                    <a:lstStyle/>
                    <a:p>
                      <a:endParaRPr lang="en-US"/>
                    </a:p>
                  </a:txBody>
                  <a:tcPr/>
                </a:tc>
                <a:tc hMerge="1">
                  <a:txBody>
                    <a:bodyPr/>
                    <a:lstStyle/>
                    <a:p>
                      <a:endParaRPr lang="en-US"/>
                    </a:p>
                  </a:txBody>
                  <a:tcPr/>
                </a:tc>
              </a:tr>
              <a:tr h="152374">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Gangway</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training topics along with budgetary offer and tentative schedule from OEM (M/s. </a:t>
                      </a:r>
                      <a:r>
                        <a:rPr kumimoji="0" lang="en-US" sz="1300" b="0" kern="1200" baseline="0" dirty="0" err="1" smtClean="0">
                          <a:solidFill>
                            <a:schemeClr val="tx1"/>
                          </a:solidFill>
                          <a:latin typeface="Verdana" pitchFamily="34" charset="0"/>
                          <a:ea typeface="Verdana" pitchFamily="34" charset="0"/>
                          <a:cs typeface="Verdana" pitchFamily="34" charset="0"/>
                        </a:rPr>
                        <a:t>Hubner</a:t>
                      </a:r>
                      <a:r>
                        <a:rPr kumimoji="0" lang="en-US" sz="1300" b="0" kern="1200" baseline="0" dirty="0" smtClean="0">
                          <a:solidFill>
                            <a:schemeClr val="tx1"/>
                          </a:solidFill>
                          <a:latin typeface="Verdana" pitchFamily="34" charset="0"/>
                          <a:ea typeface="Verdana" pitchFamily="34" charset="0"/>
                          <a:cs typeface="Verdana" pitchFamily="34" charset="0"/>
                        </a:rPr>
                        <a:t>) was submitted to DMRC vide BEML’s letter Ref: BEML/RS8/16-17/501 </a:t>
                      </a:r>
                      <a:r>
                        <a:rPr kumimoji="0" lang="en-US" sz="1300" b="0" kern="1200" baseline="0" dirty="0" err="1" smtClean="0">
                          <a:solidFill>
                            <a:schemeClr val="tx1"/>
                          </a:solidFill>
                          <a:latin typeface="Verdana" pitchFamily="34" charset="0"/>
                          <a:ea typeface="Verdana" pitchFamily="34" charset="0"/>
                          <a:cs typeface="Verdana" pitchFamily="34" charset="0"/>
                        </a:rPr>
                        <a:t>dt</a:t>
                      </a:r>
                      <a:r>
                        <a:rPr kumimoji="0" lang="en-US" sz="1300" b="0" kern="1200" baseline="0" dirty="0" smtClean="0">
                          <a:solidFill>
                            <a:schemeClr val="tx1"/>
                          </a:solidFill>
                          <a:latin typeface="Verdana" pitchFamily="34" charset="0"/>
                          <a:ea typeface="Verdana" pitchFamily="34" charset="0"/>
                          <a:cs typeface="Verdana" pitchFamily="34" charset="0"/>
                        </a:rPr>
                        <a:t>. 1</a:t>
                      </a:r>
                      <a:r>
                        <a:rPr kumimoji="0" lang="en-US" sz="1300" b="0" kern="1200" baseline="30000" dirty="0" smtClean="0">
                          <a:solidFill>
                            <a:schemeClr val="tx1"/>
                          </a:solidFill>
                          <a:latin typeface="Verdana" pitchFamily="34" charset="0"/>
                          <a:ea typeface="Verdana" pitchFamily="34" charset="0"/>
                          <a:cs typeface="Verdana" pitchFamily="34" charset="0"/>
                        </a:rPr>
                        <a:t>st</a:t>
                      </a:r>
                      <a:r>
                        <a:rPr kumimoji="0" lang="en-US" sz="1300" b="0" kern="1200" baseline="0" dirty="0" smtClean="0">
                          <a:solidFill>
                            <a:schemeClr val="tx1"/>
                          </a:solidFill>
                          <a:latin typeface="Verdana" pitchFamily="34" charset="0"/>
                          <a:ea typeface="Verdana" pitchFamily="34" charset="0"/>
                          <a:cs typeface="Verdana" pitchFamily="34" charset="0"/>
                        </a:rPr>
                        <a:t> Aug’2016. DMRC’s approval (letter r</a:t>
                      </a:r>
                      <a:r>
                        <a:rPr kumimoji="0" lang="en-US" sz="1300" kern="1200" baseline="0" dirty="0" smtClean="0">
                          <a:solidFill>
                            <a:schemeClr val="tx1"/>
                          </a:solidFill>
                          <a:latin typeface="Verdana" pitchFamily="34" charset="0"/>
                          <a:ea typeface="Verdana" pitchFamily="34" charset="0"/>
                          <a:cs typeface="Verdana" pitchFamily="34" charset="0"/>
                        </a:rPr>
                        <a:t>ef: DMRC/134/15/RS8/Training/6054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16</a:t>
                      </a:r>
                      <a:r>
                        <a:rPr kumimoji="0" lang="en-US" sz="1300" kern="1200" baseline="30000" dirty="0" smtClean="0">
                          <a:solidFill>
                            <a:schemeClr val="tx1"/>
                          </a:solidFill>
                          <a:latin typeface="Verdana" pitchFamily="34" charset="0"/>
                          <a:ea typeface="Verdana" pitchFamily="34" charset="0"/>
                          <a:cs typeface="Verdana" pitchFamily="34" charset="0"/>
                        </a:rPr>
                        <a:t>th</a:t>
                      </a:r>
                      <a:r>
                        <a:rPr kumimoji="0" lang="en-US" sz="1300" kern="1200" baseline="0" dirty="0" smtClean="0">
                          <a:solidFill>
                            <a:schemeClr val="tx1"/>
                          </a:solidFill>
                          <a:latin typeface="Verdana" pitchFamily="34" charset="0"/>
                          <a:ea typeface="Verdana" pitchFamily="34" charset="0"/>
                          <a:cs typeface="Verdana" pitchFamily="34" charset="0"/>
                        </a:rPr>
                        <a:t> Sept’2016)</a:t>
                      </a:r>
                      <a:r>
                        <a:rPr kumimoji="0" lang="en-US" sz="1300" b="0" kern="1200" baseline="0" dirty="0" smtClean="0">
                          <a:solidFill>
                            <a:schemeClr val="tx1"/>
                          </a:solidFill>
                          <a:latin typeface="Verdana" pitchFamily="34" charset="0"/>
                          <a:ea typeface="Verdana" pitchFamily="34" charset="0"/>
                          <a:cs typeface="Verdana" pitchFamily="34" charset="0"/>
                        </a:rPr>
                        <a:t> on OEM’s budgetary offer has been received. Further, as advised vide DMRC’s letter (r</a:t>
                      </a:r>
                      <a:r>
                        <a:rPr kumimoji="0" lang="en-US" sz="1300" kern="1200" baseline="0" dirty="0" smtClean="0">
                          <a:solidFill>
                            <a:schemeClr val="tx1"/>
                          </a:solidFill>
                          <a:latin typeface="Verdana" pitchFamily="34" charset="0"/>
                          <a:ea typeface="Verdana" pitchFamily="34" charset="0"/>
                          <a:cs typeface="Verdana" pitchFamily="34" charset="0"/>
                        </a:rPr>
                        <a:t>ef: DMRC/134/15/RS8/Training/6363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05</a:t>
                      </a:r>
                      <a:r>
                        <a:rPr kumimoji="0" lang="en-US" sz="1300" kern="1200" baseline="30000" dirty="0" smtClean="0">
                          <a:solidFill>
                            <a:schemeClr val="tx1"/>
                          </a:solidFill>
                          <a:latin typeface="Verdana" pitchFamily="34" charset="0"/>
                          <a:ea typeface="Verdana" pitchFamily="34" charset="0"/>
                          <a:cs typeface="Verdana" pitchFamily="34" charset="0"/>
                        </a:rPr>
                        <a:t>th</a:t>
                      </a:r>
                      <a:r>
                        <a:rPr kumimoji="0" lang="en-US" sz="1300" kern="1200" baseline="0" dirty="0" smtClean="0">
                          <a:solidFill>
                            <a:schemeClr val="tx1"/>
                          </a:solidFill>
                          <a:latin typeface="Verdana" pitchFamily="34" charset="0"/>
                          <a:ea typeface="Verdana" pitchFamily="34" charset="0"/>
                          <a:cs typeface="Verdana" pitchFamily="34" charset="0"/>
                        </a:rPr>
                        <a:t> June’2017</a:t>
                      </a:r>
                      <a:r>
                        <a:rPr kumimoji="0" lang="en-US" sz="1300" b="0" kern="1200" baseline="0" dirty="0" smtClean="0">
                          <a:solidFill>
                            <a:schemeClr val="tx1"/>
                          </a:solidFill>
                          <a:latin typeface="Verdana" pitchFamily="34" charset="0"/>
                          <a:ea typeface="Verdana" pitchFamily="34" charset="0"/>
                          <a:cs typeface="Verdana" pitchFamily="34" charset="0"/>
                        </a:rPr>
                        <a:t>) this training has been postponed for next six months.</a:t>
                      </a:r>
                    </a:p>
                  </a:txBody>
                  <a:tcPr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As per JMRC’s requirement</a:t>
                      </a:r>
                      <a:endParaRPr kumimoji="0" lang="en-US" sz="1300" b="0" kern="1200" baseline="0" dirty="0">
                        <a:solidFill>
                          <a:schemeClr val="tx1"/>
                        </a:solidFill>
                        <a:latin typeface="Verdana" pitchFamily="34" charset="0"/>
                        <a:ea typeface="Verdana" pitchFamily="34" charset="0"/>
                        <a:cs typeface="Verdana" pitchFamily="34" charset="0"/>
                      </a:endParaRPr>
                    </a:p>
                  </a:txBody>
                  <a:tcPr marT="45733" marB="45733"/>
                </a:tc>
              </a:tr>
              <a:tr h="152374">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Coupler</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training topics along with budgetary offer from OEM (M/s. </a:t>
                      </a:r>
                      <a:r>
                        <a:rPr kumimoji="0" lang="en-US" sz="1300" b="0" kern="1200" baseline="0" dirty="0" err="1" smtClean="0">
                          <a:solidFill>
                            <a:schemeClr val="tx1"/>
                          </a:solidFill>
                          <a:latin typeface="Verdana" pitchFamily="34" charset="0"/>
                          <a:ea typeface="Verdana" pitchFamily="34" charset="0"/>
                          <a:cs typeface="Verdana" pitchFamily="34" charset="0"/>
                        </a:rPr>
                        <a:t>Voith</a:t>
                      </a:r>
                      <a:r>
                        <a:rPr kumimoji="0" lang="en-US" sz="1300" b="0" kern="1200" baseline="0" dirty="0" smtClean="0">
                          <a:solidFill>
                            <a:schemeClr val="tx1"/>
                          </a:solidFill>
                          <a:latin typeface="Verdana" pitchFamily="34" charset="0"/>
                          <a:ea typeface="Verdana" pitchFamily="34" charset="0"/>
                          <a:cs typeface="Verdana" pitchFamily="34" charset="0"/>
                        </a:rPr>
                        <a:t>) was submitted to DMRC vide BEML’s letter Ref: BEML/RS8/15-16/409 </a:t>
                      </a:r>
                      <a:r>
                        <a:rPr kumimoji="0" lang="en-US" sz="1300" b="0" kern="1200" baseline="0" dirty="0" err="1" smtClean="0">
                          <a:solidFill>
                            <a:schemeClr val="tx1"/>
                          </a:solidFill>
                          <a:latin typeface="Verdana" pitchFamily="34" charset="0"/>
                          <a:ea typeface="Verdana" pitchFamily="34" charset="0"/>
                          <a:cs typeface="Verdana" pitchFamily="34" charset="0"/>
                        </a:rPr>
                        <a:t>dt</a:t>
                      </a:r>
                      <a:r>
                        <a:rPr kumimoji="0" lang="en-US" sz="1300" b="0" kern="1200" baseline="0" dirty="0" smtClean="0">
                          <a:solidFill>
                            <a:schemeClr val="tx1"/>
                          </a:solidFill>
                          <a:latin typeface="Verdana" pitchFamily="34" charset="0"/>
                          <a:ea typeface="Verdana" pitchFamily="34" charset="0"/>
                          <a:cs typeface="Verdana" pitchFamily="34" charset="0"/>
                        </a:rPr>
                        <a:t>. 1</a:t>
                      </a:r>
                      <a:r>
                        <a:rPr kumimoji="0" lang="en-US" sz="1300" b="0" kern="1200" baseline="30000" dirty="0" smtClean="0">
                          <a:solidFill>
                            <a:schemeClr val="tx1"/>
                          </a:solidFill>
                          <a:latin typeface="Verdana" pitchFamily="34" charset="0"/>
                          <a:ea typeface="Verdana" pitchFamily="34" charset="0"/>
                          <a:cs typeface="Verdana" pitchFamily="34" charset="0"/>
                        </a:rPr>
                        <a:t>st</a:t>
                      </a:r>
                      <a:r>
                        <a:rPr kumimoji="0" lang="en-US" sz="1300" b="0" kern="1200" baseline="0" dirty="0" smtClean="0">
                          <a:solidFill>
                            <a:schemeClr val="tx1"/>
                          </a:solidFill>
                          <a:latin typeface="Verdana" pitchFamily="34" charset="0"/>
                          <a:ea typeface="Verdana" pitchFamily="34" charset="0"/>
                          <a:cs typeface="Verdana" pitchFamily="34" charset="0"/>
                        </a:rPr>
                        <a:t> Sept’2015. DMRC’s approval (letter r</a:t>
                      </a:r>
                      <a:r>
                        <a:rPr kumimoji="0" lang="en-US" sz="1300" kern="1200" baseline="0" dirty="0" smtClean="0">
                          <a:solidFill>
                            <a:schemeClr val="tx1"/>
                          </a:solidFill>
                          <a:latin typeface="Verdana" pitchFamily="34" charset="0"/>
                          <a:ea typeface="Verdana" pitchFamily="34" charset="0"/>
                          <a:cs typeface="Verdana" pitchFamily="34" charset="0"/>
                        </a:rPr>
                        <a:t>ef: DMRC/134/15/RS8/Training/6087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8</a:t>
                      </a:r>
                      <a:r>
                        <a:rPr kumimoji="0" lang="en-US" sz="1300" kern="1200" baseline="30000" dirty="0" smtClean="0">
                          <a:solidFill>
                            <a:schemeClr val="tx1"/>
                          </a:solidFill>
                          <a:latin typeface="Verdana" pitchFamily="34" charset="0"/>
                          <a:ea typeface="Verdana" pitchFamily="34" charset="0"/>
                          <a:cs typeface="Verdana" pitchFamily="34" charset="0"/>
                        </a:rPr>
                        <a:t>th</a:t>
                      </a:r>
                      <a:r>
                        <a:rPr kumimoji="0" lang="en-US" sz="1300" kern="1200" baseline="0" dirty="0" smtClean="0">
                          <a:solidFill>
                            <a:schemeClr val="tx1"/>
                          </a:solidFill>
                          <a:latin typeface="Verdana" pitchFamily="34" charset="0"/>
                          <a:ea typeface="Verdana" pitchFamily="34" charset="0"/>
                          <a:cs typeface="Verdana" pitchFamily="34" charset="0"/>
                        </a:rPr>
                        <a:t> Nov’2016)</a:t>
                      </a:r>
                      <a:r>
                        <a:rPr kumimoji="0" lang="en-US" sz="1300" b="0" kern="1200" baseline="0" dirty="0" smtClean="0">
                          <a:solidFill>
                            <a:schemeClr val="tx1"/>
                          </a:solidFill>
                          <a:latin typeface="Verdana" pitchFamily="34" charset="0"/>
                          <a:ea typeface="Verdana" pitchFamily="34" charset="0"/>
                          <a:cs typeface="Verdana" pitchFamily="34" charset="0"/>
                        </a:rPr>
                        <a:t> on OEM’s budgetary offer (for providing heavy maintenance training) has been received and accordingly discussion with OEM was under progress. Further, DMRC vide letter (r</a:t>
                      </a:r>
                      <a:r>
                        <a:rPr kumimoji="0" lang="en-US" sz="1300" kern="1200" baseline="0" dirty="0" smtClean="0">
                          <a:solidFill>
                            <a:schemeClr val="tx1"/>
                          </a:solidFill>
                          <a:latin typeface="Verdana" pitchFamily="34" charset="0"/>
                          <a:ea typeface="Verdana" pitchFamily="34" charset="0"/>
                          <a:cs typeface="Verdana" pitchFamily="34" charset="0"/>
                        </a:rPr>
                        <a:t>ef: DMRC/134/15/RS8/Training/6363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05</a:t>
                      </a:r>
                      <a:r>
                        <a:rPr kumimoji="0" lang="en-US" sz="1300" kern="1200" baseline="30000" dirty="0" smtClean="0">
                          <a:solidFill>
                            <a:schemeClr val="tx1"/>
                          </a:solidFill>
                          <a:latin typeface="Verdana" pitchFamily="34" charset="0"/>
                          <a:ea typeface="Verdana" pitchFamily="34" charset="0"/>
                          <a:cs typeface="Verdana" pitchFamily="34" charset="0"/>
                        </a:rPr>
                        <a:t>th</a:t>
                      </a:r>
                      <a:r>
                        <a:rPr kumimoji="0" lang="en-US" sz="1300" kern="1200" baseline="0" dirty="0" smtClean="0">
                          <a:solidFill>
                            <a:schemeClr val="tx1"/>
                          </a:solidFill>
                          <a:latin typeface="Verdana" pitchFamily="34" charset="0"/>
                          <a:ea typeface="Verdana" pitchFamily="34" charset="0"/>
                          <a:cs typeface="Verdana" pitchFamily="34" charset="0"/>
                        </a:rPr>
                        <a:t> June’2017</a:t>
                      </a:r>
                      <a:r>
                        <a:rPr kumimoji="0" lang="en-US" sz="1300" b="0" kern="1200" baseline="0" dirty="0" smtClean="0">
                          <a:solidFill>
                            <a:schemeClr val="tx1"/>
                          </a:solidFill>
                          <a:latin typeface="Verdana" pitchFamily="34" charset="0"/>
                          <a:ea typeface="Verdana" pitchFamily="34" charset="0"/>
                          <a:cs typeface="Verdana" pitchFamily="34" charset="0"/>
                        </a:rPr>
                        <a:t>) has communicated that JMRC requires light maintenance training instead heavy maintenance training. Now, discussion with OEM is under progress accordingly.</a:t>
                      </a:r>
                    </a:p>
                  </a:txBody>
                  <a:tcPr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Oct’17</a:t>
                      </a:r>
                      <a:endParaRPr kumimoji="0" lang="en-US" sz="1300" b="0" kern="1200" baseline="0" dirty="0">
                        <a:solidFill>
                          <a:schemeClr val="tx1"/>
                        </a:solidFill>
                        <a:latin typeface="Verdana" pitchFamily="34" charset="0"/>
                        <a:ea typeface="Verdana" pitchFamily="34" charset="0"/>
                        <a:cs typeface="Verdana" pitchFamily="34" charset="0"/>
                      </a:endParaRPr>
                    </a:p>
                  </a:txBody>
                  <a:tcPr marT="45733" marB="45733"/>
                </a:tc>
              </a:tr>
              <a:tr h="152374">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Brake &amp; Saloon Doors</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OEM’s proposal was submitted to DMRC vide BEML’s letter Ref: BEML/RS8/16-17/527 </a:t>
                      </a:r>
                      <a:r>
                        <a:rPr kumimoji="0" lang="en-US" sz="1300" b="0" kern="1200" baseline="0" dirty="0" err="1" smtClean="0">
                          <a:solidFill>
                            <a:schemeClr val="tx1"/>
                          </a:solidFill>
                          <a:latin typeface="Verdana" pitchFamily="34" charset="0"/>
                          <a:ea typeface="Verdana" pitchFamily="34" charset="0"/>
                          <a:cs typeface="Verdana" pitchFamily="34" charset="0"/>
                        </a:rPr>
                        <a:t>dt</a:t>
                      </a:r>
                      <a:r>
                        <a:rPr kumimoji="0" lang="en-US" sz="1300" b="0" kern="1200" baseline="0" dirty="0" smtClean="0">
                          <a:solidFill>
                            <a:schemeClr val="tx1"/>
                          </a:solidFill>
                          <a:latin typeface="Verdana" pitchFamily="34" charset="0"/>
                          <a:ea typeface="Verdana" pitchFamily="34" charset="0"/>
                          <a:cs typeface="Verdana" pitchFamily="34" charset="0"/>
                        </a:rPr>
                        <a:t>. 3</a:t>
                      </a:r>
                      <a:r>
                        <a:rPr kumimoji="0" lang="en-US" sz="1300" b="0" kern="1200" baseline="30000" dirty="0" smtClean="0">
                          <a:solidFill>
                            <a:schemeClr val="tx1"/>
                          </a:solidFill>
                          <a:latin typeface="Verdana" pitchFamily="34" charset="0"/>
                          <a:ea typeface="Verdana" pitchFamily="34" charset="0"/>
                          <a:cs typeface="Verdana" pitchFamily="34" charset="0"/>
                        </a:rPr>
                        <a:t>rd</a:t>
                      </a:r>
                      <a:r>
                        <a:rPr kumimoji="0" lang="en-US" sz="1300" b="0" kern="1200" baseline="0" dirty="0" smtClean="0">
                          <a:solidFill>
                            <a:schemeClr val="tx1"/>
                          </a:solidFill>
                          <a:latin typeface="Verdana" pitchFamily="34" charset="0"/>
                          <a:ea typeface="Verdana" pitchFamily="34" charset="0"/>
                          <a:cs typeface="Verdana" pitchFamily="34" charset="0"/>
                        </a:rPr>
                        <a:t> Nov’2016. DMRC’s approval (letter r</a:t>
                      </a:r>
                      <a:r>
                        <a:rPr kumimoji="0" lang="en-US" sz="1300" kern="1200" baseline="0" dirty="0" smtClean="0">
                          <a:solidFill>
                            <a:schemeClr val="tx1"/>
                          </a:solidFill>
                          <a:latin typeface="Verdana" pitchFamily="34" charset="0"/>
                          <a:ea typeface="Verdana" pitchFamily="34" charset="0"/>
                          <a:cs typeface="Verdana" pitchFamily="34" charset="0"/>
                        </a:rPr>
                        <a:t>ef: DMRC/134/15/RS8/Training/6200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30</a:t>
                      </a:r>
                      <a:r>
                        <a:rPr kumimoji="0" lang="en-US" sz="1300" kern="1200" baseline="30000" dirty="0" smtClean="0">
                          <a:solidFill>
                            <a:schemeClr val="tx1"/>
                          </a:solidFill>
                          <a:latin typeface="Verdana" pitchFamily="34" charset="0"/>
                          <a:ea typeface="Verdana" pitchFamily="34" charset="0"/>
                          <a:cs typeface="Verdana" pitchFamily="34" charset="0"/>
                        </a:rPr>
                        <a:t>th</a:t>
                      </a:r>
                      <a:r>
                        <a:rPr kumimoji="0" lang="en-US" sz="1300" kern="1200" baseline="0" dirty="0" smtClean="0">
                          <a:solidFill>
                            <a:schemeClr val="tx1"/>
                          </a:solidFill>
                          <a:latin typeface="Verdana" pitchFamily="34" charset="0"/>
                          <a:ea typeface="Verdana" pitchFamily="34" charset="0"/>
                          <a:cs typeface="Verdana" pitchFamily="34" charset="0"/>
                        </a:rPr>
                        <a:t> Nov’2016)</a:t>
                      </a:r>
                      <a:r>
                        <a:rPr kumimoji="0" lang="en-US" sz="1300" b="0" kern="1200" baseline="0" dirty="0" smtClean="0">
                          <a:solidFill>
                            <a:schemeClr val="tx1"/>
                          </a:solidFill>
                          <a:latin typeface="Verdana" pitchFamily="34" charset="0"/>
                          <a:ea typeface="Verdana" pitchFamily="34" charset="0"/>
                          <a:cs typeface="Verdana" pitchFamily="34" charset="0"/>
                        </a:rPr>
                        <a:t> on OEM’s budgetary offer has been received. Now, discussion with OEM is under progress.</a:t>
                      </a:r>
                    </a:p>
                  </a:txBody>
                  <a:tcPr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Oct’17</a:t>
                      </a:r>
                      <a:endParaRPr kumimoji="0" lang="en-US" sz="1300" b="0" kern="1200" baseline="0" dirty="0">
                        <a:solidFill>
                          <a:schemeClr val="tx1"/>
                        </a:solidFill>
                        <a:latin typeface="Verdana" pitchFamily="34" charset="0"/>
                        <a:ea typeface="Verdana" pitchFamily="34" charset="0"/>
                        <a:cs typeface="Verdana" pitchFamily="34" charset="0"/>
                      </a:endParaRPr>
                    </a:p>
                  </a:txBody>
                  <a:tcPr marT="45733" marB="45733"/>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342297597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22718107"/>
              </p:ext>
            </p:extLst>
          </p:nvPr>
        </p:nvGraphicFramePr>
        <p:xfrm>
          <a:off x="76199" y="457200"/>
          <a:ext cx="8978901" cy="5135906"/>
        </p:xfrm>
        <a:graphic>
          <a:graphicData uri="http://schemas.openxmlformats.org/drawingml/2006/table">
            <a:tbl>
              <a:tblPr firstRow="1" bandRow="1">
                <a:tableStyleId>{5C22544A-7EE6-4342-B048-85BDC9FD1C3A}</a:tableStyleId>
              </a:tblPr>
              <a:tblGrid>
                <a:gridCol w="533401"/>
                <a:gridCol w="2286000"/>
                <a:gridCol w="5168900"/>
                <a:gridCol w="990600"/>
              </a:tblGrid>
              <a:tr h="381000">
                <a:tc>
                  <a:txBody>
                    <a:bodyPr/>
                    <a:lstStyle/>
                    <a:p>
                      <a:pPr algn="ctr"/>
                      <a:r>
                        <a:rPr lang="en-US" sz="1600" dirty="0" smtClean="0">
                          <a:latin typeface="Verdana" pitchFamily="34" charset="0"/>
                          <a:ea typeface="Verdana" pitchFamily="34" charset="0"/>
                          <a:cs typeface="Verdana" pitchFamily="34" charset="0"/>
                        </a:rPr>
                        <a:t>SN</a:t>
                      </a:r>
                      <a:endParaRPr lang="en-US" sz="1600" dirty="0">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latin typeface="Verdana" pitchFamily="34" charset="0"/>
                          <a:ea typeface="Verdana" pitchFamily="34" charset="0"/>
                          <a:cs typeface="Verdana" pitchFamily="34" charset="0"/>
                        </a:rPr>
                        <a:t>Description</a:t>
                      </a:r>
                      <a:endParaRPr lang="en-US" sz="1600" dirty="0">
                        <a:latin typeface="Verdana" pitchFamily="34" charset="0"/>
                        <a:ea typeface="Verdana" pitchFamily="34" charset="0"/>
                        <a:cs typeface="Verdana" pitchFamily="34" charset="0"/>
                      </a:endParaRPr>
                    </a:p>
                  </a:txBody>
                  <a:tcPr marT="45733" marB="45733"/>
                </a:tc>
                <a:tc>
                  <a:txBody>
                    <a:bodyPr/>
                    <a:lstStyle/>
                    <a:p>
                      <a:pPr algn="ctr"/>
                      <a:r>
                        <a:rPr lang="en-US" sz="1600" dirty="0" smtClean="0">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latin typeface="Verdana" pitchFamily="34" charset="0"/>
                          <a:ea typeface="Verdana" pitchFamily="34" charset="0"/>
                          <a:cs typeface="Verdana" pitchFamily="34" charset="0"/>
                        </a:rPr>
                        <a:t>Target</a:t>
                      </a:r>
                    </a:p>
                  </a:txBody>
                  <a:tcPr marT="45733" marB="45733"/>
                </a:tc>
              </a:tr>
              <a:tr h="1005814">
                <a:tc>
                  <a:txBody>
                    <a:bodyPr/>
                    <a:lstStyle/>
                    <a:p>
                      <a:pPr algn="ctr"/>
                      <a:r>
                        <a:rPr lang="en-US" sz="1300" b="1" dirty="0" smtClean="0">
                          <a:latin typeface="Verdana" pitchFamily="34" charset="0"/>
                          <a:ea typeface="Verdana" pitchFamily="34" charset="0"/>
                          <a:cs typeface="Verdana" pitchFamily="34" charset="0"/>
                        </a:rPr>
                        <a:t>7.</a:t>
                      </a:r>
                    </a:p>
                  </a:txBody>
                  <a:tcPr marT="45733" marB="45733"/>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kern="1200" dirty="0" smtClean="0">
                          <a:solidFill>
                            <a:schemeClr val="tx1"/>
                          </a:solidFill>
                          <a:latin typeface="Verdana" pitchFamily="34" charset="0"/>
                          <a:ea typeface="Verdana" pitchFamily="34" charset="0"/>
                          <a:cs typeface="Verdana" pitchFamily="34" charset="0"/>
                        </a:rPr>
                        <a:t>Pending RS3 SECP Implementation of TIMS system in one software version: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kern="1200" dirty="0" err="1" smtClean="0">
                          <a:solidFill>
                            <a:schemeClr val="tx1"/>
                          </a:solidFill>
                          <a:latin typeface="Verdana" pitchFamily="34" charset="0"/>
                          <a:ea typeface="Verdana" pitchFamily="34" charset="0"/>
                          <a:cs typeface="Verdana" pitchFamily="34" charset="0"/>
                        </a:rPr>
                        <a:t>i</a:t>
                      </a:r>
                      <a:r>
                        <a:rPr kumimoji="0" lang="en-US" sz="1300" kern="1200" dirty="0" smtClean="0">
                          <a:solidFill>
                            <a:schemeClr val="tx1"/>
                          </a:solidFill>
                          <a:latin typeface="Verdana" pitchFamily="34" charset="0"/>
                          <a:ea typeface="Verdana" pitchFamily="34" charset="0"/>
                          <a:cs typeface="Verdana" pitchFamily="34" charset="0"/>
                        </a:rPr>
                        <a:t>). PAEH Override</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kern="1200" dirty="0" smtClean="0">
                          <a:solidFill>
                            <a:schemeClr val="tx1"/>
                          </a:solidFill>
                          <a:latin typeface="Verdana" pitchFamily="34" charset="0"/>
                          <a:ea typeface="Verdana" pitchFamily="34" charset="0"/>
                          <a:cs typeface="Verdana" pitchFamily="34" charset="0"/>
                        </a:rPr>
                        <a:t>ii). Message to pop-up on TIMS VDU if route not set by T.O.</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kern="1200" dirty="0" smtClean="0">
                          <a:solidFill>
                            <a:schemeClr val="tx1"/>
                          </a:solidFill>
                          <a:latin typeface="Verdana" pitchFamily="34" charset="0"/>
                          <a:ea typeface="Verdana" pitchFamily="34" charset="0"/>
                          <a:cs typeface="Verdana" pitchFamily="34" charset="0"/>
                        </a:rPr>
                        <a:t>iii).Brake Redundancy.</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300" kern="1200" dirty="0" smtClean="0">
                          <a:solidFill>
                            <a:schemeClr val="tx1"/>
                          </a:solidFill>
                          <a:latin typeface="Verdana" pitchFamily="34" charset="0"/>
                          <a:ea typeface="Verdana" pitchFamily="34" charset="0"/>
                          <a:cs typeface="Verdana" pitchFamily="34" charset="0"/>
                        </a:rPr>
                        <a:t>iv). Self</a:t>
                      </a:r>
                      <a:r>
                        <a:rPr kumimoji="0" lang="en-US" sz="1300" kern="1200" baseline="0" dirty="0" smtClean="0">
                          <a:solidFill>
                            <a:schemeClr val="tx1"/>
                          </a:solidFill>
                          <a:latin typeface="Verdana" pitchFamily="34" charset="0"/>
                          <a:ea typeface="Verdana" pitchFamily="34" charset="0"/>
                          <a:cs typeface="Verdana" pitchFamily="34" charset="0"/>
                        </a:rPr>
                        <a:t> Diagnostic function of DOS Card.</a:t>
                      </a:r>
                      <a:endParaRPr kumimoji="0" lang="en-US" sz="1300" kern="120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dirty="0" smtClean="0">
                          <a:solidFill>
                            <a:schemeClr val="tx1"/>
                          </a:solidFill>
                          <a:latin typeface="Verdana" pitchFamily="34" charset="0"/>
                          <a:ea typeface="Verdana" pitchFamily="34" charset="0"/>
                          <a:cs typeface="Verdana" pitchFamily="34" charset="0"/>
                        </a:rPr>
                        <a:t>The</a:t>
                      </a:r>
                      <a:r>
                        <a:rPr kumimoji="0" lang="en-US" sz="1300" kern="1200" baseline="0" dirty="0" smtClean="0">
                          <a:solidFill>
                            <a:schemeClr val="tx1"/>
                          </a:solidFill>
                          <a:latin typeface="Verdana" pitchFamily="34" charset="0"/>
                          <a:ea typeface="Verdana" pitchFamily="34" charset="0"/>
                          <a:cs typeface="Verdana" pitchFamily="34" charset="0"/>
                        </a:rPr>
                        <a:t> technical</a:t>
                      </a:r>
                      <a:r>
                        <a:rPr kumimoji="0" lang="en-US" sz="1300" kern="1200" dirty="0" smtClean="0">
                          <a:solidFill>
                            <a:schemeClr val="tx1"/>
                          </a:solidFill>
                          <a:latin typeface="Verdana" pitchFamily="34" charset="0"/>
                          <a:ea typeface="Verdana" pitchFamily="34" charset="0"/>
                          <a:cs typeface="Verdana" pitchFamily="34" charset="0"/>
                        </a:rPr>
                        <a:t> proposal was submitted to DMRC vide letter ref: BEML/RS8/17-18/548 </a:t>
                      </a:r>
                      <a:r>
                        <a:rPr kumimoji="0" lang="en-US" sz="1300" kern="1200" dirty="0" err="1" smtClean="0">
                          <a:solidFill>
                            <a:schemeClr val="tx1"/>
                          </a:solidFill>
                          <a:latin typeface="Verdana" pitchFamily="34" charset="0"/>
                          <a:ea typeface="Verdana" pitchFamily="34" charset="0"/>
                          <a:cs typeface="Verdana" pitchFamily="34" charset="0"/>
                        </a:rPr>
                        <a:t>dt</a:t>
                      </a:r>
                      <a:r>
                        <a:rPr kumimoji="0" lang="en-US" sz="1300" kern="1200" dirty="0" smtClean="0">
                          <a:solidFill>
                            <a:schemeClr val="tx1"/>
                          </a:solidFill>
                          <a:latin typeface="Verdana" pitchFamily="34" charset="0"/>
                          <a:ea typeface="Verdana" pitchFamily="34" charset="0"/>
                          <a:cs typeface="Verdana" pitchFamily="34" charset="0"/>
                        </a:rPr>
                        <a:t>. 08.04.2017</a:t>
                      </a:r>
                      <a:r>
                        <a:rPr kumimoji="0" lang="en-US" sz="1300" kern="1200" baseline="0" dirty="0" smtClean="0">
                          <a:solidFill>
                            <a:schemeClr val="tx1"/>
                          </a:solidFill>
                          <a:latin typeface="Verdana" pitchFamily="34" charset="0"/>
                          <a:ea typeface="Verdana" pitchFamily="34" charset="0"/>
                          <a:cs typeface="Verdana" pitchFamily="34" charset="0"/>
                        </a:rPr>
                        <a:t> and DMRC’s approval has been received vide letter ref: </a:t>
                      </a:r>
                      <a:r>
                        <a:rPr kumimoji="0" lang="en-US" sz="1300" kern="1200" baseline="0" dirty="0" smtClean="0">
                          <a:solidFill>
                            <a:schemeClr val="dk1"/>
                          </a:solidFill>
                          <a:latin typeface="Verdana" pitchFamily="34" charset="0"/>
                          <a:ea typeface="Verdana" pitchFamily="34" charset="0"/>
                          <a:cs typeface="Verdana" pitchFamily="34" charset="0"/>
                        </a:rPr>
                        <a:t>DMRC/134/15/RS8/HECP-SECP/6360  </a:t>
                      </a:r>
                      <a:r>
                        <a:rPr kumimoji="0" lang="en-US" sz="1300" kern="1200" baseline="0" dirty="0" err="1" smtClean="0">
                          <a:solidFill>
                            <a:schemeClr val="dk1"/>
                          </a:solidFill>
                          <a:latin typeface="Verdana" pitchFamily="34" charset="0"/>
                          <a:ea typeface="Verdana" pitchFamily="34" charset="0"/>
                          <a:cs typeface="Verdana" pitchFamily="34" charset="0"/>
                        </a:rPr>
                        <a:t>dt</a:t>
                      </a:r>
                      <a:r>
                        <a:rPr kumimoji="0" lang="en-US" sz="1300" kern="1200" baseline="0" dirty="0" smtClean="0">
                          <a:solidFill>
                            <a:schemeClr val="dk1"/>
                          </a:solidFill>
                          <a:latin typeface="Verdana" pitchFamily="34" charset="0"/>
                          <a:ea typeface="Verdana" pitchFamily="34" charset="0"/>
                          <a:cs typeface="Verdana" pitchFamily="34" charset="0"/>
                        </a:rPr>
                        <a:t> 05.06.2017. Now, the discussion is under progress with OEM for development of software.</a:t>
                      </a:r>
                      <a:endParaRPr kumimoji="0" lang="en-US" sz="1300" kern="1200" dirty="0" smtClean="0">
                        <a:solidFill>
                          <a:schemeClr val="tx1"/>
                        </a:solidFill>
                        <a:latin typeface="Verdana" pitchFamily="34" charset="0"/>
                        <a:ea typeface="Verdana" pitchFamily="34" charset="0"/>
                        <a:cs typeface="Verdana" pitchFamily="34" charset="0"/>
                      </a:endParaRPr>
                    </a:p>
                  </a:txBody>
                  <a:tcPr marL="114300" marR="114300" marT="0" marB="0"/>
                </a:tc>
                <a:tc>
                  <a:txBody>
                    <a:bodyPr/>
                    <a:lstStyle/>
                    <a:p>
                      <a:pPr algn="ctr"/>
                      <a:r>
                        <a:rPr lang="en-US" sz="1300" dirty="0" smtClean="0">
                          <a:latin typeface="Verdana" pitchFamily="34" charset="0"/>
                          <a:ea typeface="Verdana" pitchFamily="34" charset="0"/>
                          <a:cs typeface="Verdana" pitchFamily="34" charset="0"/>
                        </a:rPr>
                        <a:t>Oct’17</a:t>
                      </a:r>
                    </a:p>
                  </a:txBody>
                  <a:tcPr marT="45733" marB="45733"/>
                </a:tc>
              </a:tr>
              <a:tr h="100581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dirty="0" smtClean="0">
                          <a:solidFill>
                            <a:schemeClr val="dk1"/>
                          </a:solidFill>
                          <a:latin typeface="Verdana" pitchFamily="34" charset="0"/>
                          <a:ea typeface="Verdana" pitchFamily="34" charset="0"/>
                          <a:cs typeface="Verdana" pitchFamily="34" charset="0"/>
                        </a:rPr>
                        <a:t>8.</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Proposal for installing fire &amp; smoke detector/heat detector system in RS8 stock as advised vide DMRC letter </a:t>
                      </a:r>
                      <a:r>
                        <a:rPr kumimoji="0" lang="en-US" sz="1300" kern="1200" baseline="0" dirty="0" err="1" smtClean="0">
                          <a:solidFill>
                            <a:schemeClr val="tx1"/>
                          </a:solidFill>
                          <a:latin typeface="Verdana" pitchFamily="34" charset="0"/>
                          <a:ea typeface="Verdana" pitchFamily="34" charset="0"/>
                          <a:cs typeface="Verdana" pitchFamily="34" charset="0"/>
                        </a:rPr>
                        <a:t>No.DMRC</a:t>
                      </a:r>
                      <a:r>
                        <a:rPr kumimoji="0" lang="en-US" sz="1300" kern="1200" baseline="0" dirty="0" smtClean="0">
                          <a:solidFill>
                            <a:schemeClr val="tx1"/>
                          </a:solidFill>
                          <a:latin typeface="Verdana" pitchFamily="34" charset="0"/>
                          <a:ea typeface="Verdana" pitchFamily="34" charset="0"/>
                          <a:cs typeface="Verdana" pitchFamily="34" charset="0"/>
                        </a:rPr>
                        <a:t>/134/15/RS8/Misc./6357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15.05.17.</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A presentation will be made by M/s. </a:t>
                      </a:r>
                      <a:r>
                        <a:rPr kumimoji="0" lang="it-IT" sz="1300" b="0" kern="1200" baseline="0" dirty="0" smtClean="0">
                          <a:solidFill>
                            <a:schemeClr val="tx1"/>
                          </a:solidFill>
                          <a:latin typeface="Verdana" pitchFamily="34" charset="0"/>
                          <a:ea typeface="Verdana" pitchFamily="34" charset="0"/>
                          <a:cs typeface="Verdana" pitchFamily="34" charset="0"/>
                        </a:rPr>
                        <a:t>Consilium Marine India Pvt. Ltd and M/s. Fogtec India Pvt Ltd. during monthly review meeting </a:t>
                      </a:r>
                      <a:r>
                        <a:rPr kumimoji="0" lang="en-US" sz="1300" b="0" kern="1200" baseline="0" dirty="0" smtClean="0">
                          <a:solidFill>
                            <a:schemeClr val="tx1"/>
                          </a:solidFill>
                          <a:latin typeface="Verdana" pitchFamily="34" charset="0"/>
                          <a:ea typeface="Verdana" pitchFamily="34" charset="0"/>
                          <a:cs typeface="Verdana" pitchFamily="34" charset="0"/>
                        </a:rPr>
                        <a:t>on 19th July’17.</a:t>
                      </a:r>
                    </a:p>
                  </a:txBody>
                  <a:tcPr marL="114300" marR="114300" marT="0" marB="0"/>
                </a:tc>
                <a:tc>
                  <a:txBody>
                    <a:bodyPr/>
                    <a:lstStyle/>
                    <a:p>
                      <a:pPr algn="ctr"/>
                      <a:r>
                        <a:rPr kumimoji="0" lang="en-US" sz="1300" b="0" kern="1200" baseline="0" dirty="0" smtClean="0">
                          <a:solidFill>
                            <a:schemeClr val="tx1"/>
                          </a:solidFill>
                          <a:latin typeface="Verdana" pitchFamily="34" charset="0"/>
                          <a:ea typeface="Verdana" pitchFamily="34" charset="0"/>
                          <a:cs typeface="Verdana" pitchFamily="34" charset="0"/>
                        </a:rPr>
                        <a:t>July’17</a:t>
                      </a:r>
                      <a:endParaRPr kumimoji="0" lang="en-US" sz="1300" b="0" kern="1200" baseline="0" dirty="0">
                        <a:solidFill>
                          <a:schemeClr val="tx1"/>
                        </a:solidFill>
                        <a:latin typeface="Verdana" pitchFamily="34" charset="0"/>
                        <a:ea typeface="Verdana" pitchFamily="34" charset="0"/>
                        <a:cs typeface="Verdana" pitchFamily="34" charset="0"/>
                      </a:endParaRPr>
                    </a:p>
                  </a:txBody>
                  <a:tcPr/>
                </a:tc>
              </a:tr>
              <a:tr h="1005814">
                <a:tc>
                  <a:txBody>
                    <a:bodyPr/>
                    <a:lstStyle/>
                    <a:p>
                      <a:pPr algn="ctr"/>
                      <a:r>
                        <a:rPr lang="en-US" sz="1300" b="1" dirty="0" smtClean="0">
                          <a:latin typeface="Verdana" pitchFamily="34" charset="0"/>
                          <a:ea typeface="Verdana" pitchFamily="34" charset="0"/>
                          <a:cs typeface="Verdana" pitchFamily="34" charset="0"/>
                        </a:rPr>
                        <a:t>9.</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Supply of Signage.</a:t>
                      </a:r>
                    </a:p>
                  </a:txBody>
                  <a:tcPr marT="45733" marB="45733"/>
                </a:tc>
                <a:tc>
                  <a: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The label of “pregnant &amp; lactate women reserved seat” and pink strips have already been supplied. Remaining labels have been received at BEML Bangalore and would be supplied to JMRC by July’17.</a:t>
                      </a:r>
                    </a:p>
                  </a:txBody>
                  <a:tcPr marL="114300" marR="11430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kern="1200" dirty="0" smtClean="0">
                          <a:solidFill>
                            <a:schemeClr val="tx1"/>
                          </a:solidFill>
                          <a:latin typeface="Verdana" pitchFamily="34" charset="0"/>
                          <a:ea typeface="Verdana" pitchFamily="34" charset="0"/>
                          <a:cs typeface="Verdana" pitchFamily="34" charset="0"/>
                        </a:rPr>
                        <a:t>July’17</a:t>
                      </a:r>
                      <a:endParaRPr kumimoji="0" lang="en-US" sz="1300" kern="1200" dirty="0">
                        <a:solidFill>
                          <a:schemeClr val="tx1"/>
                        </a:solidFill>
                        <a:latin typeface="Verdana" pitchFamily="34" charset="0"/>
                        <a:ea typeface="Verdana" pitchFamily="34" charset="0"/>
                        <a:cs typeface="Verdana" pitchFamily="34" charset="0"/>
                      </a:endParaRPr>
                    </a:p>
                  </a:txBody>
                  <a:tcPr marT="45733" marB="45733"/>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96467861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4049011"/>
              </p:ext>
            </p:extLst>
          </p:nvPr>
        </p:nvGraphicFramePr>
        <p:xfrm>
          <a:off x="76199" y="381000"/>
          <a:ext cx="8978901" cy="3261490"/>
        </p:xfrm>
        <a:graphic>
          <a:graphicData uri="http://schemas.openxmlformats.org/drawingml/2006/table">
            <a:tbl>
              <a:tblPr firstRow="1" bandRow="1">
                <a:tableStyleId>{5C22544A-7EE6-4342-B048-85BDC9FD1C3A}</a:tableStyleId>
              </a:tblPr>
              <a:tblGrid>
                <a:gridCol w="685801"/>
                <a:gridCol w="2133600"/>
                <a:gridCol w="5257800"/>
                <a:gridCol w="901700"/>
              </a:tblGrid>
              <a:tr h="304800">
                <a:tc>
                  <a:txBody>
                    <a:bodyPr/>
                    <a:lstStyle/>
                    <a:p>
                      <a:pPr algn="ctr"/>
                      <a:r>
                        <a:rPr lang="en-US" sz="1400" dirty="0" smtClean="0">
                          <a:latin typeface="Verdana" pitchFamily="34" charset="0"/>
                          <a:ea typeface="Verdana" pitchFamily="34" charset="0"/>
                          <a:cs typeface="Verdana" pitchFamily="34" charset="0"/>
                        </a:rPr>
                        <a:t>SN</a:t>
                      </a:r>
                      <a:endParaRPr lang="en-US" sz="1400" dirty="0">
                        <a:latin typeface="Verdana" pitchFamily="34" charset="0"/>
                        <a:ea typeface="Verdana" pitchFamily="34" charset="0"/>
                        <a:cs typeface="Verdana" pitchFamily="34" charset="0"/>
                      </a:endParaRPr>
                    </a:p>
                  </a:txBody>
                  <a:tcPr marT="45733" marB="45733"/>
                </a:tc>
                <a:tc>
                  <a:txBody>
                    <a:bodyPr/>
                    <a:lstStyle/>
                    <a:p>
                      <a:pPr algn="ctr"/>
                      <a:r>
                        <a:rPr lang="en-US" sz="1400" baseline="0" dirty="0" smtClean="0">
                          <a:latin typeface="Verdana" pitchFamily="34" charset="0"/>
                          <a:ea typeface="Verdana" pitchFamily="34" charset="0"/>
                          <a:cs typeface="Verdana" pitchFamily="34" charset="0"/>
                        </a:rPr>
                        <a:t>Description</a:t>
                      </a:r>
                      <a:endParaRPr lang="en-US" sz="1400" dirty="0">
                        <a:latin typeface="Verdana" pitchFamily="34" charset="0"/>
                        <a:ea typeface="Verdana" pitchFamily="34" charset="0"/>
                        <a:cs typeface="Verdana" pitchFamily="34" charset="0"/>
                      </a:endParaRPr>
                    </a:p>
                  </a:txBody>
                  <a:tcPr marT="45733" marB="45733"/>
                </a:tc>
                <a:tc>
                  <a:txBody>
                    <a:bodyPr/>
                    <a:lstStyle/>
                    <a:p>
                      <a:pPr algn="ctr"/>
                      <a:r>
                        <a:rPr lang="en-US" sz="1400" dirty="0" smtClean="0">
                          <a:latin typeface="Verdana" pitchFamily="34" charset="0"/>
                          <a:ea typeface="Verdana" pitchFamily="34" charset="0"/>
                          <a:cs typeface="Verdana" pitchFamily="34" charset="0"/>
                        </a:rPr>
                        <a:t>Status</a:t>
                      </a:r>
                    </a:p>
                  </a:txBody>
                  <a:tcPr marT="45733" marB="45733"/>
                </a:tc>
                <a:tc>
                  <a:txBody>
                    <a:bodyPr/>
                    <a:lstStyle/>
                    <a:p>
                      <a:pPr algn="ctr"/>
                      <a:r>
                        <a:rPr lang="en-US" sz="1400" dirty="0" smtClean="0">
                          <a:latin typeface="Verdana" pitchFamily="34" charset="0"/>
                          <a:ea typeface="Verdana" pitchFamily="34" charset="0"/>
                          <a:cs typeface="Verdana" pitchFamily="34" charset="0"/>
                        </a:rPr>
                        <a:t>Target</a:t>
                      </a:r>
                    </a:p>
                  </a:txBody>
                  <a:tcPr marT="45733" marB="45733"/>
                </a:tc>
              </a:tr>
              <a:tr h="2590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kern="1200" dirty="0" smtClean="0">
                          <a:solidFill>
                            <a:schemeClr val="tx1"/>
                          </a:solidFill>
                          <a:latin typeface="Verdana" pitchFamily="34" charset="0"/>
                          <a:ea typeface="Verdana" pitchFamily="34" charset="0"/>
                          <a:cs typeface="Verdana" pitchFamily="34" charset="0"/>
                        </a:rPr>
                        <a:t>10.</a:t>
                      </a:r>
                      <a:endParaRPr lang="en-US" sz="1400" b="1" kern="1200" dirty="0">
                        <a:solidFill>
                          <a:schemeClr val="tx1"/>
                        </a:solidFill>
                        <a:latin typeface="Verdana" pitchFamily="34" charset="0"/>
                        <a:ea typeface="Verdana" pitchFamily="34" charset="0"/>
                        <a:cs typeface="Verdana" pitchFamily="34" charset="0"/>
                      </a:endParaRPr>
                    </a:p>
                  </a:txBody>
                  <a:tcPr marT="45733" marB="45733"/>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smtClean="0">
                          <a:solidFill>
                            <a:schemeClr val="tx1"/>
                          </a:solidFill>
                          <a:latin typeface="Verdana" pitchFamily="34" charset="0"/>
                          <a:ea typeface="Verdana" pitchFamily="34" charset="0"/>
                          <a:cs typeface="Verdana" pitchFamily="34" charset="0"/>
                        </a:rPr>
                        <a:t>Status of implementation of RS3 HECPs in RS8 Trains</a:t>
                      </a:r>
                      <a:endParaRPr lang="en-US" sz="1400" b="1" kern="1200" dirty="0">
                        <a:solidFill>
                          <a:schemeClr val="tx1"/>
                        </a:solidFill>
                        <a:latin typeface="Verdana" pitchFamily="34" charset="0"/>
                        <a:ea typeface="Verdana" pitchFamily="34" charset="0"/>
                        <a:cs typeface="Verdana" pitchFamily="34" charset="0"/>
                      </a:endParaRPr>
                    </a:p>
                  </a:txBody>
                  <a:tcPr marT="45733" marB="45733"/>
                </a:tc>
                <a:tc hMerge="1">
                  <a:txBody>
                    <a:bodyPr/>
                    <a:lstStyle/>
                    <a:p>
                      <a:endParaRPr lang="en-US"/>
                    </a:p>
                  </a:txBody>
                  <a:tcPr/>
                </a:tc>
                <a:tc hMerge="1">
                  <a:txBody>
                    <a:bodyPr/>
                    <a:lstStyle/>
                    <a:p>
                      <a:endParaRPr lang="en-US"/>
                    </a:p>
                  </a:txBody>
                  <a:tcPr/>
                </a:tc>
              </a:tr>
              <a:tr h="121868">
                <a:tc gridSpan="4">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status &amp; target for the pending RS3 HECP implementation in RS8 train sets are as under:</a:t>
                      </a:r>
                      <a:endParaRPr kumimoji="0" lang="en-US" sz="1300" kern="1200" baseline="0" dirty="0" smtClean="0">
                        <a:solidFill>
                          <a:schemeClr val="tx1"/>
                        </a:solidFill>
                        <a:latin typeface="Verdana" pitchFamily="34" charset="0"/>
                        <a:ea typeface="Verdana" pitchFamily="34" charset="0"/>
                        <a:cs typeface="Verdana" pitchFamily="34" charset="0"/>
                      </a:endParaRPr>
                    </a:p>
                  </a:txBody>
                  <a:tcPr marT="45733" marB="45733"/>
                </a:tc>
                <a:tc hMerge="1">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300" kern="1200" baseline="0" dirty="0" smtClean="0">
                        <a:solidFill>
                          <a:schemeClr val="tx1"/>
                        </a:solidFill>
                        <a:latin typeface="Verdana" pitchFamily="34" charset="0"/>
                        <a:ea typeface="Verdana" pitchFamily="34" charset="0"/>
                        <a:cs typeface="Verdana" pitchFamily="34" charset="0"/>
                      </a:endParaRPr>
                    </a:p>
                  </a:txBody>
                  <a:tcPr marT="45733" marB="45733"/>
                </a:tc>
                <a:tc hMerge="1">
                  <a:txBody>
                    <a:bodyPr/>
                    <a:lstStyle/>
                    <a:p>
                      <a:endParaRPr lang="en-US"/>
                    </a:p>
                  </a:txBody>
                  <a:tcPr/>
                </a:tc>
                <a:tc hMerge="1">
                  <a:txBody>
                    <a:bodyPr/>
                    <a:lstStyle/>
                    <a:p>
                      <a:endParaRPr lang="en-US"/>
                    </a:p>
                  </a:txBody>
                  <a:tcPr/>
                </a:tc>
              </a:tr>
              <a:tr h="5057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err="1" smtClean="0">
                          <a:solidFill>
                            <a:schemeClr val="tx1"/>
                          </a:solidFill>
                          <a:latin typeface="Verdana" pitchFamily="34" charset="0"/>
                          <a:ea typeface="Verdana" pitchFamily="34" charset="0"/>
                          <a:cs typeface="Verdana" pitchFamily="34" charset="0"/>
                        </a:rPr>
                        <a:t>i</a:t>
                      </a:r>
                      <a:r>
                        <a:rPr kumimoji="0" lang="en-US" sz="1300" b="0" kern="1200" baseline="0" dirty="0" smtClean="0">
                          <a:solidFill>
                            <a:schemeClr val="tx1"/>
                          </a:solidFill>
                          <a:latin typeface="Verdana" pitchFamily="34" charset="0"/>
                          <a:ea typeface="Verdana" pitchFamily="34" charset="0"/>
                          <a:cs typeface="Verdana" pitchFamily="34" charset="0"/>
                        </a:rPr>
                        <a:t>.</a:t>
                      </a:r>
                    </a:p>
                  </a:txBody>
                  <a:tcPr marT="45733" marB="45733"/>
                </a:tc>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HECP-RS3-106 (PAEH circuit modification)</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Hardware modification has been completed in all train sets and regarding TIMS S/W modification, discussion is under progress with M/s. MEI.</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Oct’17</a:t>
                      </a:r>
                    </a:p>
                  </a:txBody>
                  <a:tcPr marT="45733" marB="45733"/>
                </a:tc>
              </a:tr>
              <a:tr h="5057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a:t>
                      </a:r>
                    </a:p>
                  </a:txBody>
                  <a:tcPr marT="45733" marB="45733"/>
                </a:tc>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HECP-RS3-111 (Rev-2) (Motoring cut off in case of one bogie EB condition control circuit modification)</a:t>
                      </a:r>
                    </a:p>
                  </a:txBody>
                  <a:tcPr marT="45733" marB="45733"/>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hardware modification has been completed in four train sets (TS01,TS02,TS05 &amp; TS06). Further, in view of recent failure in RS3, this modification has been revised &amp; is under trial in RS3/RS9 project train-sets. The implementation of revised modification in RS8 will be done upon successful implementation in RS3/RS9.</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Nov’17</a:t>
                      </a:r>
                    </a:p>
                  </a:txBody>
                  <a:tcPr marT="45733" marB="45733"/>
                </a:tc>
              </a:tr>
            </a:tbl>
          </a:graphicData>
        </a:graphic>
      </p:graphicFrame>
      <p:pic>
        <p:nvPicPr>
          <p:cNvPr id="6" name="Picture 5" descr="C:\Users\DELL\Desktop\474beml-logo.png"/>
          <p:cNvPicPr>
            <a:picLocks noChangeAspect="1" noChangeArrowheads="1"/>
          </p:cNvPicPr>
          <p:nvPr/>
        </p:nvPicPr>
        <p:blipFill>
          <a:blip r:embed="rId3" cstate="print"/>
          <a:srcRect/>
          <a:stretch>
            <a:fillRect/>
          </a:stretch>
        </p:blipFill>
        <p:spPr bwMode="auto">
          <a:xfrm>
            <a:off x="64008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75025830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8382680"/>
              </p:ext>
            </p:extLst>
          </p:nvPr>
        </p:nvGraphicFramePr>
        <p:xfrm>
          <a:off x="152400" y="533400"/>
          <a:ext cx="8920479" cy="5654092"/>
        </p:xfrm>
        <a:graphic>
          <a:graphicData uri="http://schemas.openxmlformats.org/drawingml/2006/table">
            <a:tbl>
              <a:tblPr firstRow="1" bandRow="1">
                <a:tableStyleId>{5C22544A-7EE6-4342-B048-85BDC9FD1C3A}</a:tableStyleId>
              </a:tblPr>
              <a:tblGrid>
                <a:gridCol w="533400"/>
                <a:gridCol w="2514600"/>
                <a:gridCol w="4724400"/>
                <a:gridCol w="1148079"/>
              </a:tblGrid>
              <a:tr h="228600">
                <a:tc>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r>
              <a:tr h="274294">
                <a:tc>
                  <a:txBody>
                    <a:bodyPr/>
                    <a:lstStyle/>
                    <a:p>
                      <a:pPr algn="ctr"/>
                      <a:r>
                        <a:rPr lang="en-US" sz="1400" b="1" dirty="0" smtClean="0">
                          <a:solidFill>
                            <a:schemeClr val="tx1"/>
                          </a:solidFill>
                          <a:latin typeface="Verdana" pitchFamily="34" charset="0"/>
                          <a:ea typeface="Verdana" pitchFamily="34" charset="0"/>
                          <a:cs typeface="Verdana" pitchFamily="34" charset="0"/>
                        </a:rPr>
                        <a:t>11.</a:t>
                      </a:r>
                      <a:endParaRPr lang="en-US" sz="1400" b="1" dirty="0">
                        <a:solidFill>
                          <a:schemeClr val="tx1"/>
                        </a:solidFill>
                        <a:latin typeface="Verdana" pitchFamily="34" charset="0"/>
                        <a:ea typeface="Verdana" pitchFamily="34" charset="0"/>
                        <a:cs typeface="Verdana" pitchFamily="34" charset="0"/>
                      </a:endParaRPr>
                    </a:p>
                  </a:txBody>
                  <a:tcPr marT="45733" marB="45733"/>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1"/>
                          </a:solidFill>
                          <a:latin typeface="Verdana" pitchFamily="34" charset="0"/>
                          <a:ea typeface="Verdana" pitchFamily="34" charset="0"/>
                          <a:cs typeface="Verdana" pitchFamily="34" charset="0"/>
                        </a:rPr>
                        <a:t>Status of implementation of RS8 HECPs</a:t>
                      </a:r>
                      <a:endParaRPr lang="en-US" sz="1400" b="1" dirty="0">
                        <a:solidFill>
                          <a:schemeClr val="tx1"/>
                        </a:solidFill>
                        <a:latin typeface="Verdana" pitchFamily="34" charset="0"/>
                        <a:ea typeface="Verdana" pitchFamily="34" charset="0"/>
                        <a:cs typeface="Verdana" pitchFamily="34" charset="0"/>
                      </a:endParaRPr>
                    </a:p>
                  </a:txBody>
                  <a:tcPr marT="45733" marB="45733"/>
                </a:tc>
                <a:tc hMerge="1">
                  <a:txBody>
                    <a:bodyPr/>
                    <a:lstStyle/>
                    <a:p>
                      <a:endParaRPr lang="en-US"/>
                    </a:p>
                  </a:txBody>
                  <a:tcPr/>
                </a:tc>
                <a:tc hMerge="1">
                  <a:txBody>
                    <a:bodyPr/>
                    <a:lstStyle/>
                    <a:p>
                      <a:endParaRPr lang="en-US"/>
                    </a:p>
                  </a:txBody>
                  <a:tcPr/>
                </a:tc>
              </a:tr>
              <a:tr h="5790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err="1" smtClean="0">
                          <a:solidFill>
                            <a:schemeClr val="tx1"/>
                          </a:solidFill>
                          <a:latin typeface="Verdana" pitchFamily="34" charset="0"/>
                          <a:ea typeface="Verdana" pitchFamily="34" charset="0"/>
                          <a:cs typeface="Verdana" pitchFamily="34" charset="0"/>
                        </a:rPr>
                        <a:t>i</a:t>
                      </a:r>
                      <a:r>
                        <a:rPr kumimoji="0" lang="en-US" sz="1300" b="0" kern="1200" baseline="0" dirty="0" smtClean="0">
                          <a:solidFill>
                            <a:schemeClr val="tx1"/>
                          </a:solidFill>
                          <a:latin typeface="Verdana" pitchFamily="34" charset="0"/>
                          <a:ea typeface="Verdana" pitchFamily="34" charset="0"/>
                          <a:cs typeface="Verdana" pitchFamily="34" charset="0"/>
                        </a:rPr>
                        <a:t>.</a:t>
                      </a:r>
                    </a:p>
                  </a:txBody>
                  <a:tcPr marT="45733" marB="45733"/>
                </a:tc>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HECP-BEML-RS8-002 (Provision of flasher light and HVAC fresh air damper ON/OFF PB in Cab).</a:t>
                      </a:r>
                    </a:p>
                  </a:txBody>
                  <a:tcPr marT="45733" marB="45733"/>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As per DMRC’s first stage approval, the modification has been implemented in two train-sets (TS02 &amp; TS05). Now, JMRC is requested to release the joint note so that DMRC’s approval can be obtained to implement the modification in remaining train-sets.</a:t>
                      </a:r>
                    </a:p>
                    <a:p>
                      <a:pPr marL="0" marR="0" lvl="0" indent="0" algn="just"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Nov’17</a:t>
                      </a:r>
                    </a:p>
                  </a:txBody>
                  <a:tcPr marT="45733" marB="45733"/>
                </a:tc>
              </a:tr>
              <a:tr h="5790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a:t>
                      </a:r>
                    </a:p>
                  </a:txBody>
                  <a:tcPr marT="45733" marB="45733"/>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HECP-BEML-RS8-004 (Installation of water guide plate to prevent water ingress in Cab through Cab Side Doors).</a:t>
                      </a:r>
                    </a:p>
                  </a:txBody>
                  <a:tcPr marT="45733" marB="45733"/>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DMRC’s approval (letter ref: DMRC/134/16/RS8/HECP-SECP/6349 </a:t>
                      </a:r>
                      <a:r>
                        <a:rPr kumimoji="0" lang="en-US" sz="1300" b="0" kern="1200" baseline="0" dirty="0" err="1" smtClean="0">
                          <a:solidFill>
                            <a:schemeClr val="tx1"/>
                          </a:solidFill>
                          <a:latin typeface="Verdana" pitchFamily="34" charset="0"/>
                          <a:ea typeface="Verdana" pitchFamily="34" charset="0"/>
                          <a:cs typeface="Verdana" pitchFamily="34" charset="0"/>
                        </a:rPr>
                        <a:t>dt</a:t>
                      </a:r>
                      <a:r>
                        <a:rPr kumimoji="0" lang="en-US" sz="1300" b="0" kern="1200" baseline="0" dirty="0" smtClean="0">
                          <a:solidFill>
                            <a:schemeClr val="tx1"/>
                          </a:solidFill>
                          <a:latin typeface="Verdana" pitchFamily="34" charset="0"/>
                          <a:ea typeface="Verdana" pitchFamily="34" charset="0"/>
                          <a:cs typeface="Verdana" pitchFamily="34" charset="0"/>
                        </a:rPr>
                        <a:t>  07.04.2017) has been received. </a:t>
                      </a:r>
                    </a:p>
                    <a:p>
                      <a:pPr marL="0" marR="0" lvl="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material has been arranged and JMRC is requested to allot train-sets for implementation of modification.</a:t>
                      </a:r>
                    </a:p>
                    <a:p>
                      <a:pPr marL="0" marR="0" lvl="0" indent="0" algn="just"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Oct’17</a:t>
                      </a:r>
                    </a:p>
                  </a:txBody>
                  <a:tcPr marT="45733" marB="45733"/>
                </a:tc>
              </a:tr>
              <a:tr h="304722">
                <a:tc>
                  <a:txBody>
                    <a:bodyPr/>
                    <a:lstStyle/>
                    <a:p>
                      <a:pPr algn="ctr"/>
                      <a:r>
                        <a:rPr lang="en-US" sz="1400" b="1" dirty="0" smtClean="0">
                          <a:solidFill>
                            <a:schemeClr val="tx1"/>
                          </a:solidFill>
                          <a:latin typeface="Verdana" pitchFamily="34" charset="0"/>
                          <a:ea typeface="Verdana" pitchFamily="34" charset="0"/>
                          <a:cs typeface="Verdana" pitchFamily="34" charset="0"/>
                        </a:rPr>
                        <a:t>12.</a:t>
                      </a:r>
                      <a:endParaRPr lang="en-US" sz="1400" b="1" dirty="0">
                        <a:solidFill>
                          <a:schemeClr val="tx1"/>
                        </a:solidFill>
                        <a:latin typeface="Verdana" pitchFamily="34" charset="0"/>
                        <a:ea typeface="Verdana" pitchFamily="34" charset="0"/>
                        <a:cs typeface="Verdana" pitchFamily="34" charset="0"/>
                      </a:endParaRPr>
                    </a:p>
                  </a:txBody>
                  <a:tcPr marT="45733" marB="45733"/>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1"/>
                          </a:solidFill>
                          <a:latin typeface="Verdana" pitchFamily="34" charset="0"/>
                          <a:ea typeface="Verdana" pitchFamily="34" charset="0"/>
                          <a:cs typeface="Verdana" pitchFamily="34" charset="0"/>
                        </a:rPr>
                        <a:t>Status of implementation of RS3</a:t>
                      </a:r>
                      <a:r>
                        <a:rPr lang="en-US" sz="1400" b="1" baseline="0" dirty="0" smtClean="0">
                          <a:solidFill>
                            <a:schemeClr val="tx1"/>
                          </a:solidFill>
                          <a:latin typeface="Verdana" pitchFamily="34" charset="0"/>
                          <a:ea typeface="Verdana" pitchFamily="34" charset="0"/>
                          <a:cs typeface="Verdana" pitchFamily="34" charset="0"/>
                        </a:rPr>
                        <a:t> pending FMIs in RS8 Trains:</a:t>
                      </a:r>
                      <a:endParaRPr lang="en-US" sz="1400" b="1" dirty="0">
                        <a:solidFill>
                          <a:schemeClr val="tx1"/>
                        </a:solidFill>
                        <a:latin typeface="Verdana" pitchFamily="34" charset="0"/>
                        <a:ea typeface="Verdana" pitchFamily="34" charset="0"/>
                        <a:cs typeface="Verdana" pitchFamily="34" charset="0"/>
                      </a:endParaRPr>
                    </a:p>
                  </a:txBody>
                  <a:tcPr marT="45733" marB="45733"/>
                </a:tc>
                <a:tc hMerge="1">
                  <a:txBody>
                    <a:bodyPr/>
                    <a:lstStyle/>
                    <a:p>
                      <a:endParaRPr lang="en-US"/>
                    </a:p>
                  </a:txBody>
                  <a:tcPr/>
                </a:tc>
                <a:tc hMerge="1">
                  <a:txBody>
                    <a:bodyPr/>
                    <a:lstStyle/>
                    <a:p>
                      <a:endParaRPr lang="en-US"/>
                    </a:p>
                  </a:txBody>
                  <a:tcPr/>
                </a:tc>
              </a:tr>
              <a:tr h="152296">
                <a:tc grid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status &amp; target of the pending RS3 FMI implementation in RS8 train sets are as under:</a:t>
                      </a:r>
                    </a:p>
                  </a:txBody>
                  <a:tcPr marT="45733" marB="45733"/>
                </a:tc>
                <a:tc hMerge="1">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hMerge="1">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h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r>
              <a:tr h="77711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err="1" smtClean="0">
                          <a:solidFill>
                            <a:schemeClr val="tx1"/>
                          </a:solidFill>
                          <a:latin typeface="Verdana" pitchFamily="34" charset="0"/>
                          <a:ea typeface="Verdana" pitchFamily="34" charset="0"/>
                          <a:cs typeface="Verdana" pitchFamily="34" charset="0"/>
                        </a:rPr>
                        <a:t>i</a:t>
                      </a:r>
                      <a:r>
                        <a:rPr kumimoji="0" lang="en-US" sz="1300" b="0" kern="1200" baseline="0" dirty="0" smtClean="0">
                          <a:solidFill>
                            <a:schemeClr val="tx1"/>
                          </a:solidFill>
                          <a:latin typeface="Verdana" pitchFamily="34" charset="0"/>
                          <a:ea typeface="Verdana" pitchFamily="34" charset="0"/>
                          <a:cs typeface="Verdana" pitchFamily="34" charset="0"/>
                        </a:rPr>
                        <a:t>.</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Implementation of Gangway FMI.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material required for modification has been received at depot. The modification would be started by end of July’17.</a:t>
                      </a: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Sep’17</a:t>
                      </a:r>
                    </a:p>
                  </a:txBody>
                  <a:tcPr marT="45733" marB="45733"/>
                </a:tc>
              </a:tr>
              <a:tr h="57904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Implementation of “Fresh Air damper opening to 110 mm” FMI.</a:t>
                      </a:r>
                    </a:p>
                    <a:p>
                      <a:pPr marL="0" marR="0" indent="0" algn="just" defTabSz="914400" rtl="0" eaLnBrk="1" fontAlgn="auto"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This FMI has been implemented in one train-set (TS02) on 11</a:t>
                      </a:r>
                      <a:r>
                        <a:rPr kumimoji="0" lang="en-US" sz="1300" b="0" kern="1200" baseline="30000" dirty="0" smtClean="0">
                          <a:solidFill>
                            <a:schemeClr val="tx1"/>
                          </a:solidFill>
                          <a:latin typeface="Verdana" pitchFamily="34" charset="0"/>
                          <a:ea typeface="Verdana" pitchFamily="34" charset="0"/>
                          <a:cs typeface="Verdana" pitchFamily="34" charset="0"/>
                        </a:rPr>
                        <a:t>th</a:t>
                      </a:r>
                      <a:r>
                        <a:rPr kumimoji="0" lang="en-US" sz="1300" b="0" kern="1200" baseline="0" dirty="0" smtClean="0">
                          <a:solidFill>
                            <a:schemeClr val="tx1"/>
                          </a:solidFill>
                          <a:latin typeface="Verdana" pitchFamily="34" charset="0"/>
                          <a:ea typeface="Verdana" pitchFamily="34" charset="0"/>
                          <a:cs typeface="Verdana" pitchFamily="34" charset="0"/>
                        </a:rPr>
                        <a:t> July’17 and will be implemented in remaining train-sets along with blower modification work.</a:t>
                      </a: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Sep’17</a:t>
                      </a:r>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64930659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76201" y="533400"/>
          <a:ext cx="8991600" cy="5425674"/>
        </p:xfrm>
        <a:graphic>
          <a:graphicData uri="http://schemas.openxmlformats.org/drawingml/2006/table">
            <a:tbl>
              <a:tblPr firstRow="1" bandRow="1">
                <a:tableStyleId>{5C22544A-7EE6-4342-B048-85BDC9FD1C3A}</a:tableStyleId>
              </a:tblPr>
              <a:tblGrid>
                <a:gridCol w="609599"/>
                <a:gridCol w="4419600"/>
                <a:gridCol w="3962401"/>
              </a:tblGrid>
              <a:tr h="228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kern="1200" baseline="0" dirty="0" smtClean="0">
                          <a:solidFill>
                            <a:schemeClr val="bg1"/>
                          </a:solidFill>
                          <a:latin typeface="Verdana" pitchFamily="34" charset="0"/>
                          <a:ea typeface="Verdana" pitchFamily="34" charset="0"/>
                          <a:cs typeface="Verdana" pitchFamily="34" charset="0"/>
                        </a:rPr>
                        <a:t>13.</a:t>
                      </a:r>
                      <a:endParaRPr lang="en-US" sz="1600" b="1" kern="1200" baseline="0" dirty="0">
                        <a:solidFill>
                          <a:schemeClr val="bg1"/>
                        </a:solidFill>
                        <a:latin typeface="Verdana" pitchFamily="34" charset="0"/>
                        <a:ea typeface="Verdana" pitchFamily="34" charset="0"/>
                        <a:cs typeface="Verdana" pitchFamily="34" charset="0"/>
                      </a:endParaRPr>
                    </a:p>
                  </a:txBody>
                  <a:tcPr marT="45733" marB="45733"/>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kern="1200" baseline="0" dirty="0" smtClean="0">
                          <a:solidFill>
                            <a:schemeClr val="bg1"/>
                          </a:solidFill>
                          <a:latin typeface="Verdana" pitchFamily="34" charset="0"/>
                          <a:ea typeface="Verdana" pitchFamily="34" charset="0"/>
                          <a:cs typeface="Verdana" pitchFamily="34" charset="0"/>
                        </a:rPr>
                        <a:t>Summary of status of RS8 EIRs</a:t>
                      </a:r>
                    </a:p>
                  </a:txBody>
                  <a:tcPr marT="45733" marB="45733"/>
                </a:tc>
                <a:tc hMerge="1">
                  <a:txBody>
                    <a:bodyPr/>
                    <a:lstStyle/>
                    <a:p>
                      <a:pPr algn="ctr"/>
                      <a:endParaRPr lang="en-US" sz="1600" dirty="0" smtClean="0">
                        <a:solidFill>
                          <a:schemeClr val="bg1"/>
                        </a:solidFill>
                        <a:latin typeface="Verdana" pitchFamily="34" charset="0"/>
                        <a:ea typeface="Verdana" pitchFamily="34" charset="0"/>
                        <a:cs typeface="Verdana" pitchFamily="34" charset="0"/>
                      </a:endParaRPr>
                    </a:p>
                  </a:txBody>
                  <a:tcPr marT="45733" marB="45733"/>
                </a:tc>
              </a:tr>
              <a:tr h="1371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err="1" smtClean="0">
                          <a:solidFill>
                            <a:schemeClr val="tx1"/>
                          </a:solidFill>
                          <a:latin typeface="Verdana" pitchFamily="34" charset="0"/>
                          <a:ea typeface="Verdana" pitchFamily="34" charset="0"/>
                          <a:cs typeface="Verdana" pitchFamily="34" charset="0"/>
                        </a:rPr>
                        <a:t>i</a:t>
                      </a:r>
                      <a:r>
                        <a:rPr kumimoji="0" lang="en-US" sz="1300" b="0" kern="1200" baseline="0" dirty="0" smtClean="0">
                          <a:solidFill>
                            <a:schemeClr val="tx1"/>
                          </a:solidFill>
                          <a:latin typeface="Verdana" pitchFamily="34" charset="0"/>
                          <a:ea typeface="Verdana" pitchFamily="34" charset="0"/>
                          <a:cs typeface="Verdana" pitchFamily="34" charset="0"/>
                        </a:rPr>
                        <a:t>.</a:t>
                      </a:r>
                    </a:p>
                  </a:txBody>
                  <a:tcPr marT="45733" marB="45733"/>
                </a:tc>
                <a:tc>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Total EIRs generated by JMRC as on date</a:t>
                      </a:r>
                    </a:p>
                    <a:p>
                      <a:pPr marL="0" marR="0" indent="0" algn="just"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23</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Total EIR’s closed</a:t>
                      </a:r>
                      <a:endParaRPr kumimoji="0" lang="en-US" sz="1300" b="0" kern="1200" baseline="0" dirty="0" smtClean="0">
                        <a:solidFill>
                          <a:srgbClr val="0000FF"/>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11</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3, 5,6,7,9,10,13,15,16,17,19)</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EIR’s may be referred for closure in this month.</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01</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21)</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iv.</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for which DMRC/JMRC (RS) has been requested to assist BEML/</a:t>
                      </a:r>
                      <a:r>
                        <a:rPr kumimoji="0" lang="en-US" sz="1300" b="0" kern="1200" baseline="0" dirty="0" err="1" smtClean="0">
                          <a:solidFill>
                            <a:schemeClr val="tx1"/>
                          </a:solidFill>
                          <a:latin typeface="Verdana" pitchFamily="34" charset="0"/>
                          <a:ea typeface="Verdana" pitchFamily="34" charset="0"/>
                          <a:cs typeface="Verdana" pitchFamily="34" charset="0"/>
                        </a:rPr>
                        <a:t>Alstom</a:t>
                      </a:r>
                      <a:r>
                        <a:rPr kumimoji="0" lang="en-US" sz="1300" b="0" kern="1200" baseline="0" dirty="0" smtClean="0">
                          <a:solidFill>
                            <a:schemeClr val="tx1"/>
                          </a:solidFill>
                          <a:latin typeface="Verdana" pitchFamily="34" charset="0"/>
                          <a:ea typeface="Verdana" pitchFamily="34" charset="0"/>
                          <a:cs typeface="Verdana" pitchFamily="34" charset="0"/>
                        </a:rPr>
                        <a:t> in getting approval of DMRC/JMRC S&amp;T to upload new ATC software through M/s. </a:t>
                      </a:r>
                      <a:r>
                        <a:rPr kumimoji="0" lang="en-US" sz="1300" b="0" kern="1200" baseline="0" dirty="0" err="1" smtClean="0">
                          <a:solidFill>
                            <a:schemeClr val="tx1"/>
                          </a:solidFill>
                          <a:latin typeface="Verdana" pitchFamily="34" charset="0"/>
                          <a:ea typeface="Verdana" pitchFamily="34" charset="0"/>
                          <a:cs typeface="Verdana" pitchFamily="34" charset="0"/>
                        </a:rPr>
                        <a:t>Alstom</a:t>
                      </a:r>
                      <a:r>
                        <a:rPr kumimoji="0" lang="en-US" sz="1300" b="0" kern="1200" baseline="0" dirty="0" smtClean="0">
                          <a:solidFill>
                            <a:schemeClr val="tx1"/>
                          </a:solidFill>
                          <a:latin typeface="Verdana" pitchFamily="34" charset="0"/>
                          <a:ea typeface="Verdana" pitchFamily="34" charset="0"/>
                          <a:cs typeface="Verdana" pitchFamily="34" charset="0"/>
                        </a:rPr>
                        <a:t> for early closure of the issue.</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01</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8)</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v.</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Total EIR’s for which modification approval received from DMRC and procurement of material to implement the modification/countermeasure is under progress.</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02</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2 &amp; 11)</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vi.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Total EIR’s for which investigation/trial is under progress.</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06</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1, 12, 14, 18, 22 &amp; 23)</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vii.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for which replacement material is under arrangement to address the issue.</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01</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20)</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viii.</a:t>
                      </a:r>
                    </a:p>
                  </a:txBody>
                  <a:tcPr marT="45733" marB="457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Total EIRs for which the countermeasure implementation work (inline with RS3/RS9) is under progress in RS8 train-sets.</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1" kern="1200" baseline="0" dirty="0" smtClean="0">
                          <a:solidFill>
                            <a:schemeClr val="tx1"/>
                          </a:solidFill>
                          <a:latin typeface="Verdana" pitchFamily="34" charset="0"/>
                          <a:ea typeface="Verdana" pitchFamily="34" charset="0"/>
                          <a:cs typeface="Verdana" pitchFamily="34" charset="0"/>
                        </a:rPr>
                        <a:t>01</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4)</a:t>
                      </a:r>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31067465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8382680"/>
              </p:ext>
            </p:extLst>
          </p:nvPr>
        </p:nvGraphicFramePr>
        <p:xfrm>
          <a:off x="76201" y="381000"/>
          <a:ext cx="9067799" cy="6355236"/>
        </p:xfrm>
        <a:graphic>
          <a:graphicData uri="http://schemas.openxmlformats.org/drawingml/2006/table">
            <a:tbl>
              <a:tblPr firstRow="1" bandRow="1">
                <a:tableStyleId>{5C22544A-7EE6-4342-B048-85BDC9FD1C3A}</a:tableStyleId>
              </a:tblPr>
              <a:tblGrid>
                <a:gridCol w="380999"/>
                <a:gridCol w="152400"/>
                <a:gridCol w="1905001"/>
                <a:gridCol w="5638799"/>
                <a:gridCol w="152400"/>
                <a:gridCol w="838200"/>
              </a:tblGrid>
              <a:tr h="228600">
                <a:tc gridSpan="2">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hMerge="1">
                  <a:txBody>
                    <a:bodyPr/>
                    <a:lstStyle/>
                    <a:p>
                      <a:endParaRPr lang="en-US"/>
                    </a:p>
                  </a:txBody>
                  <a:tcPr/>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gridSpan="2">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c hMerge="1">
                  <a:txBody>
                    <a:bodyPr/>
                    <a:lstStyle/>
                    <a:p>
                      <a:endParaRPr lang="en-US"/>
                    </a:p>
                  </a:txBody>
                  <a:tcPr/>
                </a:tc>
              </a:tr>
              <a:tr h="243762">
                <a:tc gridSpan="6">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1"/>
                          </a:solidFill>
                          <a:latin typeface="Verdana" pitchFamily="34" charset="0"/>
                          <a:ea typeface="Verdana" pitchFamily="34" charset="0"/>
                          <a:cs typeface="Verdana" pitchFamily="34" charset="0"/>
                        </a:rPr>
                        <a:t>Detailed Description &amp; Status of Open EIRs</a:t>
                      </a:r>
                      <a:endParaRPr lang="en-US" sz="1400" b="1" dirty="0">
                        <a:solidFill>
                          <a:schemeClr val="tx1"/>
                        </a:solidFill>
                        <a:latin typeface="Verdana" pitchFamily="34" charset="0"/>
                        <a:ea typeface="Verdana" pitchFamily="34" charset="0"/>
                        <a:cs typeface="Verdana" pitchFamily="34" charset="0"/>
                      </a:endParaRPr>
                    </a:p>
                  </a:txBody>
                  <a:tcPr marT="45733" marB="45733"/>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9618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err="1" smtClean="0">
                          <a:solidFill>
                            <a:schemeClr val="tx1"/>
                          </a:solidFill>
                          <a:latin typeface="Verdana" pitchFamily="34" charset="0"/>
                          <a:ea typeface="Verdana" pitchFamily="34" charset="0"/>
                          <a:cs typeface="Verdana" pitchFamily="34" charset="0"/>
                        </a:rPr>
                        <a:t>i</a:t>
                      </a:r>
                      <a:r>
                        <a:rPr kumimoji="0" lang="en-US" sz="1300" b="0" kern="1200" baseline="0" dirty="0" smtClean="0">
                          <a:solidFill>
                            <a:schemeClr val="tx1"/>
                          </a:solidFill>
                          <a:latin typeface="Verdana" pitchFamily="34" charset="0"/>
                          <a:ea typeface="Verdana" pitchFamily="34" charset="0"/>
                          <a:cs typeface="Verdana" pitchFamily="34" charset="0"/>
                        </a:rPr>
                        <a:t>.</a:t>
                      </a:r>
                    </a:p>
                  </a:txBody>
                  <a:tcPr marT="45733" marB="45733"/>
                </a:tc>
                <a:tc gridSpan="2">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01 </a:t>
                      </a:r>
                    </a:p>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(Sun blinds not functioning well)</a:t>
                      </a:r>
                    </a:p>
                  </a:txBody>
                  <a:tcPr marT="45733" marB="45733"/>
                </a:tc>
                <a:tc hMerge="1">
                  <a:txBody>
                    <a:bodyPr/>
                    <a:lstStyle/>
                    <a:p>
                      <a:pPr marL="0" marR="0" indent="0" algn="just"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There is no line failures of sun blind assembly in recent  past. During daily fitness checks of the trains, it has been reported that the sun blind screen does not roll back completely in some instance if being operated multiple times however generally the operation was normal if it is operated once or twice.</a:t>
                      </a:r>
                    </a:p>
                  </a:txBody>
                  <a:tcPr marT="45733" marB="45733"/>
                </a:tc>
                <a:tc hMerge="1">
                  <a:txBody>
                    <a:bodyPr/>
                    <a:lstStyle/>
                    <a:p>
                      <a:endParaRPr lang="en-US" dirty="0"/>
                    </a:p>
                  </a:txBody>
                  <a:tcPr marT="45733" marB="45733"/>
                </a:tc>
                <a:tc>
                  <a:txBody>
                    <a:bodyPr/>
                    <a:lstStyle/>
                    <a:p>
                      <a:endParaRPr lang="en-US"/>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a:t>
                      </a:r>
                    </a:p>
                  </a:txBody>
                  <a:tcPr marT="45733" marB="45733"/>
                </a:tc>
                <a:tc gridSpan="2">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02 </a:t>
                      </a:r>
                    </a:p>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(SIV Major Fault &amp; INVOVD faults detected in TS#05 and during investigation it was observed that DT2 SIV Discharge unit got burnt).</a:t>
                      </a:r>
                    </a:p>
                  </a:txBody>
                  <a:tcPr marT="45733" marB="45733"/>
                </a:tc>
                <a:tc hMerge="1">
                  <a:txBody>
                    <a:bodyPr/>
                    <a:lstStyle/>
                    <a:p>
                      <a:pPr marL="0" marR="0" indent="0" algn="just"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M/s. MEI factory Bangalore has received the material for repairing the discharge unit from M/s. MELCO on 12</a:t>
                      </a:r>
                      <a:r>
                        <a:rPr kumimoji="0" lang="en-US" sz="1300" b="0" kern="1200" baseline="30000" dirty="0" smtClean="0">
                          <a:solidFill>
                            <a:schemeClr val="tx1"/>
                          </a:solidFill>
                          <a:latin typeface="Verdana" pitchFamily="34" charset="0"/>
                          <a:ea typeface="Verdana" pitchFamily="34" charset="0"/>
                          <a:cs typeface="Verdana" pitchFamily="34" charset="0"/>
                        </a:rPr>
                        <a:t>th</a:t>
                      </a:r>
                      <a:r>
                        <a:rPr kumimoji="0" lang="en-US" sz="1300" b="0" kern="1200" baseline="0" dirty="0" smtClean="0">
                          <a:solidFill>
                            <a:schemeClr val="tx1"/>
                          </a:solidFill>
                          <a:latin typeface="Verdana" pitchFamily="34" charset="0"/>
                          <a:ea typeface="Verdana" pitchFamily="34" charset="0"/>
                          <a:cs typeface="Verdana" pitchFamily="34" charset="0"/>
                        </a:rPr>
                        <a:t> July’17. The repair of the Discharge unit is under progress at MEI factory.</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300" b="0" kern="1200" baseline="0" dirty="0" smtClean="0">
                          <a:solidFill>
                            <a:schemeClr val="tx1"/>
                          </a:solidFill>
                          <a:latin typeface="Verdana" pitchFamily="34" charset="0"/>
                          <a:ea typeface="Verdana" pitchFamily="34" charset="0"/>
                          <a:cs typeface="Verdana" pitchFamily="34" charset="0"/>
                        </a:rPr>
                        <a:t>Regarding implementation of SIV front cover modification in RS8 project (in line with approved proposal of RS3), </a:t>
                      </a:r>
                      <a:r>
                        <a:rPr kumimoji="0" lang="en-US" sz="1300" b="0" kern="1200" baseline="0" dirty="0" smtClean="0">
                          <a:solidFill>
                            <a:schemeClr val="tx1"/>
                          </a:solidFill>
                          <a:latin typeface="Verdana" pitchFamily="34" charset="0"/>
                          <a:ea typeface="Verdana" pitchFamily="34" charset="0"/>
                          <a:cs typeface="Verdana" pitchFamily="34" charset="0"/>
                        </a:rPr>
                        <a:t>M/s. MEI depot team has received material (except adhesives). The modification work would start by end of July’17 when the pending material would be received.</a:t>
                      </a:r>
                      <a:endParaRPr kumimoji="0" lang="en-IN" sz="1300" b="0" kern="1200" baseline="0" dirty="0" smtClean="0">
                        <a:solidFill>
                          <a:schemeClr val="tx1"/>
                        </a:solidFill>
                        <a:latin typeface="Verdana" pitchFamily="34" charset="0"/>
                        <a:ea typeface="Verdana" pitchFamily="34" charset="0"/>
                        <a:cs typeface="Verdana" pitchFamily="34" charset="0"/>
                      </a:endParaRPr>
                    </a:p>
                  </a:txBody>
                  <a:tcPr marT="45733" marB="45733"/>
                </a:tc>
                <a:tc h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Aug’17</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iii</a:t>
                      </a:r>
                    </a:p>
                  </a:txBody>
                  <a:tcPr marT="45733" marB="45733"/>
                </a:tc>
                <a:tc gridSpan="2">
                  <a:txBody>
                    <a:bodyPr/>
                    <a:lstStyle/>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EIR No. 04</a:t>
                      </a:r>
                    </a:p>
                    <a:p>
                      <a:pPr marL="0" marR="0" indent="0" algn="just"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(Gap or Crown Height from journal box to bogie frame not in specified limit).</a:t>
                      </a:r>
                    </a:p>
                  </a:txBody>
                  <a:tcPr marT="45733" marB="45733"/>
                </a:tc>
                <a:tc hMerge="1">
                  <a:txBody>
                    <a:bodyPr/>
                    <a:lstStyle/>
                    <a:p>
                      <a:endParaRPr lang="en-US" dirty="0"/>
                    </a:p>
                  </a:txBody>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In-line with RS3/RS9, the activity of providing shims to maintain crown height has been completed in three train-sets (TS01, TS02 &amp; TS05). JMRC is requested to provide remaining train-sets to expedite the work.</a:t>
                      </a:r>
                    </a:p>
                  </a:txBody>
                  <a:tcPr marT="45733" marB="45733"/>
                </a:tc>
                <a:tc hMerge="1">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kumimoji="0" lang="en-US" sz="1300" b="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Oct’17</a:t>
                      </a:r>
                    </a:p>
                  </a:txBody>
                  <a:tcPr marT="45733" marB="45733"/>
                </a:tc>
              </a:tr>
              <a:tr h="3961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iv.</a:t>
                      </a:r>
                    </a:p>
                  </a:txBody>
                  <a:tcPr marT="45733" marB="45733"/>
                </a:tc>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EIR No. 08</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(PAEH unknown status on TIMS).</a:t>
                      </a:r>
                    </a:p>
                  </a:txBody>
                  <a:tcPr marT="45733" marB="45733"/>
                </a:tc>
                <a:tc hMerge="1">
                  <a:txBody>
                    <a:bodyPr/>
                    <a:lstStyle/>
                    <a:p>
                      <a:endParaRPr lang="en-US"/>
                    </a:p>
                  </a:txBody>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The issue of non compliance of DID requirement as per </a:t>
                      </a:r>
                      <a:r>
                        <a:rPr kumimoji="0" lang="en-US" sz="1300" b="0" kern="1200" baseline="0" dirty="0" err="1" smtClean="0">
                          <a:solidFill>
                            <a:schemeClr val="tx1"/>
                          </a:solidFill>
                          <a:latin typeface="Verdana" pitchFamily="34" charset="0"/>
                          <a:ea typeface="Verdana" pitchFamily="34" charset="0"/>
                          <a:cs typeface="Verdana" pitchFamily="34" charset="0"/>
                        </a:rPr>
                        <a:t>para</a:t>
                      </a:r>
                      <a:r>
                        <a:rPr kumimoji="0" lang="en-US" sz="1300" b="0" kern="1200" baseline="0" dirty="0" smtClean="0">
                          <a:solidFill>
                            <a:schemeClr val="tx1"/>
                          </a:solidFill>
                          <a:latin typeface="Verdana" pitchFamily="34" charset="0"/>
                          <a:ea typeface="Verdana" pitchFamily="34" charset="0"/>
                          <a:cs typeface="Verdana" pitchFamily="34" charset="0"/>
                        </a:rPr>
                        <a:t> no. 3.2.5 of ATC-PA&amp;PIS INTERFACE SPECIFICATION JPJS02-SE-0022-A has been conveyed (vide BEML’s letter ref: BEML/RS8/ATL/17-18/551 </a:t>
                      </a:r>
                      <a:r>
                        <a:rPr kumimoji="0" lang="en-US" sz="1300" b="0" kern="1200" baseline="0" dirty="0" err="1" smtClean="0">
                          <a:solidFill>
                            <a:schemeClr val="tx1"/>
                          </a:solidFill>
                          <a:latin typeface="Verdana" pitchFamily="34" charset="0"/>
                          <a:ea typeface="Verdana" pitchFamily="34" charset="0"/>
                          <a:cs typeface="Verdana" pitchFamily="34" charset="0"/>
                        </a:rPr>
                        <a:t>dt</a:t>
                      </a:r>
                      <a:r>
                        <a:rPr kumimoji="0" lang="en-US" sz="1300" b="0" kern="1200" baseline="0" dirty="0" smtClean="0">
                          <a:solidFill>
                            <a:schemeClr val="tx1"/>
                          </a:solidFill>
                          <a:latin typeface="Verdana" pitchFamily="34" charset="0"/>
                          <a:ea typeface="Verdana" pitchFamily="34" charset="0"/>
                          <a:cs typeface="Verdana" pitchFamily="34" charset="0"/>
                        </a:rPr>
                        <a:t>  20.04.2017) to M/s. </a:t>
                      </a:r>
                      <a:r>
                        <a:rPr kumimoji="0" lang="en-US" sz="1300" b="0" kern="1200" baseline="0" dirty="0" err="1" smtClean="0">
                          <a:solidFill>
                            <a:schemeClr val="tx1"/>
                          </a:solidFill>
                          <a:latin typeface="Verdana" pitchFamily="34" charset="0"/>
                          <a:ea typeface="Verdana" pitchFamily="34" charset="0"/>
                          <a:cs typeface="Verdana" pitchFamily="34" charset="0"/>
                        </a:rPr>
                        <a:t>Alstom</a:t>
                      </a:r>
                      <a:r>
                        <a:rPr kumimoji="0" lang="en-US" sz="1300" b="0" kern="1200" baseline="0" dirty="0" smtClean="0">
                          <a:solidFill>
                            <a:schemeClr val="tx1"/>
                          </a:solidFill>
                          <a:latin typeface="Verdana" pitchFamily="34" charset="0"/>
                          <a:ea typeface="Verdana" pitchFamily="34" charset="0"/>
                          <a:cs typeface="Verdana" pitchFamily="34" charset="0"/>
                        </a:rPr>
                        <a:t>. M/s. </a:t>
                      </a:r>
                      <a:r>
                        <a:rPr kumimoji="0" lang="en-US" sz="1300" b="0" kern="1200" baseline="0" dirty="0" err="1" smtClean="0">
                          <a:solidFill>
                            <a:schemeClr val="tx1"/>
                          </a:solidFill>
                          <a:latin typeface="Verdana" pitchFamily="34" charset="0"/>
                          <a:ea typeface="Verdana" pitchFamily="34" charset="0"/>
                          <a:cs typeface="Verdana" pitchFamily="34" charset="0"/>
                        </a:rPr>
                        <a:t>Alstom</a:t>
                      </a:r>
                      <a:r>
                        <a:rPr kumimoji="0" lang="en-US" sz="1300" b="0" kern="1200" baseline="0" dirty="0" smtClean="0">
                          <a:solidFill>
                            <a:schemeClr val="tx1"/>
                          </a:solidFill>
                          <a:latin typeface="Verdana" pitchFamily="34" charset="0"/>
                          <a:ea typeface="Verdana" pitchFamily="34" charset="0"/>
                          <a:cs typeface="Verdana" pitchFamily="34" charset="0"/>
                        </a:rPr>
                        <a:t> (vide letter </a:t>
                      </a:r>
                      <a:r>
                        <a:rPr kumimoji="0" lang="en-US" sz="1300" b="0" kern="1200" baseline="0" dirty="0" err="1" smtClean="0">
                          <a:solidFill>
                            <a:schemeClr val="tx1"/>
                          </a:solidFill>
                          <a:latin typeface="Verdana" pitchFamily="34" charset="0"/>
                          <a:ea typeface="Verdana" pitchFamily="34" charset="0"/>
                          <a:cs typeface="Verdana" pitchFamily="34" charset="0"/>
                        </a:rPr>
                        <a:t>ref:ATL</a:t>
                      </a:r>
                      <a:r>
                        <a:rPr kumimoji="0" lang="en-US" sz="1300" b="0" kern="1200" baseline="0" dirty="0" smtClean="0">
                          <a:solidFill>
                            <a:schemeClr val="tx1"/>
                          </a:solidFill>
                          <a:latin typeface="Verdana" pitchFamily="34" charset="0"/>
                          <a:ea typeface="Verdana" pitchFamily="34" charset="0"/>
                          <a:cs typeface="Verdana" pitchFamily="34" charset="0"/>
                        </a:rPr>
                        <a:t>/DMRC/JP/JS02-Cont/0296 </a:t>
                      </a:r>
                      <a:r>
                        <a:rPr kumimoji="0" lang="en-US" sz="1300" b="0" kern="1200" baseline="0" dirty="0" err="1" smtClean="0">
                          <a:solidFill>
                            <a:schemeClr val="tx1"/>
                          </a:solidFill>
                          <a:latin typeface="Verdana" pitchFamily="34" charset="0"/>
                          <a:ea typeface="Verdana" pitchFamily="34" charset="0"/>
                          <a:cs typeface="Verdana" pitchFamily="34" charset="0"/>
                        </a:rPr>
                        <a:t>dt</a:t>
                      </a:r>
                      <a:r>
                        <a:rPr kumimoji="0" lang="en-US" sz="1300" b="0" kern="1200" baseline="0" dirty="0" smtClean="0">
                          <a:solidFill>
                            <a:schemeClr val="tx1"/>
                          </a:solidFill>
                          <a:latin typeface="Verdana" pitchFamily="34" charset="0"/>
                          <a:ea typeface="Verdana" pitchFamily="34" charset="0"/>
                          <a:cs typeface="Verdana" pitchFamily="34" charset="0"/>
                        </a:rPr>
                        <a:t>. 24th April’17) informed that the polling cycle has been tuned to its maximum limit in ATC onboard s/w [TDMS </a:t>
                      </a:r>
                      <a:r>
                        <a:rPr kumimoji="0" lang="en-US" sz="1300" b="0" kern="1200" baseline="0" dirty="0" err="1" smtClean="0">
                          <a:solidFill>
                            <a:schemeClr val="tx1"/>
                          </a:solidFill>
                          <a:latin typeface="Verdana" pitchFamily="34" charset="0"/>
                          <a:ea typeface="Verdana" pitchFamily="34" charset="0"/>
                          <a:cs typeface="Verdana" pitchFamily="34" charset="0"/>
                        </a:rPr>
                        <a:t>ver</a:t>
                      </a:r>
                      <a:r>
                        <a:rPr kumimoji="0" lang="en-US" sz="1300" b="0" kern="1200" baseline="0" dirty="0" smtClean="0">
                          <a:solidFill>
                            <a:schemeClr val="tx1"/>
                          </a:solidFill>
                          <a:latin typeface="Verdana" pitchFamily="34" charset="0"/>
                          <a:ea typeface="Verdana" pitchFamily="34" charset="0"/>
                          <a:cs typeface="Verdana" pitchFamily="34" charset="0"/>
                        </a:rPr>
                        <a:t> 4.5.10]. DMRC/JMRC RS is requested to assist BEML by taking up the issue with DMRC/JMRC S&amp;T.</a:t>
                      </a:r>
                    </a:p>
                  </a:txBody>
                  <a:tcPr marT="45733" marB="45733"/>
                </a:tc>
                <a:tc hMerge="1">
                  <a:txBody>
                    <a:bodyPr/>
                    <a:lstStyle/>
                    <a:p>
                      <a:endParaRPr lang="en-US" dirty="0"/>
                    </a:p>
                  </a:txBody>
                  <a:tcPr marT="45733" marB="45733"/>
                </a:tc>
                <a:tc>
                  <a:txBody>
                    <a:bodyPr/>
                    <a:lstStyle/>
                    <a:p>
                      <a:endParaRPr lang="en-US" dirty="0"/>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6493065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8382680"/>
              </p:ext>
            </p:extLst>
          </p:nvPr>
        </p:nvGraphicFramePr>
        <p:xfrm>
          <a:off x="147323" y="381000"/>
          <a:ext cx="8920479" cy="6263692"/>
        </p:xfrm>
        <a:graphic>
          <a:graphicData uri="http://schemas.openxmlformats.org/drawingml/2006/table">
            <a:tbl>
              <a:tblPr firstRow="1" bandRow="1">
                <a:tableStyleId>{5C22544A-7EE6-4342-B048-85BDC9FD1C3A}</a:tableStyleId>
              </a:tblPr>
              <a:tblGrid>
                <a:gridCol w="533400"/>
                <a:gridCol w="1986277"/>
                <a:gridCol w="5257800"/>
                <a:gridCol w="1143002"/>
              </a:tblGrid>
              <a:tr h="228600">
                <a:tc>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r>
              <a:tr h="39618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v.</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EIR No. 11</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(During main line operation of RS8 trains in kite flying season, heavy flashing with blast sound were observed &amp; OHE Tripped).</a:t>
                      </a:r>
                    </a:p>
                  </a:txBody>
                  <a:tcPr marL="114300" marR="11430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As advised by DMRC (vide letter ref: DMRC/134/15/RS8/HECP-SECP/5959 </a:t>
                      </a:r>
                      <a:r>
                        <a:rPr kumimoji="0" lang="en-US" sz="1300" kern="1200" baseline="0" dirty="0" err="1" smtClean="0">
                          <a:solidFill>
                            <a:schemeClr val="dk1"/>
                          </a:solidFill>
                          <a:latin typeface="Verdana" pitchFamily="34" charset="0"/>
                          <a:ea typeface="Verdana" pitchFamily="34" charset="0"/>
                          <a:cs typeface="Verdana" pitchFamily="34" charset="0"/>
                        </a:rPr>
                        <a:t>dt</a:t>
                      </a:r>
                      <a:r>
                        <a:rPr kumimoji="0" lang="en-US" sz="1300" kern="1200" baseline="0" dirty="0" smtClean="0">
                          <a:solidFill>
                            <a:schemeClr val="dk1"/>
                          </a:solidFill>
                          <a:latin typeface="Verdana" pitchFamily="34" charset="0"/>
                          <a:ea typeface="Verdana" pitchFamily="34" charset="0"/>
                          <a:cs typeface="Verdana" pitchFamily="34" charset="0"/>
                        </a:rPr>
                        <a:t>. 05.03.2016), BEML had submitted proposal for Pantograph painting (vide letter ref: BEML/RS8/16-17/515 </a:t>
                      </a:r>
                      <a:r>
                        <a:rPr kumimoji="0" lang="en-US" sz="1300" kern="1200" baseline="0" dirty="0" err="1" smtClean="0">
                          <a:solidFill>
                            <a:schemeClr val="dk1"/>
                          </a:solidFill>
                          <a:latin typeface="Verdana" pitchFamily="34" charset="0"/>
                          <a:ea typeface="Verdana" pitchFamily="34" charset="0"/>
                          <a:cs typeface="Verdana" pitchFamily="34" charset="0"/>
                        </a:rPr>
                        <a:t>dt</a:t>
                      </a:r>
                      <a:r>
                        <a:rPr kumimoji="0" lang="en-US" sz="1300" kern="1200" baseline="0" dirty="0" smtClean="0">
                          <a:solidFill>
                            <a:schemeClr val="dk1"/>
                          </a:solidFill>
                          <a:latin typeface="Verdana" pitchFamily="34" charset="0"/>
                          <a:ea typeface="Verdana" pitchFamily="34" charset="0"/>
                          <a:cs typeface="Verdana" pitchFamily="34" charset="0"/>
                        </a:rPr>
                        <a:t>. 16.09.2016) and the same has been approved by DMRC (vide letter ref: DMRC/134/15/RS8/HECP-SECP/6060  </a:t>
                      </a:r>
                      <a:r>
                        <a:rPr kumimoji="0" lang="en-US" sz="1300" kern="1200" baseline="0" dirty="0" err="1" smtClean="0">
                          <a:solidFill>
                            <a:schemeClr val="dk1"/>
                          </a:solidFill>
                          <a:latin typeface="Verdana" pitchFamily="34" charset="0"/>
                          <a:ea typeface="Verdana" pitchFamily="34" charset="0"/>
                          <a:cs typeface="Verdana" pitchFamily="34" charset="0"/>
                        </a:rPr>
                        <a:t>dt</a:t>
                      </a:r>
                      <a:r>
                        <a:rPr kumimoji="0" lang="en-US" sz="1300" kern="1200" baseline="0" dirty="0" smtClean="0">
                          <a:solidFill>
                            <a:schemeClr val="dk1"/>
                          </a:solidFill>
                          <a:latin typeface="Verdana" pitchFamily="34" charset="0"/>
                          <a:ea typeface="Verdana" pitchFamily="34" charset="0"/>
                          <a:cs typeface="Verdana" pitchFamily="34" charset="0"/>
                        </a:rPr>
                        <a:t> 27.09.2016). BEML has awarded PO to OEM (M/s. FTIL) to perform above said activity. The work implementation shall commence at depot by end of Aug’17.</a:t>
                      </a:r>
                    </a:p>
                  </a:txBody>
                  <a:tcPr marT="45733" marB="45733"/>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Nov’17</a:t>
                      </a:r>
                    </a:p>
                  </a:txBody>
                  <a:tcPr marT="45733" marB="45733"/>
                </a:tc>
              </a:tr>
              <a:tr h="39618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vi.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EIR No. 12</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(While passing neutral section, rear DT Car VCB open/trip message does not pop up on TIMS screen and also the message does not get logged in history page in Random trains).</a:t>
                      </a:r>
                    </a:p>
                  </a:txBody>
                  <a:tcPr/>
                </a:tc>
                <a:tc>
                  <a:txBody>
                    <a:bodyPr/>
                    <a:lstStyle/>
                    <a:p>
                      <a:pPr algn="just"/>
                      <a:r>
                        <a:rPr kumimoji="0" lang="en-IN" sz="1300" b="0" kern="1200" baseline="0" dirty="0" smtClean="0">
                          <a:solidFill>
                            <a:schemeClr val="tx1"/>
                          </a:solidFill>
                          <a:latin typeface="Verdana" pitchFamily="34" charset="0"/>
                          <a:ea typeface="Verdana" pitchFamily="34" charset="0"/>
                          <a:cs typeface="Verdana" pitchFamily="34" charset="0"/>
                        </a:rPr>
                        <a:t>M/s. MELCO had investigated the issue and implemented the SECP (RS8-TIMS-001) and accordingly the modified TIMS software (1.04) was  uploaded in all train-sets to resolve the issue. But, the problem could not be resolved. Again, M/s. MELCO developed </a:t>
                      </a:r>
                      <a:r>
                        <a:rPr kumimoji="0" lang="en-US" sz="1300" b="0" kern="1200" baseline="0" dirty="0" smtClean="0">
                          <a:solidFill>
                            <a:schemeClr val="tx1"/>
                          </a:solidFill>
                          <a:latin typeface="Verdana" pitchFamily="34" charset="0"/>
                          <a:ea typeface="Verdana" pitchFamily="34" charset="0"/>
                          <a:cs typeface="Verdana" pitchFamily="34" charset="0"/>
                        </a:rPr>
                        <a:t>TIMS test software (</a:t>
                      </a:r>
                      <a:r>
                        <a:rPr kumimoji="0" lang="en-US" sz="1300" b="0" kern="1200" baseline="0" dirty="0" err="1" smtClean="0">
                          <a:solidFill>
                            <a:schemeClr val="tx1"/>
                          </a:solidFill>
                          <a:latin typeface="Verdana" pitchFamily="34" charset="0"/>
                          <a:ea typeface="Verdana" pitchFamily="34" charset="0"/>
                          <a:cs typeface="Verdana" pitchFamily="34" charset="0"/>
                        </a:rPr>
                        <a:t>Ver</a:t>
                      </a:r>
                      <a:r>
                        <a:rPr kumimoji="0" lang="en-US" sz="1300" b="0" kern="1200" baseline="0" dirty="0" smtClean="0">
                          <a:solidFill>
                            <a:schemeClr val="tx1"/>
                          </a:solidFill>
                          <a:latin typeface="Verdana" pitchFamily="34" charset="0"/>
                          <a:ea typeface="Verdana" pitchFamily="34" charset="0"/>
                          <a:cs typeface="Verdana" pitchFamily="34" charset="0"/>
                        </a:rPr>
                        <a:t> CPU4-1 1.06 &amp; CPU-2 1.05) and uploaded in all RS8 trains to monitor and record the relevant data during “VCB open/trip” message not getting popup during revenue service as the reported phenomena are very infrequent. </a:t>
                      </a:r>
                      <a:r>
                        <a:rPr kumimoji="0" lang="en-IN" sz="1300" kern="1200" baseline="0" dirty="0" smtClean="0">
                          <a:solidFill>
                            <a:schemeClr val="tx1"/>
                          </a:solidFill>
                          <a:latin typeface="Verdana" pitchFamily="34" charset="0"/>
                          <a:ea typeface="Verdana" pitchFamily="34" charset="0"/>
                          <a:cs typeface="Verdana" pitchFamily="34" charset="0"/>
                        </a:rPr>
                        <a:t>After uploading of TIMS new software, from 20th Feb’2017 to till date the problem was reported by JMRC twice.</a:t>
                      </a:r>
                      <a:endParaRPr kumimoji="0" lang="en-US" sz="1300" kern="1200" baseline="0" dirty="0" smtClean="0">
                        <a:solidFill>
                          <a:schemeClr val="tx1"/>
                        </a:solidFill>
                        <a:latin typeface="Verdana" pitchFamily="34" charset="0"/>
                        <a:ea typeface="Verdana" pitchFamily="34" charset="0"/>
                        <a:cs typeface="Verdana" pitchFamily="34" charset="0"/>
                      </a:endParaRPr>
                    </a:p>
                    <a:p>
                      <a:pPr algn="just"/>
                      <a:r>
                        <a:rPr kumimoji="0" lang="en-US" sz="1300" b="0" kern="1200" baseline="0" dirty="0" smtClean="0">
                          <a:solidFill>
                            <a:schemeClr val="tx1"/>
                          </a:solidFill>
                          <a:latin typeface="Verdana" pitchFamily="34" charset="0"/>
                          <a:ea typeface="Verdana" pitchFamily="34" charset="0"/>
                          <a:cs typeface="Verdana" pitchFamily="34" charset="0"/>
                        </a:rPr>
                        <a:t>On 1st July’17, the TIMS software </a:t>
                      </a:r>
                      <a:r>
                        <a:rPr kumimoji="0" lang="en-US" sz="1300" b="0" kern="1200" baseline="0" dirty="0" err="1" smtClean="0">
                          <a:solidFill>
                            <a:schemeClr val="tx1"/>
                          </a:solidFill>
                          <a:latin typeface="Verdana" pitchFamily="34" charset="0"/>
                          <a:ea typeface="Verdana" pitchFamily="34" charset="0"/>
                          <a:cs typeface="Verdana" pitchFamily="34" charset="0"/>
                        </a:rPr>
                        <a:t>ver</a:t>
                      </a:r>
                      <a:r>
                        <a:rPr kumimoji="0" lang="en-US" sz="1300" b="0" kern="1200" baseline="0" dirty="0" smtClean="0">
                          <a:solidFill>
                            <a:schemeClr val="tx1"/>
                          </a:solidFill>
                          <a:latin typeface="Verdana" pitchFamily="34" charset="0"/>
                          <a:ea typeface="Verdana" pitchFamily="34" charset="0"/>
                          <a:cs typeface="Verdana" pitchFamily="34" charset="0"/>
                        </a:rPr>
                        <a:t> (1.07), check sum CPU4-1(1554) &amp; CPU4-2(9D02) was uploaded in TS#08 and run the train on mainline towards monitoring  Pop up of “VCB Open/Trip message” during NS negotiation &amp; “ADCR de-energized when train is not stationary fault” and found the faults are popping up on TIMS VDU of both units as per logic. Further, this revised TIMS software has been uploaded in all train-sets (except TS01 which is under C-1 maintenance check).</a:t>
                      </a:r>
                      <a:endParaRPr kumimoji="0" lang="en-US" sz="1300" b="0" kern="1200" baseline="0" dirty="0">
                        <a:solidFill>
                          <a:schemeClr val="tx1"/>
                        </a:solidFill>
                        <a:latin typeface="Verdana" pitchFamily="34" charset="0"/>
                        <a:ea typeface="Verdana" pitchFamily="34" charset="0"/>
                        <a:cs typeface="Verdana" pitchFamily="34" charset="0"/>
                      </a:endParaRPr>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Under Monitoring</a:t>
                      </a:r>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6493065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8382680"/>
              </p:ext>
            </p:extLst>
          </p:nvPr>
        </p:nvGraphicFramePr>
        <p:xfrm>
          <a:off x="147323" y="381000"/>
          <a:ext cx="8920479" cy="4983506"/>
        </p:xfrm>
        <a:graphic>
          <a:graphicData uri="http://schemas.openxmlformats.org/drawingml/2006/table">
            <a:tbl>
              <a:tblPr firstRow="1" bandRow="1">
                <a:tableStyleId>{5C22544A-7EE6-4342-B048-85BDC9FD1C3A}</a:tableStyleId>
              </a:tblPr>
              <a:tblGrid>
                <a:gridCol w="533400"/>
                <a:gridCol w="1986277"/>
                <a:gridCol w="5405123"/>
                <a:gridCol w="995679"/>
              </a:tblGrid>
              <a:tr h="228600">
                <a:tc>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r>
              <a:tr h="431289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vii.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EIR No. 14</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(SIV ground fault, SIV major fault in TS#07/D1B07 &amp; </a:t>
                      </a:r>
                      <a:r>
                        <a:rPr lang="en-US" sz="1300" kern="1200" dirty="0" smtClean="0">
                          <a:solidFill>
                            <a:schemeClr val="dk1"/>
                          </a:solidFill>
                          <a:latin typeface="Verdana" pitchFamily="34" charset="0"/>
                          <a:ea typeface="Verdana" pitchFamily="34" charset="0"/>
                          <a:cs typeface="Verdana" pitchFamily="34" charset="0"/>
                        </a:rPr>
                        <a:t>TS#01/D1B01</a:t>
                      </a:r>
                      <a:r>
                        <a:rPr kumimoji="0" lang="en-US" sz="1300" kern="1200" baseline="0" dirty="0" smtClean="0">
                          <a:solidFill>
                            <a:schemeClr val="dk1"/>
                          </a:solidFill>
                          <a:latin typeface="Verdana" pitchFamily="34" charset="0"/>
                          <a:ea typeface="Verdana" pitchFamily="34" charset="0"/>
                          <a:cs typeface="Verdana" pitchFamily="34" charset="0"/>
                        </a:rPr>
                        <a:t>).</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During investigation in TS#07, D1B07 ACC surge capacitor was found in burnt condition. </a:t>
                      </a:r>
                      <a:r>
                        <a:rPr lang="en-US" sz="1300" kern="1200" dirty="0" smtClean="0">
                          <a:solidFill>
                            <a:schemeClr val="dk1"/>
                          </a:solidFill>
                          <a:latin typeface="Verdana" pitchFamily="34" charset="0"/>
                          <a:ea typeface="Verdana" pitchFamily="34" charset="0"/>
                          <a:cs typeface="Verdana" pitchFamily="34" charset="0"/>
                        </a:rPr>
                        <a:t>During investigation</a:t>
                      </a:r>
                      <a:r>
                        <a:rPr lang="en-US" sz="1300" kern="1200" baseline="0" dirty="0" smtClean="0">
                          <a:solidFill>
                            <a:schemeClr val="dk1"/>
                          </a:solidFill>
                          <a:latin typeface="Verdana" pitchFamily="34" charset="0"/>
                          <a:ea typeface="Verdana" pitchFamily="34" charset="0"/>
                          <a:cs typeface="Verdana" pitchFamily="34" charset="0"/>
                        </a:rPr>
                        <a:t> in TS#01, D1B01</a:t>
                      </a:r>
                      <a:r>
                        <a:rPr lang="en-US" sz="1300" kern="1200" dirty="0" smtClean="0">
                          <a:solidFill>
                            <a:schemeClr val="dk1"/>
                          </a:solidFill>
                          <a:latin typeface="Verdana" pitchFamily="34" charset="0"/>
                          <a:ea typeface="Verdana" pitchFamily="34" charset="0"/>
                          <a:cs typeface="Verdana" pitchFamily="34" charset="0"/>
                        </a:rPr>
                        <a:t> </a:t>
                      </a:r>
                      <a:r>
                        <a:rPr lang="en-US" sz="1300" kern="1200" dirty="0" err="1" smtClean="0">
                          <a:solidFill>
                            <a:schemeClr val="dk1"/>
                          </a:solidFill>
                          <a:latin typeface="Verdana" pitchFamily="34" charset="0"/>
                          <a:ea typeface="Verdana" pitchFamily="34" charset="0"/>
                          <a:cs typeface="Verdana" pitchFamily="34" charset="0"/>
                        </a:rPr>
                        <a:t>MTr</a:t>
                      </a:r>
                      <a:r>
                        <a:rPr lang="en-US" sz="1300" kern="1200" dirty="0" smtClean="0">
                          <a:solidFill>
                            <a:schemeClr val="dk1"/>
                          </a:solidFill>
                          <a:latin typeface="Verdana" pitchFamily="34" charset="0"/>
                          <a:ea typeface="Verdana" pitchFamily="34" charset="0"/>
                          <a:cs typeface="Verdana" pitchFamily="34" charset="0"/>
                        </a:rPr>
                        <a:t> Blower motor assembly and ACC surge capacitor were found in burnt condition.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Above items were replaced with healthy spares and both trains were made fit for revenue service. The defective items have been sent to MELCO Japan for further investigation.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Regarding frequent failure of surge capacitors in RS8 Train-sets, </a:t>
                      </a:r>
                      <a:r>
                        <a:rPr lang="en-US" sz="1300" kern="1200" baseline="0" dirty="0" smtClean="0">
                          <a:solidFill>
                            <a:schemeClr val="dk1"/>
                          </a:solidFill>
                          <a:latin typeface="Verdana" pitchFamily="34" charset="0"/>
                          <a:ea typeface="Verdana" pitchFamily="34" charset="0"/>
                          <a:cs typeface="Verdana" pitchFamily="34" charset="0"/>
                        </a:rPr>
                        <a:t>Fleet replacement of all SIV surge capacitors has been completed in all ten train-sets by 18</a:t>
                      </a:r>
                      <a:r>
                        <a:rPr lang="en-US" sz="1300" kern="1200" baseline="30000" dirty="0" smtClean="0">
                          <a:solidFill>
                            <a:schemeClr val="dk1"/>
                          </a:solidFill>
                          <a:latin typeface="Verdana" pitchFamily="34" charset="0"/>
                          <a:ea typeface="Verdana" pitchFamily="34" charset="0"/>
                          <a:cs typeface="Verdana" pitchFamily="34" charset="0"/>
                        </a:rPr>
                        <a:t>th</a:t>
                      </a:r>
                      <a:r>
                        <a:rPr lang="en-US" sz="1300" kern="1200" baseline="0" dirty="0" smtClean="0">
                          <a:solidFill>
                            <a:schemeClr val="dk1"/>
                          </a:solidFill>
                          <a:latin typeface="Verdana" pitchFamily="34" charset="0"/>
                          <a:ea typeface="Verdana" pitchFamily="34" charset="0"/>
                          <a:cs typeface="Verdana" pitchFamily="34" charset="0"/>
                        </a:rPr>
                        <a:t> April’17.</a:t>
                      </a:r>
                      <a:endParaRPr lang="en-US" sz="1300" kern="1200" dirty="0" smtClean="0">
                        <a:solidFill>
                          <a:schemeClr val="dk1"/>
                        </a:solidFill>
                        <a:latin typeface="Verdana" pitchFamily="34" charset="0"/>
                        <a:ea typeface="Verdana" pitchFamily="34" charset="0"/>
                        <a:cs typeface="Verdana" pitchFamily="34" charset="0"/>
                      </a:endParaRPr>
                    </a:p>
                    <a:p>
                      <a:pPr algn="just"/>
                      <a:r>
                        <a:rPr lang="en-US" sz="1300" kern="1200" baseline="0" dirty="0" smtClean="0">
                          <a:solidFill>
                            <a:schemeClr val="dk1"/>
                          </a:solidFill>
                          <a:latin typeface="Verdana" pitchFamily="34" charset="0"/>
                          <a:ea typeface="Verdana" pitchFamily="34" charset="0"/>
                          <a:cs typeface="Verdana" pitchFamily="34" charset="0"/>
                        </a:rPr>
                        <a:t>Further, as advised by MELCO design team, on 24th April’17, M/s. MEI  depot team measured the current &amp; voltage readings before &amp; after SIVK with test software </a:t>
                      </a:r>
                      <a:r>
                        <a:rPr lang="en-US" sz="1300" kern="1200" baseline="0" dirty="0" err="1" smtClean="0">
                          <a:solidFill>
                            <a:schemeClr val="dk1"/>
                          </a:solidFill>
                          <a:latin typeface="Verdana" pitchFamily="34" charset="0"/>
                          <a:ea typeface="Verdana" pitchFamily="34" charset="0"/>
                          <a:cs typeface="Verdana" pitchFamily="34" charset="0"/>
                        </a:rPr>
                        <a:t>ver</a:t>
                      </a:r>
                      <a:r>
                        <a:rPr lang="en-US" sz="1300" kern="1200" baseline="0" dirty="0" smtClean="0">
                          <a:solidFill>
                            <a:schemeClr val="dk1"/>
                          </a:solidFill>
                          <a:latin typeface="Verdana" pitchFamily="34" charset="0"/>
                          <a:ea typeface="Verdana" pitchFamily="34" charset="0"/>
                          <a:cs typeface="Verdana" pitchFamily="34" charset="0"/>
                        </a:rPr>
                        <a:t> AJ04 (with SIVK 500ms delay) &amp;  AJ05 (with SIVK 1000ms delay).</a:t>
                      </a:r>
                      <a:endParaRPr kumimoji="0" lang="en-US" sz="1400" b="0" i="0" u="none" strike="noStrike" kern="1200" baseline="0" dirty="0" smtClean="0">
                        <a:solidFill>
                          <a:srgbClr val="000000"/>
                        </a:solidFill>
                        <a:latin typeface="Verdana"/>
                        <a:ea typeface="+mn-ea"/>
                        <a:cs typeface="+mn-cs"/>
                      </a:endParaRPr>
                    </a:p>
                    <a:p>
                      <a:pPr algn="just"/>
                      <a:r>
                        <a:rPr lang="en-US" sz="1300" kern="1200" baseline="0" dirty="0" smtClean="0">
                          <a:solidFill>
                            <a:schemeClr val="dk1"/>
                          </a:solidFill>
                          <a:latin typeface="Verdana" pitchFamily="34" charset="0"/>
                          <a:ea typeface="Verdana" pitchFamily="34" charset="0"/>
                          <a:cs typeface="Verdana" pitchFamily="34" charset="0"/>
                        </a:rPr>
                        <a:t>Further, on 1st July’17, the SIV software </a:t>
                      </a:r>
                      <a:r>
                        <a:rPr lang="en-US" sz="1300" kern="1200" baseline="0" dirty="0" err="1" smtClean="0">
                          <a:solidFill>
                            <a:schemeClr val="dk1"/>
                          </a:solidFill>
                          <a:latin typeface="Verdana" pitchFamily="34" charset="0"/>
                          <a:ea typeface="Verdana" pitchFamily="34" charset="0"/>
                          <a:cs typeface="Verdana" pitchFamily="34" charset="0"/>
                        </a:rPr>
                        <a:t>ver</a:t>
                      </a:r>
                      <a:r>
                        <a:rPr lang="en-US" sz="1300" kern="1200" baseline="0" dirty="0" smtClean="0">
                          <a:solidFill>
                            <a:schemeClr val="dk1"/>
                          </a:solidFill>
                          <a:latin typeface="Verdana" pitchFamily="34" charset="0"/>
                          <a:ea typeface="Verdana" pitchFamily="34" charset="0"/>
                          <a:cs typeface="Verdana" pitchFamily="34" charset="0"/>
                        </a:rPr>
                        <a:t> (AJ04), check sum(0343-636A) was uploaded in TS#08/DT1 and performed two round trips non-revenue trials at mainline and SIV operation was found normal during the trials. Therefore, it has been advised to keep TS#08/DT1-SIV under monitoring for one month (till 2nd Aug’17). Based on monitoring results, the SIV software </a:t>
                      </a:r>
                      <a:r>
                        <a:rPr lang="en-US" sz="1300" kern="1200" baseline="0" dirty="0" err="1" smtClean="0">
                          <a:solidFill>
                            <a:schemeClr val="dk1"/>
                          </a:solidFill>
                          <a:latin typeface="Verdana" pitchFamily="34" charset="0"/>
                          <a:ea typeface="Verdana" pitchFamily="34" charset="0"/>
                          <a:cs typeface="Verdana" pitchFamily="34" charset="0"/>
                        </a:rPr>
                        <a:t>ver</a:t>
                      </a:r>
                      <a:r>
                        <a:rPr lang="en-US" sz="1300" kern="1200" baseline="0" dirty="0" smtClean="0">
                          <a:solidFill>
                            <a:schemeClr val="dk1"/>
                          </a:solidFill>
                          <a:latin typeface="Verdana" pitchFamily="34" charset="0"/>
                          <a:ea typeface="Verdana" pitchFamily="34" charset="0"/>
                          <a:cs typeface="Verdana" pitchFamily="34" charset="0"/>
                        </a:rPr>
                        <a:t> (AJ04), check sum(0343-636A) will be proposed to be uploaded in all SIVs.</a:t>
                      </a:r>
                    </a:p>
                    <a:p>
                      <a:pPr algn="just"/>
                      <a:endParaRPr lang="en-US" sz="1300" kern="1200" baseline="0" dirty="0" smtClean="0">
                        <a:solidFill>
                          <a:schemeClr val="dk1"/>
                        </a:solidFill>
                        <a:latin typeface="Verdana" pitchFamily="34" charset="0"/>
                        <a:ea typeface="Verdana" pitchFamily="34" charset="0"/>
                        <a:cs typeface="Verdana" pitchFamily="34" charset="0"/>
                      </a:endParaRPr>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US" sz="1300" b="0" kern="1200" baseline="0" dirty="0" smtClean="0">
                          <a:solidFill>
                            <a:schemeClr val="tx1"/>
                          </a:solidFill>
                          <a:latin typeface="Verdana" pitchFamily="34" charset="0"/>
                          <a:ea typeface="Verdana" pitchFamily="34" charset="0"/>
                          <a:cs typeface="Verdana" pitchFamily="34" charset="0"/>
                        </a:rPr>
                        <a:t>Aug’17</a:t>
                      </a:r>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6493065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8382680"/>
              </p:ext>
            </p:extLst>
          </p:nvPr>
        </p:nvGraphicFramePr>
        <p:xfrm>
          <a:off x="147323" y="381000"/>
          <a:ext cx="8920479" cy="5577892"/>
        </p:xfrm>
        <a:graphic>
          <a:graphicData uri="http://schemas.openxmlformats.org/drawingml/2006/table">
            <a:tbl>
              <a:tblPr firstRow="1" bandRow="1">
                <a:tableStyleId>{5C22544A-7EE6-4342-B048-85BDC9FD1C3A}</a:tableStyleId>
              </a:tblPr>
              <a:tblGrid>
                <a:gridCol w="614679"/>
                <a:gridCol w="1752598"/>
                <a:gridCol w="5557523"/>
                <a:gridCol w="995679"/>
              </a:tblGrid>
              <a:tr h="228600">
                <a:tc>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r>
              <a:tr h="88389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viii.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EIR No. 18</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(Occurrence</a:t>
                      </a:r>
                      <a:r>
                        <a:rPr lang="en-US" sz="1300" kern="1200" baseline="0" dirty="0" smtClean="0">
                          <a:solidFill>
                            <a:schemeClr val="dk1"/>
                          </a:solidFill>
                          <a:latin typeface="Verdana" pitchFamily="34" charset="0"/>
                          <a:ea typeface="Verdana" pitchFamily="34" charset="0"/>
                          <a:cs typeface="Verdana" pitchFamily="34" charset="0"/>
                        </a:rPr>
                        <a:t> of saloon door obstruction/detection failure &amp; door showing faulty on TIMS fault being reported in ID-105 Trains during summer season).</a:t>
                      </a:r>
                      <a:endParaRPr lang="en-US" sz="1300" kern="1200" dirty="0" smtClean="0">
                        <a:solidFill>
                          <a:schemeClr val="dk1"/>
                        </a:solidFill>
                        <a:latin typeface="Verdana" pitchFamily="34" charset="0"/>
                        <a:ea typeface="Verdana" pitchFamily="34" charset="0"/>
                        <a:cs typeface="Verdana" pitchFamily="34" charset="0"/>
                      </a:endParaRPr>
                    </a:p>
                  </a:txBody>
                  <a:tcPr marT="45733" marB="45733"/>
                </a:tc>
                <a:tc>
                  <a:txBody>
                    <a:bodyPr/>
                    <a:lstStyle/>
                    <a:p>
                      <a:pPr algn="just"/>
                      <a:r>
                        <a:rPr lang="en-US" sz="1300" kern="1200" baseline="0" dirty="0" smtClean="0">
                          <a:solidFill>
                            <a:schemeClr val="dk1"/>
                          </a:solidFill>
                          <a:latin typeface="Verdana" pitchFamily="34" charset="0"/>
                          <a:ea typeface="Verdana" pitchFamily="34" charset="0"/>
                          <a:cs typeface="Verdana" pitchFamily="34" charset="0"/>
                        </a:rPr>
                        <a:t>As advised by JMRC in weekly review meeting on 31.05.2016, the  following DCUs were relocated in TS#07 at similar location for monitoring their performance in high temp. by positioning the train under sun light.</a:t>
                      </a:r>
                    </a:p>
                    <a:p>
                      <a:pPr algn="just"/>
                      <a:endParaRPr lang="en-US" sz="1300" kern="1200" baseline="0" dirty="0" smtClean="0">
                        <a:solidFill>
                          <a:schemeClr val="dk1"/>
                        </a:solidFill>
                        <a:latin typeface="Verdana" pitchFamily="34" charset="0"/>
                        <a:ea typeface="Verdana" pitchFamily="34" charset="0"/>
                        <a:cs typeface="Verdana" pitchFamily="34" charset="0"/>
                      </a:endParaRPr>
                    </a:p>
                    <a:p>
                      <a:pPr algn="just"/>
                      <a:r>
                        <a:rPr lang="en-US" sz="1300" kern="1200" baseline="0" dirty="0" err="1" smtClean="0">
                          <a:solidFill>
                            <a:schemeClr val="dk1"/>
                          </a:solidFill>
                          <a:latin typeface="Verdana" pitchFamily="34" charset="0"/>
                          <a:ea typeface="Verdana" pitchFamily="34" charset="0"/>
                          <a:cs typeface="Verdana" pitchFamily="34" charset="0"/>
                        </a:rPr>
                        <a:t>i</a:t>
                      </a:r>
                      <a:r>
                        <a:rPr lang="en-US" sz="1300" kern="1200" baseline="0" dirty="0" smtClean="0">
                          <a:solidFill>
                            <a:schemeClr val="dk1"/>
                          </a:solidFill>
                          <a:latin typeface="Verdana" pitchFamily="34" charset="0"/>
                          <a:ea typeface="Verdana" pitchFamily="34" charset="0"/>
                          <a:cs typeface="Verdana" pitchFamily="34" charset="0"/>
                        </a:rPr>
                        <a:t>). D1A08 DRR1</a:t>
                      </a:r>
                    </a:p>
                    <a:p>
                      <a:pPr algn="just"/>
                      <a:r>
                        <a:rPr lang="en-US" sz="1300" kern="1200" baseline="0" dirty="0" smtClean="0">
                          <a:solidFill>
                            <a:schemeClr val="dk1"/>
                          </a:solidFill>
                          <a:latin typeface="Verdana" pitchFamily="34" charset="0"/>
                          <a:ea typeface="Verdana" pitchFamily="34" charset="0"/>
                          <a:cs typeface="Verdana" pitchFamily="34" charset="0"/>
                        </a:rPr>
                        <a:t>ii). D1A02 DRL1</a:t>
                      </a:r>
                    </a:p>
                    <a:p>
                      <a:pPr algn="just"/>
                      <a:r>
                        <a:rPr lang="en-US" sz="1300" kern="1200" baseline="0" dirty="0" smtClean="0">
                          <a:solidFill>
                            <a:schemeClr val="dk1"/>
                          </a:solidFill>
                          <a:latin typeface="Verdana" pitchFamily="34" charset="0"/>
                          <a:ea typeface="Verdana" pitchFamily="34" charset="0"/>
                          <a:cs typeface="Verdana" pitchFamily="34" charset="0"/>
                        </a:rPr>
                        <a:t>iii). D1B03 DRR2</a:t>
                      </a:r>
                    </a:p>
                    <a:p>
                      <a:pPr algn="just"/>
                      <a:r>
                        <a:rPr lang="en-US" sz="1300" kern="1200" baseline="0" dirty="0" smtClean="0">
                          <a:solidFill>
                            <a:schemeClr val="dk1"/>
                          </a:solidFill>
                          <a:latin typeface="Verdana" pitchFamily="34" charset="0"/>
                          <a:ea typeface="Verdana" pitchFamily="34" charset="0"/>
                          <a:cs typeface="Verdana" pitchFamily="34" charset="0"/>
                        </a:rPr>
                        <a:t>iv). D1B03 DRR3</a:t>
                      </a:r>
                    </a:p>
                    <a:p>
                      <a:pPr algn="just"/>
                      <a:r>
                        <a:rPr lang="en-US" sz="1300" kern="1200" baseline="0" dirty="0" smtClean="0">
                          <a:solidFill>
                            <a:schemeClr val="dk1"/>
                          </a:solidFill>
                          <a:latin typeface="Verdana" pitchFamily="34" charset="0"/>
                          <a:ea typeface="Verdana" pitchFamily="34" charset="0"/>
                          <a:cs typeface="Verdana" pitchFamily="34" charset="0"/>
                        </a:rPr>
                        <a:t>v). M1B01 DRL4 </a:t>
                      </a:r>
                    </a:p>
                    <a:p>
                      <a:pPr algn="just"/>
                      <a:endParaRPr lang="en-US" sz="1300" kern="1200" baseline="0" dirty="0" smtClean="0">
                        <a:solidFill>
                          <a:schemeClr val="dk1"/>
                        </a:solidFill>
                        <a:latin typeface="Verdana" pitchFamily="34" charset="0"/>
                        <a:ea typeface="Verdana" pitchFamily="34" charset="0"/>
                        <a:cs typeface="Verdana" pitchFamily="34" charset="0"/>
                      </a:endParaRPr>
                    </a:p>
                    <a:p>
                      <a:pPr algn="just"/>
                      <a:r>
                        <a:rPr lang="en-US" sz="1300" kern="1200" baseline="0" dirty="0" smtClean="0">
                          <a:solidFill>
                            <a:schemeClr val="dk1"/>
                          </a:solidFill>
                          <a:latin typeface="Verdana" pitchFamily="34" charset="0"/>
                          <a:ea typeface="Verdana" pitchFamily="34" charset="0"/>
                          <a:cs typeface="Verdana" pitchFamily="34" charset="0"/>
                        </a:rPr>
                        <a:t>Further, on 18th June’16, TS07 was kept under sun light for monitoring the performance. The OEM’s field observation report has been submitted through email on 11th July’16.</a:t>
                      </a:r>
                    </a:p>
                    <a:p>
                      <a:pPr algn="just"/>
                      <a:r>
                        <a:rPr lang="en-US" sz="1300" kern="1200" baseline="0" dirty="0" smtClean="0">
                          <a:solidFill>
                            <a:schemeClr val="dk1"/>
                          </a:solidFill>
                          <a:latin typeface="Verdana" pitchFamily="34" charset="0"/>
                          <a:ea typeface="Verdana" pitchFamily="34" charset="0"/>
                          <a:cs typeface="Verdana" pitchFamily="34" charset="0"/>
                        </a:rPr>
                        <a:t>Further, based on KBI’s field observation, 05 nos. suspected DCUs were replaced with new ones in TS#07 on 10th Aug’16 by KBI and the old ones were sent to OEM (M/s. IFE-V) for testing (Burn In, high voltage &amp; functional) and during testing DCUs have not shown any problem.</a:t>
                      </a:r>
                    </a:p>
                    <a:p>
                      <a:pPr algn="just"/>
                      <a:r>
                        <a:rPr lang="en-US" sz="1300" kern="1200" baseline="0" dirty="0" smtClean="0">
                          <a:solidFill>
                            <a:schemeClr val="dk1"/>
                          </a:solidFill>
                          <a:latin typeface="Verdana" pitchFamily="34" charset="0"/>
                          <a:ea typeface="Verdana" pitchFamily="34" charset="0"/>
                          <a:cs typeface="Verdana" pitchFamily="34" charset="0"/>
                        </a:rPr>
                        <a:t>The OEM’s investigation report has been submitted to DMRC/JMRC vide email </a:t>
                      </a:r>
                      <a:r>
                        <a:rPr lang="en-US" sz="1300" kern="1200" baseline="0" dirty="0" err="1" smtClean="0">
                          <a:solidFill>
                            <a:schemeClr val="dk1"/>
                          </a:solidFill>
                          <a:latin typeface="Verdana" pitchFamily="34" charset="0"/>
                          <a:ea typeface="Verdana" pitchFamily="34" charset="0"/>
                          <a:cs typeface="Verdana" pitchFamily="34" charset="0"/>
                        </a:rPr>
                        <a:t>dt</a:t>
                      </a:r>
                      <a:r>
                        <a:rPr lang="en-US" sz="1300" kern="1200" baseline="0" dirty="0" smtClean="0">
                          <a:solidFill>
                            <a:schemeClr val="dk1"/>
                          </a:solidFill>
                          <a:latin typeface="Verdana" pitchFamily="34" charset="0"/>
                          <a:ea typeface="Verdana" pitchFamily="34" charset="0"/>
                          <a:cs typeface="Verdana" pitchFamily="34" charset="0"/>
                        </a:rPr>
                        <a:t>. 01</a:t>
                      </a:r>
                      <a:r>
                        <a:rPr lang="en-US" sz="1300" kern="1200" baseline="30000" dirty="0" smtClean="0">
                          <a:solidFill>
                            <a:schemeClr val="dk1"/>
                          </a:solidFill>
                          <a:latin typeface="Verdana" pitchFamily="34" charset="0"/>
                          <a:ea typeface="Verdana" pitchFamily="34" charset="0"/>
                          <a:cs typeface="Verdana" pitchFamily="34" charset="0"/>
                        </a:rPr>
                        <a:t>st</a:t>
                      </a:r>
                      <a:r>
                        <a:rPr lang="en-US" sz="1300" kern="1200" baseline="0" dirty="0" smtClean="0">
                          <a:solidFill>
                            <a:schemeClr val="dk1"/>
                          </a:solidFill>
                          <a:latin typeface="Verdana" pitchFamily="34" charset="0"/>
                          <a:ea typeface="Verdana" pitchFamily="34" charset="0"/>
                          <a:cs typeface="Verdana" pitchFamily="34" charset="0"/>
                        </a:rPr>
                        <a:t> March’17.</a:t>
                      </a:r>
                    </a:p>
                    <a:p>
                      <a:pPr algn="just"/>
                      <a:r>
                        <a:rPr lang="en-US" sz="1300" kern="1200" baseline="0" dirty="0" smtClean="0">
                          <a:solidFill>
                            <a:schemeClr val="dk1"/>
                          </a:solidFill>
                          <a:latin typeface="Verdana" pitchFamily="34" charset="0"/>
                          <a:ea typeface="Verdana" pitchFamily="34" charset="0"/>
                          <a:cs typeface="Verdana" pitchFamily="34" charset="0"/>
                        </a:rPr>
                        <a:t>Further to above, M/s. KBI has identified 18 saloon doors in five train-sets (TS02, TS03, TS05, TS07 &amp; TS10) and pasted the temperature strips on DCUs to monitor the temperature up to July’17.</a:t>
                      </a:r>
                    </a:p>
                    <a:p>
                      <a:pPr algn="just"/>
                      <a:endParaRPr lang="en-US" sz="1300" kern="1200" baseline="0" dirty="0" smtClean="0">
                        <a:solidFill>
                          <a:schemeClr val="dk1"/>
                        </a:solidFill>
                        <a:latin typeface="Verdana" pitchFamily="34" charset="0"/>
                        <a:ea typeface="Verdana" pitchFamily="34" charset="0"/>
                        <a:cs typeface="Verdana" pitchFamily="34" charset="0"/>
                      </a:endParaRP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300" kern="1200" dirty="0">
                        <a:solidFill>
                          <a:schemeClr val="dk1"/>
                        </a:solidFill>
                        <a:latin typeface="Verdana" pitchFamily="34" charset="0"/>
                        <a:ea typeface="Verdana" pitchFamily="34" charset="0"/>
                        <a:cs typeface="Verdana" pitchFamily="34" charset="0"/>
                      </a:endParaRPr>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6493065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8382680"/>
              </p:ext>
            </p:extLst>
          </p:nvPr>
        </p:nvGraphicFramePr>
        <p:xfrm>
          <a:off x="147323" y="381000"/>
          <a:ext cx="8920479" cy="3871090"/>
        </p:xfrm>
        <a:graphic>
          <a:graphicData uri="http://schemas.openxmlformats.org/drawingml/2006/table">
            <a:tbl>
              <a:tblPr firstRow="1" bandRow="1">
                <a:tableStyleId>{5C22544A-7EE6-4342-B048-85BDC9FD1C3A}</a:tableStyleId>
              </a:tblPr>
              <a:tblGrid>
                <a:gridCol w="614679"/>
                <a:gridCol w="2509521"/>
                <a:gridCol w="4800600"/>
                <a:gridCol w="995679"/>
              </a:tblGrid>
              <a:tr h="228600">
                <a:tc>
                  <a:txBody>
                    <a:bodyPr/>
                    <a:lstStyle/>
                    <a:p>
                      <a:pPr algn="ctr"/>
                      <a:r>
                        <a:rPr lang="en-US" sz="1600" dirty="0" smtClean="0">
                          <a:solidFill>
                            <a:schemeClr val="bg1"/>
                          </a:solidFill>
                          <a:latin typeface="Verdana" pitchFamily="34" charset="0"/>
                          <a:ea typeface="Verdana" pitchFamily="34" charset="0"/>
                          <a:cs typeface="Verdana" pitchFamily="34" charset="0"/>
                        </a:rPr>
                        <a:t>SN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baseline="0" dirty="0" smtClean="0">
                          <a:solidFill>
                            <a:schemeClr val="bg1"/>
                          </a:solidFill>
                          <a:latin typeface="Verdana" pitchFamily="34" charset="0"/>
                          <a:ea typeface="Verdana" pitchFamily="34" charset="0"/>
                          <a:cs typeface="Verdana" pitchFamily="34" charset="0"/>
                        </a:rPr>
                        <a:t>Description</a:t>
                      </a:r>
                      <a:endParaRPr lang="en-US" sz="1600" dirty="0">
                        <a:solidFill>
                          <a:schemeClr val="bg1"/>
                        </a:solidFill>
                        <a:latin typeface="Verdana" pitchFamily="34" charset="0"/>
                        <a:ea typeface="Verdana" pitchFamily="34" charset="0"/>
                        <a:cs typeface="Verdana" pitchFamily="34" charset="0"/>
                      </a:endParaRP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Status</a:t>
                      </a:r>
                    </a:p>
                  </a:txBody>
                  <a:tcPr marT="45733" marB="45733"/>
                </a:tc>
                <a:tc>
                  <a:txBody>
                    <a:bodyPr/>
                    <a:lstStyle/>
                    <a:p>
                      <a:pPr algn="ctr"/>
                      <a:r>
                        <a:rPr lang="en-US" sz="1600" dirty="0" smtClean="0">
                          <a:solidFill>
                            <a:schemeClr val="bg1"/>
                          </a:solidFill>
                          <a:latin typeface="Verdana" pitchFamily="34" charset="0"/>
                          <a:ea typeface="Verdana" pitchFamily="34" charset="0"/>
                          <a:cs typeface="Verdana" pitchFamily="34" charset="0"/>
                        </a:rPr>
                        <a:t>Target</a:t>
                      </a:r>
                    </a:p>
                  </a:txBody>
                  <a:tcPr marT="45733" marB="45733"/>
                </a:tc>
              </a:tr>
              <a:tr h="88389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dk1"/>
                          </a:solidFill>
                          <a:latin typeface="Verdana" pitchFamily="34" charset="0"/>
                          <a:ea typeface="Verdana" pitchFamily="34" charset="0"/>
                          <a:cs typeface="Verdana" pitchFamily="34" charset="0"/>
                        </a:rPr>
                        <a:t>ix.</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EIR No. 20</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t>
                      </a:r>
                      <a:r>
                        <a:rPr kumimoji="0" lang="en-US" sz="1300" kern="1200" baseline="0" dirty="0" smtClean="0">
                          <a:solidFill>
                            <a:schemeClr val="tx1"/>
                          </a:solidFill>
                          <a:latin typeface="Verdana" pitchFamily="34" charset="0"/>
                          <a:ea typeface="Verdana" pitchFamily="34" charset="0"/>
                          <a:cs typeface="Verdana" pitchFamily="34" charset="0"/>
                        </a:rPr>
                        <a:t>Swelling observed in LHS Cab side door of TS04/D1B04).</a:t>
                      </a:r>
                    </a:p>
                    <a:p>
                      <a:pPr marL="0" marR="0" indent="0" algn="just" defTabSz="914400" rtl="0" eaLnBrk="1" fontAlgn="auto" latinLnBrk="0" hangingPunct="1">
                        <a:lnSpc>
                          <a:spcPct val="100000"/>
                        </a:lnSpc>
                        <a:spcBef>
                          <a:spcPts val="0"/>
                        </a:spcBef>
                        <a:spcAft>
                          <a:spcPts val="0"/>
                        </a:spcAft>
                        <a:buClrTx/>
                        <a:buSzTx/>
                        <a:buFontTx/>
                        <a:buNone/>
                        <a:tabLst/>
                        <a:defRPr/>
                      </a:pPr>
                      <a:endParaRPr kumimoji="0" lang="en-US" sz="1300" kern="1200" baseline="0" dirty="0" smtClean="0">
                        <a:solidFill>
                          <a:schemeClr val="tx1"/>
                        </a:solidFill>
                        <a:latin typeface="Verdana" pitchFamily="34" charset="0"/>
                        <a:ea typeface="Verdana" pitchFamily="34" charset="0"/>
                        <a:cs typeface="Verdana" pitchFamily="34" charset="0"/>
                      </a:endParaRP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One set of Cab Side Doors have been supplied by OEM and received at BEML Bangalore. The material would be dispatched to depot by July’17.</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July’17</a:t>
                      </a:r>
                      <a:endParaRPr lang="en-US" sz="1300" kern="1200" dirty="0">
                        <a:solidFill>
                          <a:schemeClr val="dk1"/>
                        </a:solidFill>
                        <a:latin typeface="Verdana" pitchFamily="34" charset="0"/>
                        <a:ea typeface="Verdana" pitchFamily="34" charset="0"/>
                        <a:cs typeface="Verdana" pitchFamily="34" charset="0"/>
                      </a:endParaRPr>
                    </a:p>
                  </a:txBody>
                  <a:tcPr marT="45733" marB="45733"/>
                </a:tc>
              </a:tr>
              <a:tr h="396188">
                <a:tc>
                  <a:txBody>
                    <a:bodyPr/>
                    <a:lstStyle/>
                    <a:p>
                      <a:pPr algn="ctr"/>
                      <a:r>
                        <a:rPr lang="en-US" sz="1300" b="0" dirty="0" smtClean="0">
                          <a:latin typeface="Verdana" pitchFamily="34" charset="0"/>
                          <a:ea typeface="Verdana" pitchFamily="34" charset="0"/>
                          <a:cs typeface="Verdana" pitchFamily="34" charset="0"/>
                        </a:rPr>
                        <a:t>x.</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EIR No. 21</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(Air leakage from Single Hose Protection Valve</a:t>
                      </a:r>
                      <a:r>
                        <a:rPr kumimoji="0" lang="en-US" sz="1300" kern="1200" baseline="0" dirty="0" smtClean="0">
                          <a:solidFill>
                            <a:schemeClr val="tx1"/>
                          </a:solidFill>
                          <a:latin typeface="Verdana" pitchFamily="34" charset="0"/>
                          <a:ea typeface="Verdana" pitchFamily="34" charset="0"/>
                          <a:cs typeface="Verdana" pitchFamily="34" charset="0"/>
                        </a:rPr>
                        <a:t>).</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The OEM’s investigation report has been submitted vide e-mail </a:t>
                      </a:r>
                      <a:r>
                        <a:rPr kumimoji="0" lang="en-US" sz="1300" kern="1200" baseline="0" dirty="0" err="1" smtClean="0">
                          <a:solidFill>
                            <a:schemeClr val="tx1"/>
                          </a:solidFill>
                          <a:latin typeface="Verdana" pitchFamily="34" charset="0"/>
                          <a:ea typeface="Verdana" pitchFamily="34" charset="0"/>
                          <a:cs typeface="Verdana" pitchFamily="34" charset="0"/>
                        </a:rPr>
                        <a:t>dt</a:t>
                      </a:r>
                      <a:r>
                        <a:rPr kumimoji="0" lang="en-US" sz="1300" kern="1200" baseline="0" dirty="0" smtClean="0">
                          <a:solidFill>
                            <a:schemeClr val="tx1"/>
                          </a:solidFill>
                          <a:latin typeface="Verdana" pitchFamily="34" charset="0"/>
                          <a:ea typeface="Verdana" pitchFamily="34" charset="0"/>
                          <a:cs typeface="Verdana" pitchFamily="34" charset="0"/>
                        </a:rPr>
                        <a:t>. 19</a:t>
                      </a:r>
                      <a:r>
                        <a:rPr kumimoji="0" lang="en-US" sz="1300" kern="1200" baseline="30000" dirty="0" smtClean="0">
                          <a:solidFill>
                            <a:schemeClr val="tx1"/>
                          </a:solidFill>
                          <a:latin typeface="Verdana" pitchFamily="34" charset="0"/>
                          <a:ea typeface="Verdana" pitchFamily="34" charset="0"/>
                          <a:cs typeface="Verdana" pitchFamily="34" charset="0"/>
                        </a:rPr>
                        <a:t>th</a:t>
                      </a:r>
                      <a:r>
                        <a:rPr kumimoji="0" lang="en-US" sz="1300" kern="1200" baseline="0" dirty="0" smtClean="0">
                          <a:solidFill>
                            <a:schemeClr val="tx1"/>
                          </a:solidFill>
                          <a:latin typeface="Verdana" pitchFamily="34" charset="0"/>
                          <a:ea typeface="Verdana" pitchFamily="34" charset="0"/>
                          <a:cs typeface="Verdana" pitchFamily="34" charset="0"/>
                        </a:rPr>
                        <a:t> June’17.</a:t>
                      </a:r>
                      <a:r>
                        <a:rPr kumimoji="0" lang="en-US" sz="1300" kern="1200" baseline="0" dirty="0" smtClean="0">
                          <a:solidFill>
                            <a:srgbClr val="0000FF"/>
                          </a:solidFill>
                          <a:latin typeface="Verdana" pitchFamily="34" charset="0"/>
                          <a:ea typeface="Verdana" pitchFamily="34" charset="0"/>
                          <a:cs typeface="Verdana" pitchFamily="34" charset="0"/>
                        </a:rPr>
                        <a:t> </a:t>
                      </a:r>
                      <a:r>
                        <a:rPr kumimoji="0" lang="en-US" sz="1300" kern="1200" baseline="0" dirty="0" smtClean="0">
                          <a:solidFill>
                            <a:schemeClr val="tx1"/>
                          </a:solidFill>
                          <a:latin typeface="Verdana" pitchFamily="34" charset="0"/>
                          <a:ea typeface="Verdana" pitchFamily="34" charset="0"/>
                          <a:cs typeface="Verdana" pitchFamily="34" charset="0"/>
                        </a:rPr>
                        <a:t>Therefore, the EIR No. 21 may be referred for closure.</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300" kern="1200" dirty="0">
                        <a:solidFill>
                          <a:schemeClr val="dk1"/>
                        </a:solidFill>
                        <a:latin typeface="Verdana" pitchFamily="34" charset="0"/>
                        <a:ea typeface="Verdana" pitchFamily="34" charset="0"/>
                        <a:cs typeface="Verdana" pitchFamily="34" charset="0"/>
                      </a:endParaRPr>
                    </a:p>
                  </a:txBody>
                  <a:tcPr marT="45733" marB="45733"/>
                </a:tc>
              </a:tr>
              <a:tr h="396188">
                <a:tc>
                  <a:txBody>
                    <a:bodyPr/>
                    <a:lstStyle/>
                    <a:p>
                      <a:pPr algn="ctr"/>
                      <a:r>
                        <a:rPr lang="en-US" sz="1300" b="0" dirty="0" smtClean="0">
                          <a:latin typeface="Verdana" pitchFamily="34" charset="0"/>
                          <a:ea typeface="Verdana" pitchFamily="34" charset="0"/>
                          <a:cs typeface="Verdana" pitchFamily="34" charset="0"/>
                        </a:rPr>
                        <a:t>xi.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EIR No. 22</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(TS01/M1A01 Battery Bank Failure).</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The issue is under investigation by OEM (M/s. HBL) and the investigation results will be submitted by Aug’17.</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Aug’17</a:t>
                      </a:r>
                      <a:endParaRPr lang="en-US" sz="1300" kern="1200" dirty="0">
                        <a:solidFill>
                          <a:schemeClr val="dk1"/>
                        </a:solidFill>
                        <a:latin typeface="Verdana" pitchFamily="34" charset="0"/>
                        <a:ea typeface="Verdana" pitchFamily="34" charset="0"/>
                        <a:cs typeface="Verdana" pitchFamily="34" charset="0"/>
                      </a:endParaRPr>
                    </a:p>
                  </a:txBody>
                  <a:tcPr marT="45733" marB="45733"/>
                </a:tc>
              </a:tr>
              <a:tr h="396188">
                <a:tc>
                  <a:txBody>
                    <a:bodyPr/>
                    <a:lstStyle/>
                    <a:p>
                      <a:pPr algn="ctr"/>
                      <a:r>
                        <a:rPr lang="en-US" sz="1300" b="0" dirty="0" smtClean="0">
                          <a:latin typeface="Verdana" pitchFamily="34" charset="0"/>
                          <a:ea typeface="Verdana" pitchFamily="34" charset="0"/>
                          <a:cs typeface="Verdana" pitchFamily="34" charset="0"/>
                        </a:rPr>
                        <a:t>xii.</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EIR No. 23</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(Burnt Marks noticed on TIMS Interface Card of TS01/D1A01 &amp; TS03/D1B03).</a:t>
                      </a: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sz="1300" kern="1200" baseline="0" dirty="0" smtClean="0">
                          <a:solidFill>
                            <a:schemeClr val="tx1"/>
                          </a:solidFill>
                          <a:latin typeface="Verdana" pitchFamily="34" charset="0"/>
                          <a:ea typeface="Verdana" pitchFamily="34" charset="0"/>
                          <a:cs typeface="Verdana" pitchFamily="34" charset="0"/>
                        </a:rPr>
                        <a:t>The issue is under investigation.</a:t>
                      </a:r>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kern="1200" dirty="0" smtClean="0">
                          <a:solidFill>
                            <a:schemeClr val="dk1"/>
                          </a:solidFill>
                          <a:latin typeface="Verdana" pitchFamily="34" charset="0"/>
                          <a:ea typeface="Verdana" pitchFamily="34" charset="0"/>
                          <a:cs typeface="Verdana" pitchFamily="34" charset="0"/>
                        </a:rPr>
                        <a:t>ASAP</a:t>
                      </a:r>
                      <a:endParaRPr lang="en-US" sz="1300" kern="1200" dirty="0">
                        <a:solidFill>
                          <a:schemeClr val="dk1"/>
                        </a:solidFill>
                        <a:latin typeface="Verdana" pitchFamily="34" charset="0"/>
                        <a:ea typeface="Verdana" pitchFamily="34" charset="0"/>
                        <a:cs typeface="Verdana" pitchFamily="34" charset="0"/>
                      </a:endParaRPr>
                    </a:p>
                  </a:txBody>
                  <a:tcPr marT="45733" marB="45733"/>
                </a:tc>
              </a:tr>
            </a:tbl>
          </a:graphicData>
        </a:graphic>
      </p:graphicFrame>
      <p:pic>
        <p:nvPicPr>
          <p:cNvPr id="7" name="Picture 5" descr="C:\Users\DELL\Desktop\474beml-logo.png"/>
          <p:cNvPicPr>
            <a:picLocks noChangeAspect="1" noChangeArrowheads="1"/>
          </p:cNvPicPr>
          <p:nvPr/>
        </p:nvPicPr>
        <p:blipFill>
          <a:blip r:embed="rId3" cstate="print"/>
          <a:srcRect/>
          <a:stretch>
            <a:fillRect/>
          </a:stretch>
        </p:blipFill>
        <p:spPr bwMode="auto">
          <a:xfrm>
            <a:off x="63246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6493065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ctrTitle" idx="4294967295"/>
          </p:nvPr>
        </p:nvSpPr>
        <p:spPr>
          <a:xfrm>
            <a:off x="0" y="2819400"/>
            <a:ext cx="7772400" cy="533400"/>
          </a:xfrm>
        </p:spPr>
        <p:txBody>
          <a:bodyPr>
            <a:normAutofit fontScale="90000"/>
          </a:bodyPr>
          <a:lstStyle/>
          <a:p>
            <a:pPr algn="ctr"/>
            <a:r>
              <a:rPr lang="en-US" altLang="en-US" sz="8800" i="1" dirty="0" smtClean="0">
                <a:solidFill>
                  <a:schemeClr val="tx1"/>
                </a:solidFill>
                <a:latin typeface="Arial" charset="0"/>
                <a:cs typeface="Arial" charset="0"/>
              </a:rPr>
              <a:t>   </a:t>
            </a:r>
            <a:r>
              <a:rPr lang="en-US" altLang="en-US" sz="8000" dirty="0" smtClean="0">
                <a:solidFill>
                  <a:srgbClr val="0000FF"/>
                </a:solidFill>
                <a:latin typeface="Arial Black" pitchFamily="34" charset="0"/>
                <a:cs typeface="Arial" charset="0"/>
              </a:rPr>
              <a:t>THANK</a:t>
            </a:r>
            <a:r>
              <a:rPr lang="en-US" altLang="en-US" sz="8000" dirty="0" smtClean="0">
                <a:solidFill>
                  <a:schemeClr val="tx1"/>
                </a:solidFill>
                <a:latin typeface="Arial Black" pitchFamily="34" charset="0"/>
                <a:cs typeface="Arial" charset="0"/>
              </a:rPr>
              <a:t> </a:t>
            </a:r>
            <a:r>
              <a:rPr lang="en-US" altLang="en-US" sz="8000" dirty="0" smtClean="0">
                <a:solidFill>
                  <a:srgbClr val="0000FF"/>
                </a:solidFill>
                <a:latin typeface="Arial Black" pitchFamily="34" charset="0"/>
                <a:cs typeface="Arial" charset="0"/>
              </a:rPr>
              <a:t>YOU</a:t>
            </a:r>
          </a:p>
        </p:txBody>
      </p:sp>
      <p:pic>
        <p:nvPicPr>
          <p:cNvPr id="4" name="Picture 5" descr="C:\Users\DELL\Desktop\474beml-logo.png"/>
          <p:cNvPicPr>
            <a:picLocks noChangeAspect="1" noChangeArrowheads="1"/>
          </p:cNvPicPr>
          <p:nvPr/>
        </p:nvPicPr>
        <p:blipFill>
          <a:blip r:embed="rId3" cstate="print"/>
          <a:srcRect/>
          <a:stretch>
            <a:fillRect/>
          </a:stretch>
        </p:blipFill>
        <p:spPr bwMode="auto">
          <a:xfrm>
            <a:off x="6400800" y="76200"/>
            <a:ext cx="1143000" cy="381000"/>
          </a:xfrm>
          <a:prstGeom prst="rect">
            <a:avLst/>
          </a:prstGeom>
          <a:noFill/>
          <a:ln w="9525">
            <a:noFill/>
            <a:miter lim="800000"/>
            <a:headEnd/>
            <a:tailEnd/>
          </a:ln>
        </p:spPr>
      </p:pic>
    </p:spTree>
    <p:extLst>
      <p:ext uri="{BB962C8B-B14F-4D97-AF65-F5344CB8AC3E}">
        <p14:creationId xmlns:p14="http://schemas.microsoft.com/office/powerpoint/2010/main" val="1903985600"/>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Metropolita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33ACF124-275F-44F2-8DE0-0A75506982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Metropolitan</Template>
  <TotalTime>36377</TotalTime>
  <Words>4555</Words>
  <Application>Microsoft Office PowerPoint</Application>
  <PresentationFormat>On-screen Show (4:3)</PresentationFormat>
  <Paragraphs>1708</Paragraphs>
  <Slides>23</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Black</vt:lpstr>
      <vt:lpstr>Arial Narrow</vt:lpstr>
      <vt:lpstr>Calibri</vt:lpstr>
      <vt:lpstr>Calibri Light</vt:lpstr>
      <vt:lpstr>Verdana</vt:lpstr>
      <vt:lpstr>Metropolitan</vt:lpstr>
      <vt:lpstr>DMRC  Contract  RS8 Status update for Monthly Review /FRACAS Meeting-19.07.2017</vt:lpstr>
      <vt:lpstr>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User2</dc:creator>
  <cp:lastModifiedBy>Administrator</cp:lastModifiedBy>
  <cp:revision>5338</cp:revision>
  <cp:lastPrinted>2017-05-18T10:03:56Z</cp:lastPrinted>
  <dcterms:created xsi:type="dcterms:W3CDTF">2012-02-09T13:12:33Z</dcterms:created>
  <dcterms:modified xsi:type="dcterms:W3CDTF">2017-08-03T04:19:16Z</dcterms:modified>
</cp:coreProperties>
</file>